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2"/>
    <p:sldId id="257" r:id="rId3"/>
    <p:sldId id="259" r:id="rId4"/>
    <p:sldId id="258" r:id="rId5"/>
    <p:sldId id="260" r:id="rId6"/>
  </p:sldIdLst>
  <p:sldSz cx="7415213" cy="632301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BC8282"/>
        </p14:laserClr>
      </p:ext>
      <p:ext uri="{2FDB2607-1784-4EEB-B798-7EB5836EED8A}">
        <p14:showMediaCtrls xmlns:p14="http://schemas.microsoft.com/office/powerpoint/2010/main" val="1"/>
      </p:ext>
    </p:extLst>
  </p:showPr>
  <p:clrMru>
    <a:srgbClr val="DFECC0"/>
    <a:srgbClr val="F3EFF6"/>
    <a:srgbClr val="E7DFEC"/>
    <a:srgbClr val="FFCCFF"/>
    <a:srgbClr val="FFFFFF"/>
    <a:srgbClr val="F8DAB9"/>
    <a:srgbClr val="FFF1CC"/>
    <a:srgbClr val="FDE1E1"/>
    <a:srgbClr val="F8B6BE"/>
    <a:srgbClr val="F9CD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078" autoAdjust="0"/>
  </p:normalViewPr>
  <p:slideViewPr>
    <p:cSldViewPr snapToGrid="0">
      <p:cViewPr varScale="1">
        <p:scale>
          <a:sx n="134" d="100"/>
          <a:sy n="134" d="100"/>
        </p:scale>
        <p:origin x="2301" y="6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defTabSz="914400">
              <a:lnSpc>
                <a:spcPct val="90000"/>
              </a:lnSpc>
              <a:tabLst>
                <a:tab pos="0" algn="l"/>
              </a:tabLst>
            </a:pPr>
            <a:r>
              <a:rPr lang="zh-CN" sz="1800" b="0" u="none" strike="noStrike">
                <a:solidFill>
                  <a:schemeClr val="dk1"/>
                </a:solidFill>
                <a:effectLst/>
                <a:uFillTx/>
                <a:latin typeface="等线"/>
              </a:rPr>
              <a:t>单击以移动幻灯片</a:t>
            </a:r>
            <a:endParaRPr lang="en-US" sz="1800" b="0" u="none" strike="noStrike">
              <a:solidFill>
                <a:schemeClr val="dk1"/>
              </a:solidFill>
              <a:effectLst/>
              <a:uFillTx/>
              <a:latin typeface="等线"/>
            </a:endParaRP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zh-CN" sz="2000" b="0" u="none" strike="noStrike">
                <a:solidFill>
                  <a:srgbClr val="000000"/>
                </a:solidFill>
                <a:effectLst/>
                <a:uFillTx/>
                <a:latin typeface="Arial"/>
              </a:rPr>
              <a:t>点击编辑备注格式</a:t>
            </a:r>
            <a:endParaRPr lang="en-US"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&lt;页眉&gt;</a:t>
            </a: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&lt;日期/时间&gt;</a:t>
            </a: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&lt;页脚&gt;</a:t>
            </a: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70BDEB52-3EDD-49BC-9093-174427C6F9EA}"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 name="PlaceHolder 1"/>
          <p:cNvSpPr>
            <a:spLocks noGrp="1" noRot="1" noChangeAspect="1"/>
          </p:cNvSpPr>
          <p:nvPr>
            <p:ph type="sldImg"/>
          </p:nvPr>
        </p:nvSpPr>
        <p:spPr>
          <a:xfrm>
            <a:off x="1619250" y="1143000"/>
            <a:ext cx="3617913" cy="3084513"/>
          </a:xfrm>
          <a:prstGeom prst="rect">
            <a:avLst/>
          </a:prstGeom>
          <a:ln w="0">
            <a:noFill/>
          </a:ln>
        </p:spPr>
      </p:sp>
      <p:sp>
        <p:nvSpPr>
          <p:cNvPr id="625" name="PlaceHolder 2"/>
          <p:cNvSpPr>
            <a:spLocks noGrp="1"/>
          </p:cNvSpPr>
          <p:nvPr>
            <p:ph type="body"/>
          </p:nvPr>
        </p:nvSpPr>
        <p:spPr>
          <a:xfrm>
            <a:off x="685800" y="4400640"/>
            <a:ext cx="5482440" cy="359640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dirty="0">
                <a:solidFill>
                  <a:srgbClr val="000000"/>
                </a:solidFill>
                <a:effectLst/>
                <a:uFillTx/>
                <a:latin typeface="Arial"/>
              </a:rPr>
              <a:t>Overview of FALCON. Sources: Codes/configs/v22/hdq_auto_v22_imgsz1024_v2.yml; Codes/</a:t>
            </a:r>
            <a:r>
              <a:rPr lang="en-US" sz="2000" b="0" u="none" strike="noStrike" dirty="0" err="1">
                <a:solidFill>
                  <a:srgbClr val="000000"/>
                </a:solidFill>
                <a:effectLst/>
                <a:uFillTx/>
                <a:latin typeface="Arial"/>
              </a:rPr>
              <a:t>src</a:t>
            </a:r>
            <a:r>
              <a:rPr lang="en-US" sz="2000" b="0" u="none" strike="noStrike" dirty="0">
                <a:solidFill>
                  <a:srgbClr val="000000"/>
                </a:solidFill>
                <a:effectLst/>
                <a:uFillTx/>
                <a:latin typeface="Arial"/>
              </a:rPr>
              <a:t>/zoo/</a:t>
            </a:r>
            <a:r>
              <a:rPr lang="en-US" sz="2000" b="0" u="none" strike="noStrike" dirty="0" err="1">
                <a:solidFill>
                  <a:srgbClr val="000000"/>
                </a:solidFill>
                <a:effectLst/>
                <a:uFillTx/>
                <a:latin typeface="Arial"/>
              </a:rPr>
              <a:t>dfine</a:t>
            </a:r>
            <a:r>
              <a:rPr lang="en-US" sz="2000" b="0" u="none" strike="noStrike" dirty="0">
                <a:solidFill>
                  <a:srgbClr val="000000"/>
                </a:solidFill>
                <a:effectLst/>
                <a:uFillTx/>
                <a:latin typeface="Arial"/>
              </a:rPr>
              <a:t>/dfine_decoder.py:274-326,421-535,995-1030; dfine_criterion.py:167-395; dfine_utils.py:119-142; postprocessor.py:42-64; FALCON_manuscript.docx Sections 3.1-3.5. Layers 1, 2, 3 and 6 are shown, with 4-5 omitted. Every decoder reads shared encoder features and previous query content; previous decoded boxes provide attention references. Initial b0 also depends on the encoder reference. FDR Heads summarize feature and cumulative-logit residuals. Histograms schematically visualize the probabilities associated with each layer's edge logits; actual consumers perform their own </a:t>
            </a:r>
            <a:r>
              <a:rPr lang="en-US" sz="2000" b="0" u="none" strike="noStrike" dirty="0" err="1">
                <a:solidFill>
                  <a:srgbClr val="000000"/>
                </a:solidFill>
                <a:effectLst/>
                <a:uFillTx/>
                <a:latin typeface="Arial"/>
              </a:rPr>
              <a:t>softmax</a:t>
            </a:r>
            <a:r>
              <a:rPr lang="en-US" sz="2000" b="0" u="none" strike="noStrike" dirty="0">
                <a:solidFill>
                  <a:srgbClr val="000000"/>
                </a:solidFill>
                <a:effectLst/>
                <a:uFillTx/>
                <a:latin typeface="Arial"/>
              </a:rPr>
              <a:t> and temperature scaling. DDO and Integral operate at every layer in training and inference. Box Decoder uses b0, four integrated edge offsets, and the DDO scale. Class projection is implicit on the Class logits arrows. LQE takes class logits plus corner logits; shallow readout is training-only and layer 6 is also used for inference. LQE output paths and postprocessing are omitted. CLC arrows denote adjacent-pair loss inputs, not gradient direction or a forward transform; layer 3 and layer 6 are not a direct pair. FRD combines Fisher FGL at all layers with final-to-shallow FR-LSD. Matching, teacher-score/</a:t>
            </a:r>
            <a:r>
              <a:rPr lang="en-US" sz="2000" b="0" u="none" strike="noStrike" dirty="0" err="1">
                <a:solidFill>
                  <a:srgbClr val="000000"/>
                </a:solidFill>
                <a:effectLst/>
                <a:uFillTx/>
                <a:latin typeface="Arial"/>
              </a:rPr>
              <a:t>IoU</a:t>
            </a:r>
            <a:r>
              <a:rPr lang="en-US" sz="2000" b="0" u="none" strike="noStrike" dirty="0">
                <a:solidFill>
                  <a:srgbClr val="000000"/>
                </a:solidFill>
                <a:effectLst/>
                <a:uFillTx/>
                <a:latin typeface="Arial"/>
              </a:rPr>
              <a:t> weighting, gradient stops, shared memory paths, FM peak and adjacent Hellinger losses, auxiliary and denoising branches are omitted for clarity. Histograms and supplied photos are illustrative, not measured layer-specific predictions. W(n) uses the manuscript's Adaptive label by author request; this terminology is an explicit exception to code alignment. DDO connections continue to depict the current implemented decoding-scale path.</a:t>
            </a:r>
          </a:p>
          <a:p>
            <a:pPr indent="0" algn="l">
              <a:lnSpc>
                <a:spcPct val="100000"/>
              </a:lnSpc>
              <a:buNone/>
              <a:tabLst>
                <a:tab pos="0" algn="l"/>
              </a:tabLst>
            </a:pPr>
            <a:endParaRPr lang="en-US" sz="2000" b="0" u="none" strike="noStrike" dirty="0">
              <a:solidFill>
                <a:srgbClr val="000000"/>
              </a:solidFill>
              <a:effectLst/>
              <a:uFillTx/>
              <a:latin typeface="Arial"/>
            </a:endParaRPr>
          </a:p>
          <a:p>
            <a:pPr indent="0" algn="l">
              <a:lnSpc>
                <a:spcPct val="100000"/>
              </a:lnSpc>
              <a:buNone/>
              <a:tabLst>
                <a:tab pos="0" algn="l"/>
              </a:tabLst>
            </a:pPr>
            <a:endParaRPr lang="en-US" sz="2000" b="0" u="none" strike="noStrike" dirty="0">
              <a:solidFill>
                <a:srgbClr val="000000"/>
              </a:solidFill>
              <a:effectLst/>
              <a:uFillTx/>
              <a:latin typeface="Arial"/>
            </a:endParaRPr>
          </a:p>
          <a:p>
            <a:pPr indent="0" algn="l">
              <a:lnSpc>
                <a:spcPct val="100000"/>
              </a:lnSpc>
              <a:buNone/>
              <a:tabLst>
                <a:tab pos="0" algn="l"/>
              </a:tabLst>
            </a:pPr>
            <a:endParaRPr lang="en-US" sz="2000" b="0" u="none" strike="noStrike" dirty="0">
              <a:solidFill>
                <a:srgbClr val="000000"/>
              </a:solidFill>
              <a:effectLst/>
              <a:uFillTx/>
              <a:latin typeface="Arial"/>
            </a:endParaRPr>
          </a:p>
          <a:p>
            <a:r>
              <a:rPr lang="zh-CN" altLang="zh-CN" sz="2000" dirty="0"/>
              <a:t>参考来源：配置文件 </a:t>
            </a:r>
            <a:r>
              <a:rPr lang="zh-CN" altLang="zh-CN" sz="1200" kern="1200" dirty="0">
                <a:solidFill>
                  <a:schemeClr val="tx1"/>
                </a:solidFill>
                <a:latin typeface="+mn-lt"/>
                <a:ea typeface="+mn-ea"/>
                <a:cs typeface="+mn-cs"/>
              </a:rPr>
              <a:t>Codes/configs/v22/hdq_auto_v22_imgsz1024_v2.yml</a:t>
            </a:r>
            <a:r>
              <a:rPr lang="zh-CN" altLang="zh-CN" sz="2000" dirty="0"/>
              <a:t>；代码文件 </a:t>
            </a:r>
            <a:r>
              <a:rPr lang="zh-CN" altLang="zh-CN" sz="1200" kern="1200" dirty="0">
                <a:solidFill>
                  <a:schemeClr val="tx1"/>
                </a:solidFill>
                <a:latin typeface="+mn-lt"/>
                <a:ea typeface="+mn-ea"/>
                <a:cs typeface="+mn-cs"/>
              </a:rPr>
              <a:t>Codes/src/zoo/dfine/dfine_decoder.py</a:t>
            </a:r>
            <a:r>
              <a:rPr lang="zh-CN" altLang="zh-CN" sz="2000" dirty="0"/>
              <a:t> 第 274–326、421–535、995–1030 行；</a:t>
            </a:r>
            <a:r>
              <a:rPr lang="zh-CN" altLang="zh-CN" sz="1200" kern="1200" dirty="0">
                <a:solidFill>
                  <a:schemeClr val="tx1"/>
                </a:solidFill>
                <a:latin typeface="+mn-lt"/>
                <a:ea typeface="+mn-ea"/>
                <a:cs typeface="+mn-cs"/>
              </a:rPr>
              <a:t>dfine_criterion.py</a:t>
            </a:r>
            <a:r>
              <a:rPr lang="zh-CN" altLang="zh-CN" sz="2000" dirty="0"/>
              <a:t> 第 167–395 行；</a:t>
            </a:r>
            <a:endParaRPr lang="en-US" altLang="zh-CN" sz="2000" dirty="0"/>
          </a:p>
          <a:p>
            <a:r>
              <a:rPr lang="zh-CN" altLang="zh-CN" sz="1200" kern="1200" dirty="0">
                <a:solidFill>
                  <a:schemeClr val="tx1"/>
                </a:solidFill>
                <a:latin typeface="+mn-lt"/>
                <a:ea typeface="+mn-ea"/>
                <a:cs typeface="+mn-cs"/>
              </a:rPr>
              <a:t>dfine_utils.py</a:t>
            </a:r>
            <a:r>
              <a:rPr lang="zh-CN" altLang="zh-CN" sz="2000" dirty="0"/>
              <a:t> 第 119–142 行；</a:t>
            </a:r>
            <a:r>
              <a:rPr lang="zh-CN" altLang="zh-CN" sz="1200" kern="1200" dirty="0">
                <a:solidFill>
                  <a:schemeClr val="tx1"/>
                </a:solidFill>
                <a:latin typeface="+mn-lt"/>
                <a:ea typeface="+mn-ea"/>
                <a:cs typeface="+mn-cs"/>
              </a:rPr>
              <a:t>postprocessor.py</a:t>
            </a:r>
            <a:r>
              <a:rPr lang="zh-CN" altLang="zh-CN" sz="2000" dirty="0"/>
              <a:t> 第 42–64 行；论文手稿 </a:t>
            </a:r>
            <a:r>
              <a:rPr lang="zh-CN" altLang="zh-CN" sz="1200" kern="1200" dirty="0">
                <a:solidFill>
                  <a:schemeClr val="tx1"/>
                </a:solidFill>
                <a:latin typeface="+mn-lt"/>
                <a:ea typeface="+mn-ea"/>
                <a:cs typeface="+mn-cs"/>
              </a:rPr>
              <a:t>FALCON_manuscript.docx</a:t>
            </a:r>
            <a:r>
              <a:rPr lang="zh-CN" altLang="zh-CN" sz="2000" dirty="0"/>
              <a:t> 第 3.1–3.5 节。</a:t>
            </a:r>
          </a:p>
          <a:p>
            <a:r>
              <a:rPr lang="zh-CN" altLang="zh-CN" sz="2000" dirty="0"/>
              <a:t>图中展示了第 1、2、3、6 层，省略了第 4、5 层。每个解码器读取</a:t>
            </a:r>
            <a:r>
              <a:rPr lang="zh-CN" altLang="zh-CN" sz="2000" b="1" dirty="0"/>
              <a:t>共享编码器特征</a:t>
            </a:r>
            <a:r>
              <a:rPr lang="zh-CN" altLang="zh-CN" sz="2000" dirty="0"/>
              <a:t>与上一轮查询向量；前序解码得到的框作为注意力参考。初始框 \(\boldsymbol{b}_0\) 同样依赖编码器参考特征。FDR 头用于汇总特征与累积对数残差。</a:t>
            </a:r>
            <a:endParaRPr lang="en-US" altLang="zh-CN" sz="2000" dirty="0"/>
          </a:p>
          <a:p>
            <a:r>
              <a:rPr lang="zh-CN" altLang="zh-CN" sz="2000" dirty="0"/>
              <a:t>直方图为示意图，用于可视化各层边界对数概率；实际模块会自行执行 Softmax 与温度缩放。 DDO 与积分模块在训练、推理阶段的每一层均生效。框解码器基于初始框\(\boldsymbol{b}_0\)、4 个积分边界偏移量以及 DDO 缩放系数进行计算。</a:t>
            </a:r>
            <a:endParaRPr lang="en-US" altLang="zh-CN" sz="2000" dirty="0"/>
          </a:p>
          <a:p>
            <a:r>
              <a:rPr lang="zh-CN" altLang="zh-CN" sz="2000" dirty="0"/>
              <a:t>类别投影隐含在类别对数概率箭头中。 LQE 模块输入为类别对数概率与角点对数概率；浅层读出模块仅用于训练，第 6 层同时参与推理。LQE 的输出通路与后处理流程未在图中画出。 </a:t>
            </a:r>
            <a:endParaRPr lang="en-US" altLang="zh-CN" sz="2000" dirty="0"/>
          </a:p>
          <a:p>
            <a:r>
              <a:rPr lang="zh-CN" altLang="zh-CN" sz="2000" dirty="0"/>
              <a:t>CLC 箭头代表相邻成对损失的输入，</a:t>
            </a:r>
            <a:r>
              <a:rPr lang="zh-CN" altLang="zh-CN" sz="2000" b="1" dirty="0"/>
              <a:t>不代表梯度方向或前向变换</a:t>
            </a:r>
            <a:r>
              <a:rPr lang="zh-CN" altLang="zh-CN" sz="2000" dirty="0"/>
              <a:t>；第 3 层与第 6 层并非直接配对。FRD 融合所有层的 Fisher FGL 损失，以及深层到浅层的 FR-LSD 损失。</a:t>
            </a:r>
            <a:endParaRPr lang="en-US" altLang="zh-CN" sz="2000" dirty="0"/>
          </a:p>
          <a:p>
            <a:r>
              <a:rPr lang="zh-CN" altLang="zh-CN" sz="2000" dirty="0"/>
              <a:t> 为简洁起见，图中省略匹配策略、教师分数 / 交并比加权、梯度截断、共享内存通路、FM 峰值与相邻海林格损失、辅助分支与去噪分支。</a:t>
            </a:r>
            <a:endParaRPr lang="en-US" altLang="zh-CN" sz="2000" dirty="0"/>
          </a:p>
          <a:p>
            <a:r>
              <a:rPr lang="zh-CN" altLang="zh-CN" sz="2000" dirty="0"/>
              <a:t>直方图与配图仅作示意，并非各层真实预测结果。 应作者要求，\(W(n)\) 采用手稿中的</a:t>
            </a:r>
            <a:r>
              <a:rPr lang="zh-CN" altLang="zh-CN" sz="2000" b="1" dirty="0"/>
              <a:t>自适应标签</a:t>
            </a:r>
            <a:r>
              <a:rPr lang="zh-CN" altLang="zh-CN" sz="2000" dirty="0"/>
              <a:t>命名；</a:t>
            </a:r>
            <a:endParaRPr lang="en-US" altLang="zh-CN" sz="2000" dirty="0"/>
          </a:p>
          <a:p>
            <a:r>
              <a:rPr lang="zh-CN" altLang="zh-CN" sz="2000" dirty="0"/>
              <a:t>该术语是一处明确的特例，不与代码命名保持一致。DDO 连线描绘当前已实现的解码缩放通路。</a:t>
            </a:r>
          </a:p>
          <a:p>
            <a:pPr indent="0" algn="l">
              <a:lnSpc>
                <a:spcPct val="100000"/>
              </a:lnSpc>
              <a:buNone/>
              <a:tabLst>
                <a:tab pos="0" algn="l"/>
              </a:tabLst>
            </a:pPr>
            <a:endParaRPr lang="en-US" sz="2000" b="0" u="none" strike="noStrike" dirty="0">
              <a:solidFill>
                <a:srgbClr val="000000"/>
              </a:solidFill>
              <a:effectLst/>
              <a:uFillTx/>
              <a:latin typeface="Arial"/>
            </a:endParaRPr>
          </a:p>
        </p:txBody>
      </p:sp>
      <p:sp>
        <p:nvSpPr>
          <p:cNvPr id="626" name="PlaceHolder 3"/>
          <p:cNvSpPr>
            <a:spLocks noGrp="1"/>
          </p:cNvSpPr>
          <p:nvPr>
            <p:ph type="sldNum" idx="37"/>
          </p:nvPr>
        </p:nvSpPr>
        <p:spPr>
          <a:xfrm>
            <a:off x="3884760" y="8685360"/>
            <a:ext cx="2967840" cy="4546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50B6B1FB-097C-43F1-A064-358FD062D96D}" type="slidenum">
              <a:rPr lang="en-US" sz="1200" b="0" u="none" strike="noStrike">
                <a:solidFill>
                  <a:srgbClr val="000000"/>
                </a:solidFill>
                <a:effectLst/>
                <a:uFillTx/>
                <a:latin typeface="Times New Roman"/>
                <a:ea typeface="+mn-ea"/>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 name="PlaceHolder 1"/>
          <p:cNvSpPr>
            <a:spLocks noGrp="1" noRot="1" noChangeAspect="1"/>
          </p:cNvSpPr>
          <p:nvPr>
            <p:ph type="sldImg"/>
          </p:nvPr>
        </p:nvSpPr>
        <p:spPr>
          <a:xfrm>
            <a:off x="1619250" y="1143000"/>
            <a:ext cx="3617913" cy="3084513"/>
          </a:xfrm>
          <a:prstGeom prst="rect">
            <a:avLst/>
          </a:prstGeom>
          <a:ln w="0">
            <a:noFill/>
          </a:ln>
        </p:spPr>
      </p:sp>
      <p:sp>
        <p:nvSpPr>
          <p:cNvPr id="628"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a:solidFill>
                  <a:srgbClr val="000000"/>
                </a:solidFill>
                <a:effectLst/>
                <a:uFillTx/>
                <a:latin typeface="Arial"/>
              </a:rPr>
              <a:t>FRD v8. All computation arrows are solid; no training/inference distinction is encoded by line style. The final weighted sum is documented in the caption, not drawn as a separate bar. Two dark-purple modules highlight the FALCON changes: entropy-reweighted FGL and squared-Hellinger FR-LSD. D-FINE FGL and GO-LSD/DDF inheritance follows local D-FINE PDF sections 4.1 and 4.2, equations 5 and 6. Current FALCON code takes precedence over manuscript section 3.5. Upper branch consumes matched cumulative logits directly for interpolated CE; ordinary softmax is used for entropy only. eta=1+0.35*detach(clip(H/log33,0,1)); IoU weights and GT targets are detached. GT d_GT denotes encoded relative edge coordinate, not raw pixel distance; fixed reg_scale/up. Lower branch T=5, final teacher detached, squared-root probability distance without 1/2, T squared scaling, matched student IoU/unmatched final corrected class confidence weights detached. Group means are weighted by square-root group counts. Ordinary layer ranges are FGL 1–6 and FR-LSD 1–5 with teacher 6. The main diagram depicts the ordinary detection branch. N_m refers only to num_boxes_go. Denoising FGL uses dn_num_boxes=num_boxes*dn_num_group, with fallback 1 when nonpositive. Denoising FR-LSD reuses ordinary-group balancing coefficients; its own group loss means use denoising masks. L_FRD groups loss_fgl and loss_ddf including applicable auxiliary and denoising terms, no additional criterion loss key. All histograms are illustrative, not measured. Full details and code citations in accompanying caption. Combined v4: all subscripts are native editable italic, non-bold runs, including converted Unicode subscript characters. FRD retains the v8 palette. CLC/DDO/LQE use saturated bright accent fills. No computation or geometry has changed; shared canvas is 185 x 121 mm with no stretching. Combined v5: only CLC innovation fill changes to #2784D5. All key-module text is white. Innovation borders use darker colors in the same hue family. Italic non-bold subscripts and all geometry, computation and scope labels remain unchanged.</a:t>
            </a:r>
          </a:p>
          <a:p>
            <a:pPr indent="0" algn="l">
              <a:lnSpc>
                <a:spcPct val="100000"/>
              </a:lnSpc>
              <a:buNone/>
              <a:tabLst>
                <a:tab pos="0" algn="l"/>
              </a:tabLst>
            </a:pPr>
            <a:r>
              <a:rPr lang="en-US" sz="2000" b="0" u="none" strike="noStrike">
                <a:solidFill>
                  <a:srgbClr val="000000"/>
                </a:solidFill>
                <a:effectLst/>
                <a:uFillTx/>
                <a:latin typeface="Arial"/>
              </a:rPr>
              <a:t>Combined v6: layer index i follows the actual v14 r_i label; p_i denotes ordinary softmax(z_i), p_i^T denotes temperature softmax. Initial reference b_0 and its w_0,h_0 use subscripts. LQE class logits s_i=ClassHead_i(h_i). Shared W(n) is retained to match code; v14 Adaptive W(n) remains a documented main-figure label conflict.</a:t>
            </a:r>
          </a:p>
          <a:p>
            <a:pPr indent="0" algn="l">
              <a:lnSpc>
                <a:spcPct val="100000"/>
              </a:lnSpc>
              <a:buNone/>
              <a:tabLst>
                <a:tab pos="0" algn="l"/>
              </a:tabLst>
            </a:pPr>
            <a:r>
              <a:rPr lang="en-US" sz="2000" b="0" u="none" strike="noStrike">
                <a:solidFill>
                  <a:srgbClr val="000000"/>
                </a:solidFill>
                <a:effectLst/>
                <a:uFillTx/>
                <a:latin typeface="Arial"/>
              </a:rPr>
              <a:t>v7 user-requested finishing changes: diagram label Adaptive W(n); all mathematical text uses 9 pt base size, with 6.75 pt superscripts/subscripts. Computational graph unchanged. The Adaptive W(n) label follows the overview terminology; actual code still shares the project and dynamically modulates r_i.</a:t>
            </a:r>
          </a:p>
        </p:txBody>
      </p:sp>
      <p:sp>
        <p:nvSpPr>
          <p:cNvPr id="629" name="PlaceHolder 3"/>
          <p:cNvSpPr>
            <a:spLocks noGrp="1"/>
          </p:cNvSpPr>
          <p:nvPr>
            <p:ph type="sldNum" idx="38"/>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B6F9EC7D-FDA1-44C6-9CFE-C2E64AE22857}" type="slidenum">
              <a:rPr lang="en-US" sz="1200" b="0" u="none" strike="noStrike">
                <a:solidFill>
                  <a:srgbClr val="000000"/>
                </a:solidFill>
                <a:effectLst/>
                <a:uFillTx/>
                <a:latin typeface="Times New Roman"/>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 name="PlaceHolder 1"/>
          <p:cNvSpPr>
            <a:spLocks noGrp="1" noRot="1" noChangeAspect="1"/>
          </p:cNvSpPr>
          <p:nvPr>
            <p:ph type="sldImg"/>
          </p:nvPr>
        </p:nvSpPr>
        <p:spPr>
          <a:xfrm>
            <a:off x="1619250" y="1143000"/>
            <a:ext cx="3617913" cy="3084513"/>
          </a:xfrm>
          <a:prstGeom prst="rect">
            <a:avLst/>
          </a:prstGeom>
          <a:ln w="0">
            <a:noFill/>
          </a:ln>
        </p:spPr>
      </p:sp>
      <p:sp>
        <p:nvSpPr>
          <p:cNvPr id="634"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a:solidFill>
                  <a:srgbClr val="000000"/>
                </a:solidFill>
                <a:effectLst/>
                <a:uFillTx/>
                <a:latin typeface="Arial"/>
              </a:rPr>
              <a:t>Decoder Distribution Optimizer. dfine_decoder.py:428-535; dfine_utils.py:119-142; config:55-70. b0 is fixed initial prediction, detached at decoder line456. w0,h0 clamp_min(1e-6); epsilon=1e-6. Scale uses r0=4, s_ref=.05, clamp [.6,1.8]. Flatness averages 4 edges, detaches, divides by per-image current-layer max across queries clamped to 1e-6. The normalization denominator clamps the per-image query maximum by epsilon=1e-6. Current queries can include DN during training. Both branches modify rs passed to distance2bbox. Shared W is generated before the layer loop from fixed reg_scale and up; it is not regenerated by DDO. The lower panel is context outside DDO, not new DDO submodules. Integral consumes p as shown mathematically; the actual Integral receives logits and internally softmaxes them. One scale per query shared across four edges, not six-layer aggregation. No independent learnable DDO parameters. All 6 layers in training and current eval. Main v14 inputs b0 and distribution, output adaptive scale to Box Decoder are preserved. Manuscript curvature wording and v14 Adaptive W label differ from code; do not redraw W as instance-adaptive. v2: filled dots on the arrows are explicit computational input junctions. The Integral junction bundles (p_l,W) and does not add them; the Box Decoder junction bundles (b0,r_l), while m_l remains a separate input. DDO does not modify W. Both added branches join at exact midpoints of their host arrows. v3: innovation fills use lighter component colors and dark text. The top-right dimension badge and footer have been removed. Essential layer ranges or scalar broadcasting are expressed within the computational diagram. Computational formulas and input/output dependencies are unchanged. Combined v4: all subscripts are native editable italic, non-bold runs, including converted Unicode subscript characters. FRD retains the v8 palette. CLC/DDO/LQE use saturated bright accent fills. No computation or geometry has changed; shared canvas is 185 x 121 mm with no stretching. Combined v5: only CLC innovation fill changes to #2784D5. All key-module text is white. Innovation borders use darker colors in the same hue family. Italic non-bold subscripts and all geometry, computation and scope labels remain unchanged.</a:t>
            </a:r>
          </a:p>
          <a:p>
            <a:pPr indent="0" algn="l">
              <a:lnSpc>
                <a:spcPct val="100000"/>
              </a:lnSpc>
              <a:buNone/>
              <a:tabLst>
                <a:tab pos="0" algn="l"/>
              </a:tabLst>
            </a:pPr>
            <a:r>
              <a:rPr lang="en-US" sz="2000" b="0" u="none" strike="noStrike">
                <a:solidFill>
                  <a:srgbClr val="000000"/>
                </a:solidFill>
                <a:effectLst/>
                <a:uFillTx/>
                <a:latin typeface="Arial"/>
              </a:rPr>
              <a:t>Combined v6: layer index i follows the actual v14 r_i label; p_i denotes ordinary softmax(z_i), p_i^T denotes temperature softmax. Initial reference b_0 and its w_0,h_0 use subscripts. LQE class logits s_i=ClassHead_i(h_i). Shared W(n) is retained to match code; v14 Adaptive W(n) remains a documented main-figure label conflict.</a:t>
            </a:r>
          </a:p>
          <a:p>
            <a:pPr indent="0" algn="l">
              <a:lnSpc>
                <a:spcPct val="100000"/>
              </a:lnSpc>
              <a:buNone/>
              <a:tabLst>
                <a:tab pos="0" algn="l"/>
              </a:tabLst>
            </a:pPr>
            <a:r>
              <a:rPr lang="en-US" sz="2000" b="0" u="none" strike="noStrike">
                <a:solidFill>
                  <a:srgbClr val="000000"/>
                </a:solidFill>
                <a:effectLst/>
                <a:uFillTx/>
                <a:latin typeface="Arial"/>
              </a:rPr>
              <a:t>v7 user-requested finishing changes: diagram label Adaptive W(n); all mathematical text uses 9 pt base size, with 6.75 pt superscripts/subscripts. Computational graph unchanged. The Adaptive W(n) label follows the overview terminology; actual code still shares the project and dynamically modulates r_i.</a:t>
            </a:r>
          </a:p>
        </p:txBody>
      </p:sp>
      <p:sp>
        <p:nvSpPr>
          <p:cNvPr id="635" name="PlaceHolder 3"/>
          <p:cNvSpPr>
            <a:spLocks noGrp="1"/>
          </p:cNvSpPr>
          <p:nvPr>
            <p:ph type="sldNum" idx="40"/>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126951B4-15F9-4E87-801E-5E9BEBFE9D0A}" type="slidenum">
              <a:rPr lang="en-US" sz="1200" b="0" u="none" strike="noStrike">
                <a:solidFill>
                  <a:srgbClr val="000000"/>
                </a:solidFill>
                <a:effectLst/>
                <a:uFillTx/>
                <a:latin typeface="Times New Roman"/>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 name="PlaceHolder 1"/>
          <p:cNvSpPr>
            <a:spLocks noGrp="1" noRot="1" noChangeAspect="1"/>
          </p:cNvSpPr>
          <p:nvPr>
            <p:ph type="sldImg"/>
          </p:nvPr>
        </p:nvSpPr>
        <p:spPr>
          <a:xfrm>
            <a:off x="1619250" y="1143000"/>
            <a:ext cx="3617913" cy="3084513"/>
          </a:xfrm>
          <a:prstGeom prst="rect">
            <a:avLst/>
          </a:prstGeom>
          <a:ln w="0">
            <a:noFill/>
          </a:ln>
        </p:spPr>
      </p:sp>
      <p:sp>
        <p:nvSpPr>
          <p:cNvPr id="631"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a:solidFill>
                  <a:srgbClr val="000000"/>
                </a:solidFill>
                <a:effectLst/>
                <a:uFillTx/>
                <a:latin typeface="Arial"/>
              </a:rPr>
              <a:t>Cross-Layer Consistency. Current six-layer configuration: hdq_auto_v22_imgsz1024_v2.yml:73-86. Code: dfine_criterion.py:281-396,463-482,505-521. p is shallow and q is detached deeper target. KL is KL(q||p), multiplied by T^2; adjacent squared Hellinger has neither 1/2 nor T^2. Both use T=1.5 and all five neighboring pairs. GT area and the cross-layer matching union determine detached area weights. The final-layer peak term uses T=1. N is num_boxes_go; pair terms sum matched edges / N then average five pairs. Loss outputs are separate dictionary entries, not a forward prediction. Only ordinary detection queries; no DN invocation. FM losses are grouped with CLC according to manuscript Sec.3.5 and ablations. v14 shows adjacent inputs and omits GT weights, FM terms and loss outputs. All internal solid arrows mean computational dependency, not inference scope. See accompanying caption for exact clamps and reductions. v2 layout: a_q and alpha_l are defined in the top strip and reused by same-symbol local weight input ports. These are symbolic references to the same weights, not independent calculations or learnable parameters. The two (p,q) exits both carry the same probability pair. No long weight bus and no crossing paths. v3: innovation fills use lighter component colors and dark text. The top-right dimension badge and footer have been removed. Essential layer ranges or scalar broadcasting are expressed within the computational diagram. Computational formulas and input/output dependencies are unchanged. Combined v4: all subscripts are native editable italic, non-bold runs, including converted Unicode subscript characters. FRD retains the v8 palette. CLC/DDO/LQE use saturated bright accent fills. No computation or geometry has changed; shared canvas is 185 x 121 mm with no stretching. Combined v5: only CLC innovation fill changes to #2784D5. All key-module text is white. Innovation borders use darker colors in the same hue family. Italic non-bold subscripts and all geometry, computation and scope labels remain unchanged.</a:t>
            </a:r>
          </a:p>
          <a:p>
            <a:pPr indent="0" algn="l">
              <a:lnSpc>
                <a:spcPct val="100000"/>
              </a:lnSpc>
              <a:buNone/>
              <a:tabLst>
                <a:tab pos="0" algn="l"/>
              </a:tabLst>
            </a:pPr>
            <a:r>
              <a:rPr lang="en-US" sz="2000" b="0" u="none" strike="noStrike">
                <a:solidFill>
                  <a:srgbClr val="000000"/>
                </a:solidFill>
                <a:effectLst/>
                <a:uFillTx/>
                <a:latin typeface="Arial"/>
              </a:rPr>
              <a:t>Combined v6: layer index i follows the actual v14 r_i label; p_i denotes ordinary softmax(z_i), p_i^T denotes temperature softmax. Initial reference b_0 and its w_0,h_0 use subscripts. LQE class logits s_i=ClassHead_i(h_i). Shared W(n) is retained to match code; v14 Adaptive W(n) remains a documented main-figure label conflict.</a:t>
            </a:r>
          </a:p>
          <a:p>
            <a:pPr indent="0" algn="l">
              <a:lnSpc>
                <a:spcPct val="100000"/>
              </a:lnSpc>
              <a:buNone/>
              <a:tabLst>
                <a:tab pos="0" algn="l"/>
              </a:tabLst>
            </a:pPr>
            <a:r>
              <a:rPr lang="en-US" sz="2000" b="0" u="none" strike="noStrike">
                <a:solidFill>
                  <a:srgbClr val="000000"/>
                </a:solidFill>
                <a:effectLst/>
                <a:uFillTx/>
                <a:latin typeface="Arial"/>
              </a:rPr>
              <a:t>v7 user-requested finishing changes: diagram label Adaptive W(n); all mathematical text uses 9 pt base size, with 6.75 pt superscripts/subscripts. Computational graph unchanged. The Adaptive W(n) label follows the overview terminology; actual code still shares the project and dynamically modulates r_i.</a:t>
            </a:r>
          </a:p>
        </p:txBody>
      </p:sp>
      <p:sp>
        <p:nvSpPr>
          <p:cNvPr id="632" name="PlaceHolder 3"/>
          <p:cNvSpPr>
            <a:spLocks noGrp="1"/>
          </p:cNvSpPr>
          <p:nvPr>
            <p:ph type="sldNum" idx="39"/>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AB5C6FD0-B795-4E06-AB89-EBBDF4F78926}" type="slidenum">
              <a:rPr lang="en-US" sz="1200" b="0" u="none" strike="noStrike">
                <a:solidFill>
                  <a:srgbClr val="000000"/>
                </a:solidFill>
                <a:effectLst/>
                <a:uFillTx/>
                <a:latin typeface="Times New Roman"/>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 name="PlaceHolder 1"/>
          <p:cNvSpPr>
            <a:spLocks noGrp="1" noRot="1" noChangeAspect="1"/>
          </p:cNvSpPr>
          <p:nvPr>
            <p:ph type="sldImg"/>
          </p:nvPr>
        </p:nvSpPr>
        <p:spPr>
          <a:xfrm>
            <a:off x="1619250" y="1143000"/>
            <a:ext cx="3617913" cy="3084513"/>
          </a:xfrm>
          <a:prstGeom prst="rect">
            <a:avLst/>
          </a:prstGeom>
          <a:ln w="0">
            <a:noFill/>
          </a:ln>
        </p:spPr>
      </p:sp>
      <p:sp>
        <p:nvSpPr>
          <p:cNvPr id="637" name="PlaceHolder 2"/>
          <p:cNvSpPr>
            <a:spLocks noGrp="1"/>
          </p:cNvSpPr>
          <p:nvPr>
            <p:ph type="body"/>
          </p:nvPr>
        </p:nvSpPr>
        <p:spPr>
          <a:xfrm>
            <a:off x="685800" y="4400640"/>
            <a:ext cx="5482800" cy="3596760"/>
          </a:xfrm>
          <a:prstGeom prst="rect">
            <a:avLst/>
          </a:prstGeom>
          <a:noFill/>
          <a:ln w="0">
            <a:noFill/>
          </a:ln>
        </p:spPr>
        <p:txBody>
          <a:bodyPr lIns="91440" tIns="45720" rIns="91440" bIns="45720" anchor="t">
            <a:noAutofit/>
          </a:bodyPr>
          <a:lstStyle/>
          <a:p>
            <a:pPr indent="0" algn="l">
              <a:lnSpc>
                <a:spcPct val="100000"/>
              </a:lnSpc>
              <a:buNone/>
              <a:tabLst>
                <a:tab pos="0" algn="l"/>
              </a:tabLst>
            </a:pPr>
            <a:r>
              <a:rPr lang="en-US" sz="2000" b="0" u="none" strike="noStrike">
                <a:solidFill>
                  <a:srgbClr val="000000"/>
                </a:solidFill>
                <a:effectLst/>
                <a:uFillTx/>
                <a:latin typeface="Arial"/>
              </a:rPr>
              <a:t>Localization Quality Estimator. dfine_decoder.py:298-326,377-381,521-524. The top-k path is inherited from D-FINE; the entropy path is the FALCON addition. All distributions are from current cumulative logits with 4 edges and 33 bins. top4+their mean on each edge =&gt;20 features; MLP20-&gt;64-&gt;1. Entropy on each edge and mean =&gt;5 features; MLP5-&gt;64-&gt;1. Both MLPs have one ReLU hidden layer and zero-initialized final affine layer at construction. Entropy is computed in float32 after clamping p to 1e-8, uses natural log and no /log33 or detach. Quality output B,Q,1 broadcasts over C classification logits. It is not class probability; sigmoid occurs in downstream losses/postprocess as applicable. Each decoder layer has its own LQE module parameters. Training computes layers1-6; current eval only layer6. No constrained monotonic relation between entropy and score. v14 input edges preserved; it omits LQE outputs. New output here is code-derived. Auxiliary FR-LSD teacher confidence comes from final corrected logits, described in caption rather than an extra forward arrow. v3 compact layout: panel height 685 units. Both class arrows are 120 units and both quality vertical arrows are 135 units. q_l is one scalar per query, broadcast across all classes. v3: innovation fills use lighter component colors and dark text. The top-right dimension badge and footer have been removed. Essential layer ranges or scalar broadcasting are expressed within the computational diagram. Computational formulas and input/output dependencies are unchanged. Combined v4: all subscripts are native editable italic, non-bold runs, including converted Unicode subscript characters. FRD retains the v8 palette. CLC/DDO/LQE use saturated bright accent fills. No computation or geometry has changed; shared canvas is 185 x 121 mm with no stretching. Combined v5: only CLC innovation fill changes to #2784D5. All key-module text is white. Innovation borders use darker colors in the same hue family. Italic non-bold subscripts and all geometry, computation and scope labels remain unchanged.</a:t>
            </a:r>
          </a:p>
          <a:p>
            <a:pPr indent="0" algn="l">
              <a:lnSpc>
                <a:spcPct val="100000"/>
              </a:lnSpc>
              <a:buNone/>
              <a:tabLst>
                <a:tab pos="0" algn="l"/>
              </a:tabLst>
            </a:pPr>
            <a:r>
              <a:rPr lang="en-US" sz="2000" b="0" u="none" strike="noStrike">
                <a:solidFill>
                  <a:srgbClr val="000000"/>
                </a:solidFill>
                <a:effectLst/>
                <a:uFillTx/>
                <a:latin typeface="Arial"/>
              </a:rPr>
              <a:t>Combined v6: layer index i follows the actual v14 r_i label; p_i denotes ordinary softmax(z_i), p_i^T denotes temperature softmax. Initial reference b_0 and its w_0,h_0 use subscripts. LQE class logits s_i=ClassHead_i(h_i). Shared W(n) is retained to match code; v14 Adaptive W(n) remains a documented main-figure label conflict.</a:t>
            </a:r>
          </a:p>
          <a:p>
            <a:pPr indent="0" algn="l">
              <a:lnSpc>
                <a:spcPct val="100000"/>
              </a:lnSpc>
              <a:buNone/>
              <a:tabLst>
                <a:tab pos="0" algn="l"/>
              </a:tabLst>
            </a:pPr>
            <a:r>
              <a:rPr lang="en-US" sz="2000" b="0" u="none" strike="noStrike">
                <a:solidFill>
                  <a:srgbClr val="000000"/>
                </a:solidFill>
                <a:effectLst/>
                <a:uFillTx/>
                <a:latin typeface="Arial"/>
              </a:rPr>
              <a:t>v7 user-requested finishing changes: diagram label Adaptive W(n); all mathematical text uses 9 pt base size, with 6.75 pt superscripts/subscripts. Computational graph unchanged. The Adaptive W(n) label follows the overview terminology; actual code still shares the project and dynamically modulates r_i.</a:t>
            </a:r>
          </a:p>
        </p:txBody>
      </p:sp>
      <p:sp>
        <p:nvSpPr>
          <p:cNvPr id="638" name="PlaceHolder 3"/>
          <p:cNvSpPr>
            <a:spLocks noGrp="1"/>
          </p:cNvSpPr>
          <p:nvPr>
            <p:ph type="sldNum" idx="41"/>
          </p:nvPr>
        </p:nvSpPr>
        <p:spPr>
          <a:xfrm>
            <a:off x="3884760" y="8685360"/>
            <a:ext cx="2968200" cy="45504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AEBD038B-E78C-4EE9-9D68-EC6A4F118FA2}" type="slidenum">
              <a:rPr lang="en-US" sz="1200" b="0" u="none" strike="noStrike">
                <a:solidFill>
                  <a:srgbClr val="000000"/>
                </a:solidFill>
                <a:effectLst/>
                <a:uFillTx/>
                <a:latin typeface="Times New Roman"/>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dt" idx="1"/>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3" name="PlaceHolder 2"/>
          <p:cNvSpPr>
            <a:spLocks noGrp="1"/>
          </p:cNvSpPr>
          <p:nvPr>
            <p:ph type="ftr" idx="2"/>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4" name="PlaceHolder 3"/>
          <p:cNvSpPr>
            <a:spLocks noGrp="1"/>
          </p:cNvSpPr>
          <p:nvPr>
            <p:ph type="sldNum" idx="3"/>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08C2A4FA-87B7-4628-9013-392F54622747}"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
        <p:nvSpPr>
          <p:cNvPr id="5" name="PlaceHolder 4"/>
          <p:cNvSpPr>
            <a:spLocks noGrp="1"/>
          </p:cNvSpPr>
          <p:nvPr>
            <p:ph type="title"/>
          </p:nvPr>
        </p:nvSpPr>
        <p:spPr>
          <a:xfrm>
            <a:off x="370440" y="252000"/>
            <a:ext cx="6671160" cy="1053360"/>
          </a:xfrm>
          <a:prstGeom prst="rect">
            <a:avLst/>
          </a:prstGeom>
          <a:noFill/>
          <a:ln w="0">
            <a:noFill/>
          </a:ln>
        </p:spPr>
        <p:txBody>
          <a:bodyPr lIns="0" tIns="0" rIns="0" bIns="0" anchor="ctr">
            <a:noAutofit/>
          </a:bodyPr>
          <a:lstStyle>
            <a:lvl1pPr indent="0" algn="l" defTabSz="914400">
              <a:lnSpc>
                <a:spcPct val="90000"/>
              </a:lnSpc>
              <a:buNone/>
              <a:tabLst>
                <a:tab pos="0" algn="l"/>
              </a:tabLst>
              <a:defRPr lang="zh-CN" sz="1800" b="0" u="none" strike="noStrike">
                <a:solidFill>
                  <a:schemeClr val="dk1"/>
                </a:solidFill>
                <a:effectLst/>
                <a:uFillTx/>
                <a:latin typeface="等线"/>
              </a:defRPr>
            </a:lvl1pPr>
          </a:lstStyle>
          <a:p>
            <a:pPr indent="0" algn="l" defTabSz="914400">
              <a:lnSpc>
                <a:spcPct val="90000"/>
              </a:lnSpc>
              <a:buNone/>
              <a:tabLst>
                <a:tab pos="0" algn="l"/>
              </a:tabLst>
            </a:pPr>
            <a:r>
              <a:rPr lang="zh-CN" sz="1800" b="0" u="none" strike="noStrike">
                <a:solidFill>
                  <a:schemeClr val="dk1"/>
                </a:solidFill>
                <a:effectLst/>
                <a:uFillTx/>
                <a:latin typeface="等线"/>
              </a:rPr>
              <a:t>单击以编辑标题文本格式</a:t>
            </a:r>
            <a:endParaRPr lang="en-US" sz="1800" b="0" u="none" strike="noStrike">
              <a:solidFill>
                <a:schemeClr val="dk1"/>
              </a:solidFill>
              <a:effectLst/>
              <a:uFillTx/>
              <a:latin typeface="等线"/>
            </a:endParaRPr>
          </a:p>
        </p:txBody>
      </p:sp>
      <p:sp>
        <p:nvSpPr>
          <p:cNvPr id="6" name="PlaceHolder 5"/>
          <p:cNvSpPr>
            <a:spLocks noGrp="1"/>
          </p:cNvSpPr>
          <p:nvPr>
            <p:ph type="body"/>
          </p:nvPr>
        </p:nvSpPr>
        <p:spPr>
          <a:xfrm>
            <a:off x="370440" y="1479240"/>
            <a:ext cx="6671160" cy="3664800"/>
          </a:xfrm>
          <a:prstGeom prst="rect">
            <a:avLst/>
          </a:prstGeom>
          <a:noFill/>
          <a:ln w="0">
            <a:noFill/>
          </a:ln>
        </p:spPr>
        <p:txBody>
          <a:bodyPr lIns="0" tIns="0" rIns="0" bIns="0" anchor="t">
            <a:normAutofit/>
          </a:bodyPr>
          <a:lstStyle>
            <a:lvl1pPr algn="l" defTabSz="914400">
              <a:lnSpc>
                <a:spcPct val="90000"/>
              </a:lnSpc>
              <a:spcBef>
                <a:spcPts val="1417"/>
              </a:spcBef>
              <a:buClr>
                <a:srgbClr val="000000"/>
              </a:buClr>
              <a:buSzPct val="45000"/>
              <a:buFont typeface="Wingdings" charset="2"/>
              <a:buChar char=""/>
              <a:defRPr lang="zh-CN" sz="2800" b="0" u="none" strike="noStrike">
                <a:solidFill>
                  <a:schemeClr val="dk1"/>
                </a:solidFill>
                <a:effectLst/>
                <a:uFillTx/>
                <a:latin typeface="等线"/>
              </a:defRPr>
            </a:lvl1pPr>
            <a:lvl2pPr lvl="1" algn="l" defTabSz="914400">
              <a:lnSpc>
                <a:spcPct val="90000"/>
              </a:lnSpc>
              <a:spcBef>
                <a:spcPts val="1134"/>
              </a:spcBef>
              <a:buClr>
                <a:srgbClr val="000000"/>
              </a:buClr>
              <a:buSzPct val="75000"/>
              <a:buFont typeface="Symbol" charset="2"/>
              <a:buChar char=""/>
              <a:defRPr lang="zh-CN" sz="2000" b="0" u="none" strike="noStrike">
                <a:solidFill>
                  <a:schemeClr val="dk1"/>
                </a:solidFill>
                <a:effectLst/>
                <a:uFillTx/>
                <a:latin typeface="等线"/>
              </a:defRPr>
            </a:lvl2pPr>
            <a:lvl3pPr lvl="2" algn="l" defTabSz="914400">
              <a:lnSpc>
                <a:spcPct val="90000"/>
              </a:lnSpc>
              <a:spcBef>
                <a:spcPts val="850"/>
              </a:spcBef>
              <a:buClr>
                <a:srgbClr val="000000"/>
              </a:buClr>
              <a:buSzPct val="45000"/>
              <a:buFont typeface="Wingdings" charset="2"/>
              <a:buChar char=""/>
              <a:defRPr lang="zh-CN" sz="1800" b="0" u="none" strike="noStrike">
                <a:solidFill>
                  <a:schemeClr val="dk1"/>
                </a:solidFill>
                <a:effectLst/>
                <a:uFillTx/>
                <a:latin typeface="等线"/>
              </a:defRPr>
            </a:lvl3pPr>
            <a:lvl4pPr lvl="3" algn="l" defTabSz="914400">
              <a:lnSpc>
                <a:spcPct val="90000"/>
              </a:lnSpc>
              <a:spcBef>
                <a:spcPts val="567"/>
              </a:spcBef>
              <a:buClr>
                <a:srgbClr val="000000"/>
              </a:buClr>
              <a:buSzPct val="75000"/>
              <a:buFont typeface="Symbol" charset="2"/>
              <a:buChar char=""/>
              <a:defRPr lang="zh-CN" sz="1800" b="0" u="none" strike="noStrike">
                <a:solidFill>
                  <a:schemeClr val="dk1"/>
                </a:solidFill>
                <a:effectLst/>
                <a:uFillTx/>
                <a:latin typeface="等线"/>
              </a:defRPr>
            </a:lvl4pPr>
            <a:lvl5pPr lvl="4" algn="l" defTabSz="914400">
              <a:lnSpc>
                <a:spcPct val="90000"/>
              </a:lnSpc>
              <a:spcBef>
                <a:spcPts val="283"/>
              </a:spcBef>
              <a:buClr>
                <a:srgbClr val="000000"/>
              </a:buClr>
              <a:buSzPct val="45000"/>
              <a:buFont typeface="Wingdings" charset="2"/>
              <a:buChar char=""/>
              <a:defRPr lang="zh-CN" sz="2000" b="0" u="none" strike="noStrike">
                <a:solidFill>
                  <a:schemeClr val="dk1"/>
                </a:solidFill>
                <a:effectLst/>
                <a:uFillTx/>
                <a:latin typeface="等线"/>
              </a:defRPr>
            </a:lvl5pPr>
            <a:lvl6pPr lvl="5" algn="l" defTabSz="914400">
              <a:lnSpc>
                <a:spcPct val="90000"/>
              </a:lnSpc>
              <a:spcBef>
                <a:spcPts val="283"/>
              </a:spcBef>
              <a:buClr>
                <a:srgbClr val="000000"/>
              </a:buClr>
              <a:buSzPct val="45000"/>
              <a:buFont typeface="Wingdings" charset="2"/>
              <a:buChar char=""/>
              <a:defRPr lang="zh-CN" sz="2000" b="0" u="none" strike="noStrike">
                <a:solidFill>
                  <a:schemeClr val="dk1"/>
                </a:solidFill>
                <a:effectLst/>
                <a:uFillTx/>
                <a:latin typeface="等线"/>
              </a:defRPr>
            </a:lvl6pPr>
            <a:lvl7pPr lvl="6" algn="l" defTabSz="914400">
              <a:lnSpc>
                <a:spcPct val="90000"/>
              </a:lnSpc>
              <a:spcBef>
                <a:spcPts val="283"/>
              </a:spcBef>
              <a:buClr>
                <a:srgbClr val="000000"/>
              </a:buClr>
              <a:buSzPct val="45000"/>
              <a:buFont typeface="Wingdings" charset="2"/>
              <a:buChar char=""/>
              <a:defRPr lang="zh-CN" sz="2000" b="0" u="none" strike="noStrike">
                <a:solidFill>
                  <a:schemeClr val="dk1"/>
                </a:solidFill>
                <a:effectLst/>
                <a:uFillTx/>
                <a:latin typeface="等线"/>
              </a:defRPr>
            </a:lvl7pPr>
          </a:lstStyle>
          <a:p>
            <a:pPr marL="432000" indent="-324000" algn="l" defTabSz="914400">
              <a:lnSpc>
                <a:spcPct val="90000"/>
              </a:lnSpc>
              <a:spcBef>
                <a:spcPts val="1417"/>
              </a:spcBef>
              <a:buClr>
                <a:srgbClr val="000000"/>
              </a:buClr>
              <a:buSzPct val="45000"/>
              <a:buFont typeface="Wingdings" charset="2"/>
              <a:buChar char=""/>
            </a:pPr>
            <a:r>
              <a:rPr lang="zh-CN" sz="2800" b="0" u="none" strike="noStrike">
                <a:solidFill>
                  <a:schemeClr val="dk1"/>
                </a:solidFill>
                <a:effectLst/>
                <a:uFillTx/>
                <a:latin typeface="等线"/>
              </a:rPr>
              <a:t>点击以编辑提纲文本格式</a:t>
            </a:r>
            <a:endParaRPr lang="en-US" sz="2800" b="0" u="none" strike="noStrike">
              <a:solidFill>
                <a:schemeClr val="dk1"/>
              </a:solidFill>
              <a:effectLst/>
              <a:uFillTx/>
              <a:latin typeface="等线"/>
            </a:endParaRPr>
          </a:p>
          <a:p>
            <a:pPr marL="864000" lvl="1" indent="-324000" algn="l" defTabSz="914400">
              <a:lnSpc>
                <a:spcPct val="90000"/>
              </a:lnSpc>
              <a:spcBef>
                <a:spcPts val="1134"/>
              </a:spcBef>
              <a:buClr>
                <a:srgbClr val="000000"/>
              </a:buClr>
              <a:buSzPct val="75000"/>
              <a:buFont typeface="Symbol" charset="2"/>
              <a:buChar char=""/>
            </a:pPr>
            <a:r>
              <a:rPr lang="zh-CN" sz="2000" b="0" u="none" strike="noStrike">
                <a:solidFill>
                  <a:schemeClr val="dk1"/>
                </a:solidFill>
                <a:effectLst/>
                <a:uFillTx/>
                <a:latin typeface="等线"/>
              </a:rPr>
              <a:t>第二提纲级别</a:t>
            </a:r>
            <a:endParaRPr lang="en-US" sz="2000" b="0" u="none" strike="noStrike">
              <a:solidFill>
                <a:schemeClr val="dk1"/>
              </a:solidFill>
              <a:effectLst/>
              <a:uFillTx/>
              <a:latin typeface="等线"/>
            </a:endParaRPr>
          </a:p>
          <a:p>
            <a:pPr marL="1296000" lvl="2" indent="-288000" algn="l" defTabSz="914400">
              <a:lnSpc>
                <a:spcPct val="90000"/>
              </a:lnSpc>
              <a:spcBef>
                <a:spcPts val="850"/>
              </a:spcBef>
              <a:buClr>
                <a:srgbClr val="000000"/>
              </a:buClr>
              <a:buSzPct val="45000"/>
              <a:buFont typeface="Wingdings" charset="2"/>
              <a:buChar char=""/>
            </a:pPr>
            <a:r>
              <a:rPr lang="zh-CN" sz="1800" b="0" u="none" strike="noStrike">
                <a:solidFill>
                  <a:schemeClr val="dk1"/>
                </a:solidFill>
                <a:effectLst/>
                <a:uFillTx/>
                <a:latin typeface="等线"/>
              </a:rPr>
              <a:t>第三提纲级别</a:t>
            </a:r>
            <a:endParaRPr lang="en-US" sz="1800" b="0" u="none" strike="noStrike">
              <a:solidFill>
                <a:schemeClr val="dk1"/>
              </a:solidFill>
              <a:effectLst/>
              <a:uFillTx/>
              <a:latin typeface="等线"/>
            </a:endParaRPr>
          </a:p>
          <a:p>
            <a:pPr marL="1728000" lvl="3" indent="-216000" algn="l" defTabSz="914400">
              <a:lnSpc>
                <a:spcPct val="90000"/>
              </a:lnSpc>
              <a:spcBef>
                <a:spcPts val="567"/>
              </a:spcBef>
              <a:buClr>
                <a:srgbClr val="000000"/>
              </a:buClr>
              <a:buSzPct val="75000"/>
              <a:buFont typeface="Symbol" charset="2"/>
              <a:buChar char=""/>
            </a:pPr>
            <a:r>
              <a:rPr lang="zh-CN" sz="1800" b="0" u="none" strike="noStrike">
                <a:solidFill>
                  <a:schemeClr val="dk1"/>
                </a:solidFill>
                <a:effectLst/>
                <a:uFillTx/>
                <a:latin typeface="等线"/>
              </a:rPr>
              <a:t>第四提纲级别</a:t>
            </a:r>
            <a:endParaRPr lang="en-US" sz="1800" b="0" u="none" strike="noStrike">
              <a:solidFill>
                <a:schemeClr val="dk1"/>
              </a:solidFill>
              <a:effectLst/>
              <a:uFillTx/>
              <a:latin typeface="等线"/>
            </a:endParaRPr>
          </a:p>
          <a:p>
            <a:pPr marL="2160000" lvl="4" indent="-216000" algn="l" defTabSz="914400">
              <a:lnSpc>
                <a:spcPct val="90000"/>
              </a:lnSpc>
              <a:spcBef>
                <a:spcPts val="283"/>
              </a:spcBef>
              <a:buClr>
                <a:srgbClr val="000000"/>
              </a:buClr>
              <a:buSzPct val="45000"/>
              <a:buFont typeface="Wingdings" charset="2"/>
              <a:buChar char=""/>
            </a:pPr>
            <a:r>
              <a:rPr lang="zh-CN" sz="2000" b="0" u="none" strike="noStrike">
                <a:solidFill>
                  <a:schemeClr val="dk1"/>
                </a:solidFill>
                <a:effectLst/>
                <a:uFillTx/>
                <a:latin typeface="等线"/>
              </a:rPr>
              <a:t>第五提纲级别</a:t>
            </a:r>
            <a:endParaRPr lang="en-US" sz="2000" b="0" u="none" strike="noStrike">
              <a:solidFill>
                <a:schemeClr val="dk1"/>
              </a:solidFill>
              <a:effectLst/>
              <a:uFillTx/>
              <a:latin typeface="等线"/>
            </a:endParaRPr>
          </a:p>
          <a:p>
            <a:pPr marL="2592000" lvl="5" indent="-216000" algn="l" defTabSz="914400">
              <a:lnSpc>
                <a:spcPct val="90000"/>
              </a:lnSpc>
              <a:spcBef>
                <a:spcPts val="283"/>
              </a:spcBef>
              <a:buClr>
                <a:srgbClr val="000000"/>
              </a:buClr>
              <a:buSzPct val="45000"/>
              <a:buFont typeface="Wingdings" charset="2"/>
              <a:buChar char=""/>
            </a:pPr>
            <a:r>
              <a:rPr lang="zh-CN" sz="2000" b="0" u="none" strike="noStrike">
                <a:solidFill>
                  <a:schemeClr val="dk1"/>
                </a:solidFill>
                <a:effectLst/>
                <a:uFillTx/>
                <a:latin typeface="等线"/>
              </a:rPr>
              <a:t>第六提纲级别</a:t>
            </a:r>
            <a:endParaRPr lang="en-US" sz="2000" b="0" u="none" strike="noStrike">
              <a:solidFill>
                <a:schemeClr val="dk1"/>
              </a:solidFill>
              <a:effectLst/>
              <a:uFillTx/>
              <a:latin typeface="等线"/>
            </a:endParaRPr>
          </a:p>
          <a:p>
            <a:pPr marL="3024000" lvl="6" indent="-216000" algn="l" defTabSz="914400">
              <a:lnSpc>
                <a:spcPct val="90000"/>
              </a:lnSpc>
              <a:spcBef>
                <a:spcPts val="283"/>
              </a:spcBef>
              <a:buClr>
                <a:srgbClr val="000000"/>
              </a:buClr>
              <a:buSzPct val="45000"/>
              <a:buFont typeface="Wingdings" charset="2"/>
              <a:buChar char=""/>
            </a:pPr>
            <a:r>
              <a:rPr lang="zh-CN" sz="2000" b="0" u="none" strike="noStrike">
                <a:solidFill>
                  <a:schemeClr val="dk1"/>
                </a:solidFill>
                <a:effectLst/>
                <a:uFillTx/>
                <a:latin typeface="等线"/>
              </a:rPr>
              <a:t>第七提纲级别</a:t>
            </a:r>
            <a:endParaRPr lang="en-US" sz="2000" b="0" u="none" strike="noStrike">
              <a:solidFill>
                <a:schemeClr val="dk1"/>
              </a:solidFill>
              <a:effectLst/>
              <a:uFillTx/>
              <a:latin typeface="等线"/>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510840" y="421560"/>
            <a:ext cx="2387520" cy="1471320"/>
          </a:xfrm>
          <a:prstGeom prst="rect">
            <a:avLst/>
          </a:prstGeom>
          <a:noFill/>
          <a:ln w="0">
            <a:noFill/>
          </a:ln>
        </p:spPr>
        <p:txBody>
          <a:bodyPr lIns="91440" tIns="45720" rIns="91440" bIns="45720" anchor="b">
            <a:noAutofit/>
          </a:bodyPr>
          <a:lstStyle>
            <a:lvl1pPr indent="0" algn="l" defTabSz="512640">
              <a:lnSpc>
                <a:spcPct val="90000"/>
              </a:lnSpc>
              <a:buNone/>
              <a:tabLst>
                <a:tab pos="0" algn="l"/>
              </a:tabLst>
              <a:defRPr lang="en-US" sz="1790" b="0" u="none" strike="noStrike">
                <a:solidFill>
                  <a:schemeClr val="dk1"/>
                </a:solidFill>
                <a:effectLst/>
                <a:uFillTx/>
                <a:latin typeface="等线 Light"/>
              </a:defRPr>
            </a:lvl1pPr>
          </a:lstStyle>
          <a:p>
            <a:pPr indent="0" algn="l" defTabSz="512640">
              <a:lnSpc>
                <a:spcPct val="90000"/>
              </a:lnSpc>
              <a:buNone/>
              <a:tabLst>
                <a:tab pos="0" algn="l"/>
              </a:tabLst>
            </a:pPr>
            <a:r>
              <a:rPr lang="en-US" sz="1790" b="0" u="none" strike="noStrike">
                <a:solidFill>
                  <a:schemeClr val="dk1"/>
                </a:solidFill>
                <a:effectLst/>
                <a:uFillTx/>
                <a:latin typeface="等线 Light"/>
              </a:rPr>
              <a:t>Click to edit Master title style</a:t>
            </a:r>
          </a:p>
        </p:txBody>
      </p:sp>
      <p:sp>
        <p:nvSpPr>
          <p:cNvPr id="8" name="PlaceHolder 2"/>
          <p:cNvSpPr>
            <a:spLocks noGrp="1"/>
          </p:cNvSpPr>
          <p:nvPr>
            <p:ph type="body"/>
          </p:nvPr>
        </p:nvSpPr>
        <p:spPr>
          <a:xfrm>
            <a:off x="3152520" y="910440"/>
            <a:ext cx="3750120" cy="448956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defRPr lang="en-US" sz="179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57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79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57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Fifth level</a:t>
            </a:r>
          </a:p>
        </p:txBody>
      </p:sp>
      <p:sp>
        <p:nvSpPr>
          <p:cNvPr id="9" name="PlaceHolder 3"/>
          <p:cNvSpPr>
            <a:spLocks noGrp="1"/>
          </p:cNvSpPr>
          <p:nvPr>
            <p:ph type="body"/>
          </p:nvPr>
        </p:nvSpPr>
        <p:spPr>
          <a:xfrm>
            <a:off x="510840" y="1896840"/>
            <a:ext cx="2387520" cy="3510360"/>
          </a:xfrm>
          <a:prstGeom prst="rect">
            <a:avLst/>
          </a:prstGeom>
          <a:noFill/>
          <a:ln w="0">
            <a:noFill/>
          </a:ln>
        </p:spPr>
        <p:txBody>
          <a:bodyPr lIns="91440" tIns="45720" rIns="91440" bIns="45720" anchor="t">
            <a:noAutofit/>
          </a:bodyPr>
          <a:lstStyle>
            <a:lvl1pPr marL="228600" indent="0" algn="l" defTabSz="512640">
              <a:lnSpc>
                <a:spcPct val="90000"/>
              </a:lnSpc>
              <a:spcBef>
                <a:spcPts val="561"/>
              </a:spcBef>
              <a:buNone/>
              <a:tabLst>
                <a:tab pos="0" algn="l"/>
              </a:tabLst>
              <a:defRPr lang="en-US" sz="900" b="0" u="none" strike="noStrike">
                <a:solidFill>
                  <a:schemeClr val="dk1"/>
                </a:solidFill>
                <a:effectLst/>
                <a:uFillTx/>
                <a:latin typeface="等线"/>
              </a:defRPr>
            </a:lvl1pPr>
          </a:lstStyle>
          <a:p>
            <a:pPr marL="228600" indent="0" algn="l" defTabSz="512640">
              <a:lnSpc>
                <a:spcPct val="90000"/>
              </a:lnSpc>
              <a:spcBef>
                <a:spcPts val="561"/>
              </a:spcBef>
              <a:buNone/>
              <a:tabLst>
                <a:tab pos="0" algn="l"/>
              </a:tabLst>
            </a:pPr>
            <a:r>
              <a:rPr lang="en-US" sz="900" b="0" u="none" strike="noStrike">
                <a:solidFill>
                  <a:schemeClr val="dk1"/>
                </a:solidFill>
                <a:effectLst/>
                <a:uFillTx/>
                <a:latin typeface="等线"/>
              </a:rPr>
              <a:t>Click to edit Master text styles</a:t>
            </a:r>
          </a:p>
        </p:txBody>
      </p:sp>
      <p:sp>
        <p:nvSpPr>
          <p:cNvPr id="10" name="PlaceHolder 4"/>
          <p:cNvSpPr>
            <a:spLocks noGrp="1"/>
          </p:cNvSpPr>
          <p:nvPr>
            <p:ph type="dt" idx="4"/>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11" name="PlaceHolder 5"/>
          <p:cNvSpPr>
            <a:spLocks noGrp="1"/>
          </p:cNvSpPr>
          <p:nvPr>
            <p:ph type="ftr" idx="5"/>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12" name="PlaceHolder 6"/>
          <p:cNvSpPr>
            <a:spLocks noGrp="1"/>
          </p:cNvSpPr>
          <p:nvPr>
            <p:ph type="sldNum" idx="6"/>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650DF052-3B42-4CC4-8739-580909670B71}"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510840" y="421560"/>
            <a:ext cx="2387520" cy="1471320"/>
          </a:xfrm>
          <a:prstGeom prst="rect">
            <a:avLst/>
          </a:prstGeom>
          <a:noFill/>
          <a:ln w="0">
            <a:noFill/>
          </a:ln>
        </p:spPr>
        <p:txBody>
          <a:bodyPr lIns="91440" tIns="45720" rIns="91440" bIns="45720" anchor="b">
            <a:noAutofit/>
          </a:bodyPr>
          <a:lstStyle>
            <a:lvl1pPr indent="0" algn="l" defTabSz="512640">
              <a:lnSpc>
                <a:spcPct val="90000"/>
              </a:lnSpc>
              <a:buNone/>
              <a:tabLst>
                <a:tab pos="0" algn="l"/>
              </a:tabLst>
              <a:defRPr lang="en-US" sz="1790" b="0" u="none" strike="noStrike">
                <a:solidFill>
                  <a:schemeClr val="dk1"/>
                </a:solidFill>
                <a:effectLst/>
                <a:uFillTx/>
                <a:latin typeface="等线 Light"/>
              </a:defRPr>
            </a:lvl1pPr>
          </a:lstStyle>
          <a:p>
            <a:pPr indent="0" algn="l" defTabSz="512640">
              <a:lnSpc>
                <a:spcPct val="90000"/>
              </a:lnSpc>
              <a:buNone/>
              <a:tabLst>
                <a:tab pos="0" algn="l"/>
              </a:tabLst>
            </a:pPr>
            <a:r>
              <a:rPr lang="en-US" sz="1790" b="0" u="none" strike="noStrike">
                <a:solidFill>
                  <a:schemeClr val="dk1"/>
                </a:solidFill>
                <a:effectLst/>
                <a:uFillTx/>
                <a:latin typeface="等线 Light"/>
              </a:rPr>
              <a:t>Click to edit Master title style</a:t>
            </a:r>
          </a:p>
        </p:txBody>
      </p:sp>
      <p:sp>
        <p:nvSpPr>
          <p:cNvPr id="14" name="PlaceHolder 2"/>
          <p:cNvSpPr>
            <a:spLocks noGrp="1"/>
          </p:cNvSpPr>
          <p:nvPr>
            <p:ph type="pic"/>
          </p:nvPr>
        </p:nvSpPr>
        <p:spPr>
          <a:xfrm>
            <a:off x="3152520" y="910440"/>
            <a:ext cx="3750120" cy="4489560"/>
          </a:xfrm>
          <a:prstGeom prst="rect">
            <a:avLst/>
          </a:prstGeom>
          <a:noFill/>
          <a:ln w="0">
            <a:noFill/>
          </a:ln>
        </p:spPr>
        <p:txBody>
          <a:bodyPr lIns="90000" tIns="45000" rIns="90000" bIns="45000" anchor="t">
            <a:noAutofit/>
          </a:bodyPr>
          <a:lstStyle/>
          <a:p>
            <a:pPr indent="0" algn="l">
              <a:buNone/>
            </a:pPr>
            <a:r>
              <a:rPr lang="zh-CN" sz="1800" b="0" u="none" strike="noStrike">
                <a:solidFill>
                  <a:srgbClr val="000000"/>
                </a:solidFill>
                <a:effectLst/>
                <a:uFillTx/>
                <a:latin typeface="Arial"/>
              </a:rPr>
              <a:t>双击添加图像</a:t>
            </a:r>
            <a:endParaRPr lang="en-US" sz="1800" b="0" u="none" strike="noStrike">
              <a:solidFill>
                <a:srgbClr val="000000"/>
              </a:solidFill>
              <a:effectLst/>
              <a:uFillTx/>
              <a:latin typeface="Arial"/>
            </a:endParaRPr>
          </a:p>
        </p:txBody>
      </p:sp>
      <p:sp>
        <p:nvSpPr>
          <p:cNvPr id="15" name="PlaceHolder 3"/>
          <p:cNvSpPr>
            <a:spLocks noGrp="1"/>
          </p:cNvSpPr>
          <p:nvPr>
            <p:ph type="body"/>
          </p:nvPr>
        </p:nvSpPr>
        <p:spPr>
          <a:xfrm>
            <a:off x="510840" y="1896840"/>
            <a:ext cx="2387520" cy="3510360"/>
          </a:xfrm>
          <a:prstGeom prst="rect">
            <a:avLst/>
          </a:prstGeom>
          <a:noFill/>
          <a:ln w="0">
            <a:noFill/>
          </a:ln>
        </p:spPr>
        <p:txBody>
          <a:bodyPr lIns="91440" tIns="45720" rIns="91440" bIns="45720" anchor="t">
            <a:noAutofit/>
          </a:bodyPr>
          <a:lstStyle>
            <a:lvl1pPr marL="228600" indent="0" algn="l" defTabSz="512640">
              <a:lnSpc>
                <a:spcPct val="90000"/>
              </a:lnSpc>
              <a:spcBef>
                <a:spcPts val="561"/>
              </a:spcBef>
              <a:buNone/>
              <a:tabLst>
                <a:tab pos="0" algn="l"/>
              </a:tabLst>
              <a:defRPr lang="en-US" sz="900" b="0" u="none" strike="noStrike">
                <a:solidFill>
                  <a:schemeClr val="dk1"/>
                </a:solidFill>
                <a:effectLst/>
                <a:uFillTx/>
                <a:latin typeface="等线"/>
              </a:defRPr>
            </a:lvl1pPr>
          </a:lstStyle>
          <a:p>
            <a:pPr marL="228600" indent="0" algn="l" defTabSz="512640">
              <a:lnSpc>
                <a:spcPct val="90000"/>
              </a:lnSpc>
              <a:spcBef>
                <a:spcPts val="561"/>
              </a:spcBef>
              <a:buNone/>
              <a:tabLst>
                <a:tab pos="0" algn="l"/>
              </a:tabLst>
            </a:pPr>
            <a:r>
              <a:rPr lang="en-US" sz="900" b="0" u="none" strike="noStrike">
                <a:solidFill>
                  <a:schemeClr val="dk1"/>
                </a:solidFill>
                <a:effectLst/>
                <a:uFillTx/>
                <a:latin typeface="等线"/>
              </a:rPr>
              <a:t>Click to edit Master text styles</a:t>
            </a:r>
          </a:p>
        </p:txBody>
      </p:sp>
      <p:sp>
        <p:nvSpPr>
          <p:cNvPr id="16" name="PlaceHolder 4"/>
          <p:cNvSpPr>
            <a:spLocks noGrp="1"/>
          </p:cNvSpPr>
          <p:nvPr>
            <p:ph type="dt" idx="7"/>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17" name="PlaceHolder 5"/>
          <p:cNvSpPr>
            <a:spLocks noGrp="1"/>
          </p:cNvSpPr>
          <p:nvPr>
            <p:ph type="ftr" idx="8"/>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18" name="PlaceHolder 6"/>
          <p:cNvSpPr>
            <a:spLocks noGrp="1"/>
          </p:cNvSpPr>
          <p:nvPr>
            <p:ph type="sldNum" idx="9"/>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431294AD-7DDF-484F-B05D-E4CC3E3A72B4}"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927000" y="1034640"/>
            <a:ext cx="5557320" cy="2197440"/>
          </a:xfrm>
          <a:prstGeom prst="rect">
            <a:avLst/>
          </a:prstGeom>
          <a:noFill/>
          <a:ln w="0">
            <a:noFill/>
          </a:ln>
        </p:spPr>
        <p:txBody>
          <a:bodyPr lIns="91440" tIns="45720" rIns="91440" bIns="45720" anchor="b">
            <a:noAutofit/>
          </a:bodyPr>
          <a:lstStyle>
            <a:lvl1pPr indent="0" algn="ctr" defTabSz="512640">
              <a:lnSpc>
                <a:spcPct val="90000"/>
              </a:lnSpc>
              <a:buNone/>
              <a:tabLst>
                <a:tab pos="0" algn="l"/>
              </a:tabLst>
              <a:defRPr lang="en-US" sz="3359" b="0" u="none" strike="noStrike">
                <a:solidFill>
                  <a:schemeClr val="dk1"/>
                </a:solidFill>
                <a:effectLst/>
                <a:uFillTx/>
                <a:latin typeface="等线 Light"/>
              </a:defRPr>
            </a:lvl1pPr>
          </a:lstStyle>
          <a:p>
            <a:pPr indent="0" algn="ctr" defTabSz="512640">
              <a:lnSpc>
                <a:spcPct val="90000"/>
              </a:lnSpc>
              <a:buNone/>
              <a:tabLst>
                <a:tab pos="0" algn="l"/>
              </a:tabLst>
            </a:pPr>
            <a:r>
              <a:rPr lang="en-US" sz="3359" b="0" u="none" strike="noStrike">
                <a:solidFill>
                  <a:schemeClr val="dk1"/>
                </a:solidFill>
                <a:effectLst/>
                <a:uFillTx/>
                <a:latin typeface="等线 Light"/>
              </a:rPr>
              <a:t>Click to edit Master title style</a:t>
            </a:r>
          </a:p>
        </p:txBody>
      </p:sp>
      <p:sp>
        <p:nvSpPr>
          <p:cNvPr id="20" name="PlaceHolder 2"/>
          <p:cNvSpPr>
            <a:spLocks noGrp="1"/>
          </p:cNvSpPr>
          <p:nvPr>
            <p:ph type="dt" idx="10"/>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21" name="PlaceHolder 3"/>
          <p:cNvSpPr>
            <a:spLocks noGrp="1"/>
          </p:cNvSpPr>
          <p:nvPr>
            <p:ph type="ftr" idx="11"/>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22" name="PlaceHolder 4"/>
          <p:cNvSpPr>
            <a:spLocks noGrp="1"/>
          </p:cNvSpPr>
          <p:nvPr>
            <p:ph type="sldNum" idx="12"/>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6E523389-C68F-4C69-B41D-AFE6A9378AFA}"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509760" y="336600"/>
            <a:ext cx="6391800" cy="1218240"/>
          </a:xfrm>
          <a:prstGeom prst="rect">
            <a:avLst/>
          </a:prstGeom>
          <a:noFill/>
          <a:ln w="0">
            <a:noFill/>
          </a:ln>
        </p:spPr>
        <p:txBody>
          <a:bodyPr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24" name="PlaceHolder 2"/>
          <p:cNvSpPr>
            <a:spLocks noGrp="1"/>
          </p:cNvSpPr>
          <p:nvPr>
            <p:ph type="body"/>
          </p:nvPr>
        </p:nvSpPr>
        <p:spPr>
          <a:xfrm>
            <a:off x="509760" y="1683360"/>
            <a:ext cx="6391800" cy="4007880"/>
          </a:xfrm>
          <a:prstGeom prst="rect">
            <a:avLst/>
          </a:prstGeom>
          <a:noFill/>
          <a:ln w="0">
            <a:noFill/>
          </a:ln>
        </p:spPr>
        <p:txBody>
          <a:bodyPr vert="eaVert" lIns="91440" tIns="45720" rIns="91440" bIns="45720" anchor="t">
            <a:noAutofit/>
          </a:bodyPr>
          <a:lstStyle>
            <a:lvl1pPr algn="l" defTabSz="512640">
              <a:lnSpc>
                <a:spcPct val="90000"/>
              </a:lnSpc>
              <a:spcBef>
                <a:spcPts val="561"/>
              </a:spcBef>
              <a:buClr>
                <a:srgbClr val="000000"/>
              </a:buClr>
              <a:buFont typeface="Arial"/>
              <a:buChar char="•"/>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Fifth level</a:t>
            </a:r>
          </a:p>
        </p:txBody>
      </p:sp>
      <p:sp>
        <p:nvSpPr>
          <p:cNvPr id="25" name="PlaceHolder 3"/>
          <p:cNvSpPr>
            <a:spLocks noGrp="1"/>
          </p:cNvSpPr>
          <p:nvPr>
            <p:ph type="dt" idx="13"/>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26" name="PlaceHolder 4"/>
          <p:cNvSpPr>
            <a:spLocks noGrp="1"/>
          </p:cNvSpPr>
          <p:nvPr>
            <p:ph type="ftr" idx="14"/>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27" name="PlaceHolder 5"/>
          <p:cNvSpPr>
            <a:spLocks noGrp="1"/>
          </p:cNvSpPr>
          <p:nvPr>
            <p:ph type="sldNum" idx="15"/>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2A51F0CC-3BDA-48F9-BFA7-B67A98031964}"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5306400" y="336600"/>
            <a:ext cx="1594800" cy="5354640"/>
          </a:xfrm>
          <a:prstGeom prst="rect">
            <a:avLst/>
          </a:prstGeom>
          <a:noFill/>
          <a:ln w="0">
            <a:noFill/>
          </a:ln>
        </p:spPr>
        <p:txBody>
          <a:bodyPr vert="eaVert"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29" name="PlaceHolder 2"/>
          <p:cNvSpPr>
            <a:spLocks noGrp="1"/>
          </p:cNvSpPr>
          <p:nvPr>
            <p:ph type="body"/>
          </p:nvPr>
        </p:nvSpPr>
        <p:spPr>
          <a:xfrm>
            <a:off x="509760" y="336600"/>
            <a:ext cx="4700160" cy="5354640"/>
          </a:xfrm>
          <a:prstGeom prst="rect">
            <a:avLst/>
          </a:prstGeom>
          <a:noFill/>
          <a:ln w="0">
            <a:noFill/>
          </a:ln>
        </p:spPr>
        <p:txBody>
          <a:bodyPr vert="eaVert" lIns="91440" tIns="45720" rIns="91440" bIns="45720" anchor="t">
            <a:noAutofit/>
          </a:bodyPr>
          <a:lstStyle>
            <a:lvl1pPr algn="l" defTabSz="512640">
              <a:lnSpc>
                <a:spcPct val="90000"/>
              </a:lnSpc>
              <a:spcBef>
                <a:spcPts val="561"/>
              </a:spcBef>
              <a:buClr>
                <a:srgbClr val="000000"/>
              </a:buClr>
              <a:buFont typeface="Arial"/>
              <a:buChar char="•"/>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Fifth level</a:t>
            </a:r>
          </a:p>
        </p:txBody>
      </p:sp>
      <p:sp>
        <p:nvSpPr>
          <p:cNvPr id="30" name="PlaceHolder 3"/>
          <p:cNvSpPr>
            <a:spLocks noGrp="1"/>
          </p:cNvSpPr>
          <p:nvPr>
            <p:ph type="dt" idx="16"/>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31" name="PlaceHolder 4"/>
          <p:cNvSpPr>
            <a:spLocks noGrp="1"/>
          </p:cNvSpPr>
          <p:nvPr>
            <p:ph type="ftr" idx="17"/>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32" name="PlaceHolder 5"/>
          <p:cNvSpPr>
            <a:spLocks noGrp="1"/>
          </p:cNvSpPr>
          <p:nvPr>
            <p:ph type="sldNum" idx="18"/>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BD8F5AB9-56A9-4908-A76A-E06759D51506}"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509760" y="336600"/>
            <a:ext cx="6391800" cy="1218240"/>
          </a:xfrm>
          <a:prstGeom prst="rect">
            <a:avLst/>
          </a:prstGeom>
          <a:noFill/>
          <a:ln w="0">
            <a:noFill/>
          </a:ln>
        </p:spPr>
        <p:txBody>
          <a:bodyPr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34" name="PlaceHolder 2"/>
          <p:cNvSpPr>
            <a:spLocks noGrp="1"/>
          </p:cNvSpPr>
          <p:nvPr>
            <p:ph type="body"/>
          </p:nvPr>
        </p:nvSpPr>
        <p:spPr>
          <a:xfrm>
            <a:off x="509760" y="1683360"/>
            <a:ext cx="6391800" cy="400788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Fifth level</a:t>
            </a:r>
          </a:p>
        </p:txBody>
      </p:sp>
      <p:sp>
        <p:nvSpPr>
          <p:cNvPr id="35" name="PlaceHolder 3"/>
          <p:cNvSpPr>
            <a:spLocks noGrp="1"/>
          </p:cNvSpPr>
          <p:nvPr>
            <p:ph type="dt" idx="19"/>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36" name="PlaceHolder 4"/>
          <p:cNvSpPr>
            <a:spLocks noGrp="1"/>
          </p:cNvSpPr>
          <p:nvPr>
            <p:ph type="ftr" idx="20"/>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37" name="PlaceHolder 5"/>
          <p:cNvSpPr>
            <a:spLocks noGrp="1"/>
          </p:cNvSpPr>
          <p:nvPr>
            <p:ph type="sldNum" idx="21"/>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E237632C-D028-44D3-BFA8-6F8BA603FF4A}"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505800" y="1576440"/>
            <a:ext cx="6391800" cy="2626200"/>
          </a:xfrm>
          <a:prstGeom prst="rect">
            <a:avLst/>
          </a:prstGeom>
          <a:noFill/>
          <a:ln w="0">
            <a:noFill/>
          </a:ln>
        </p:spPr>
        <p:txBody>
          <a:bodyPr lIns="91440" tIns="45720" rIns="91440" bIns="45720" anchor="b">
            <a:noAutofit/>
          </a:bodyPr>
          <a:lstStyle>
            <a:lvl1pPr indent="0" algn="l" defTabSz="512640">
              <a:lnSpc>
                <a:spcPct val="90000"/>
              </a:lnSpc>
              <a:buNone/>
              <a:tabLst>
                <a:tab pos="0" algn="l"/>
              </a:tabLst>
              <a:defRPr lang="en-US" sz="3359" b="0" u="none" strike="noStrike">
                <a:solidFill>
                  <a:schemeClr val="dk1"/>
                </a:solidFill>
                <a:effectLst/>
                <a:uFillTx/>
                <a:latin typeface="等线 Light"/>
              </a:defRPr>
            </a:lvl1pPr>
          </a:lstStyle>
          <a:p>
            <a:pPr indent="0" algn="l" defTabSz="512640">
              <a:lnSpc>
                <a:spcPct val="90000"/>
              </a:lnSpc>
              <a:buNone/>
              <a:tabLst>
                <a:tab pos="0" algn="l"/>
              </a:tabLst>
            </a:pPr>
            <a:r>
              <a:rPr lang="en-US" sz="3359" b="0" u="none" strike="noStrike">
                <a:solidFill>
                  <a:schemeClr val="dk1"/>
                </a:solidFill>
                <a:effectLst/>
                <a:uFillTx/>
                <a:latin typeface="等线 Light"/>
              </a:rPr>
              <a:t>Click to edit Master title style</a:t>
            </a:r>
          </a:p>
        </p:txBody>
      </p:sp>
      <p:sp>
        <p:nvSpPr>
          <p:cNvPr id="39" name="PlaceHolder 2"/>
          <p:cNvSpPr>
            <a:spLocks noGrp="1"/>
          </p:cNvSpPr>
          <p:nvPr>
            <p:ph type="body"/>
          </p:nvPr>
        </p:nvSpPr>
        <p:spPr>
          <a:xfrm>
            <a:off x="505800" y="4231440"/>
            <a:ext cx="6391800" cy="1379160"/>
          </a:xfrm>
          <a:prstGeom prst="rect">
            <a:avLst/>
          </a:prstGeom>
          <a:noFill/>
          <a:ln w="0">
            <a:noFill/>
          </a:ln>
        </p:spPr>
        <p:txBody>
          <a:bodyPr lIns="91440" tIns="45720" rIns="91440" bIns="45720" anchor="t">
            <a:noAutofit/>
          </a:bodyPr>
          <a:lstStyle>
            <a:lvl1pPr marL="228600" indent="0" algn="l" defTabSz="512640">
              <a:lnSpc>
                <a:spcPct val="90000"/>
              </a:lnSpc>
              <a:spcBef>
                <a:spcPts val="561"/>
              </a:spcBef>
              <a:buNone/>
              <a:tabLst>
                <a:tab pos="0" algn="l"/>
              </a:tabLst>
              <a:defRPr lang="en-US" sz="1340" b="0" u="none" strike="noStrike">
                <a:solidFill>
                  <a:schemeClr val="dk1">
                    <a:tint val="82000"/>
                  </a:schemeClr>
                </a:solidFill>
                <a:effectLst/>
                <a:uFillTx/>
                <a:latin typeface="等线"/>
              </a:defRPr>
            </a:lvl1pPr>
          </a:lstStyle>
          <a:p>
            <a:pPr marL="228600" indent="0" algn="l" defTabSz="512640">
              <a:lnSpc>
                <a:spcPct val="90000"/>
              </a:lnSpc>
              <a:spcBef>
                <a:spcPts val="561"/>
              </a:spcBef>
              <a:buNone/>
              <a:tabLst>
                <a:tab pos="0" algn="l"/>
              </a:tabLst>
            </a:pPr>
            <a:r>
              <a:rPr lang="en-US" sz="1340" b="0" u="none" strike="noStrike">
                <a:solidFill>
                  <a:schemeClr val="dk1">
                    <a:tint val="82000"/>
                  </a:schemeClr>
                </a:solidFill>
                <a:effectLst/>
                <a:uFillTx/>
                <a:latin typeface="等线"/>
              </a:rPr>
              <a:t>Click to edit Master text styles</a:t>
            </a:r>
          </a:p>
        </p:txBody>
      </p:sp>
      <p:sp>
        <p:nvSpPr>
          <p:cNvPr id="40" name="PlaceHolder 3"/>
          <p:cNvSpPr>
            <a:spLocks noGrp="1"/>
          </p:cNvSpPr>
          <p:nvPr>
            <p:ph type="dt" idx="22"/>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41" name="PlaceHolder 4"/>
          <p:cNvSpPr>
            <a:spLocks noGrp="1"/>
          </p:cNvSpPr>
          <p:nvPr>
            <p:ph type="ftr" idx="23"/>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42" name="PlaceHolder 5"/>
          <p:cNvSpPr>
            <a:spLocks noGrp="1"/>
          </p:cNvSpPr>
          <p:nvPr>
            <p:ph type="sldNum" idx="24"/>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7B3D1B73-5939-4620-AFF5-42D300636313}"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509760" y="336600"/>
            <a:ext cx="6391800" cy="1218240"/>
          </a:xfrm>
          <a:prstGeom prst="rect">
            <a:avLst/>
          </a:prstGeom>
          <a:noFill/>
          <a:ln w="0">
            <a:noFill/>
          </a:ln>
        </p:spPr>
        <p:txBody>
          <a:bodyPr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44" name="PlaceHolder 2"/>
          <p:cNvSpPr>
            <a:spLocks noGrp="1"/>
          </p:cNvSpPr>
          <p:nvPr>
            <p:ph type="dt" idx="25"/>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45" name="PlaceHolder 3"/>
          <p:cNvSpPr>
            <a:spLocks noGrp="1"/>
          </p:cNvSpPr>
          <p:nvPr>
            <p:ph type="ftr" idx="26"/>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46" name="PlaceHolder 4"/>
          <p:cNvSpPr>
            <a:spLocks noGrp="1"/>
          </p:cNvSpPr>
          <p:nvPr>
            <p:ph type="sldNum" idx="27"/>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65D10A3E-4A3E-4AE4-BB5A-6176A7121961}"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509760" y="336600"/>
            <a:ext cx="6391800" cy="1218240"/>
          </a:xfrm>
          <a:prstGeom prst="rect">
            <a:avLst/>
          </a:prstGeom>
          <a:noFill/>
          <a:ln w="0">
            <a:noFill/>
          </a:ln>
        </p:spPr>
        <p:txBody>
          <a:bodyPr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48" name="PlaceHolder 2"/>
          <p:cNvSpPr>
            <a:spLocks noGrp="1"/>
          </p:cNvSpPr>
          <p:nvPr>
            <p:ph type="body"/>
          </p:nvPr>
        </p:nvSpPr>
        <p:spPr>
          <a:xfrm>
            <a:off x="509760" y="1683360"/>
            <a:ext cx="3147480" cy="400788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Fifth level</a:t>
            </a:r>
          </a:p>
        </p:txBody>
      </p:sp>
      <p:sp>
        <p:nvSpPr>
          <p:cNvPr id="49" name="PlaceHolder 3"/>
          <p:cNvSpPr>
            <a:spLocks noGrp="1"/>
          </p:cNvSpPr>
          <p:nvPr>
            <p:ph type="body"/>
          </p:nvPr>
        </p:nvSpPr>
        <p:spPr>
          <a:xfrm>
            <a:off x="3754080" y="1683360"/>
            <a:ext cx="3147480" cy="400788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pPr>
            <a:r>
              <a:rPr lang="en-US" sz="1010" b="0" u="none" strike="noStrike">
                <a:solidFill>
                  <a:schemeClr val="dk1"/>
                </a:solidFill>
                <a:effectLst/>
                <a:uFillTx/>
                <a:latin typeface="等线"/>
              </a:rPr>
              <a:t>Fifth level</a:t>
            </a:r>
          </a:p>
        </p:txBody>
      </p:sp>
      <p:sp>
        <p:nvSpPr>
          <p:cNvPr id="50" name="PlaceHolder 4"/>
          <p:cNvSpPr>
            <a:spLocks noGrp="1"/>
          </p:cNvSpPr>
          <p:nvPr>
            <p:ph type="dt" idx="28"/>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51" name="PlaceHolder 5"/>
          <p:cNvSpPr>
            <a:spLocks noGrp="1"/>
          </p:cNvSpPr>
          <p:nvPr>
            <p:ph type="ftr" idx="29"/>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52" name="PlaceHolder 6"/>
          <p:cNvSpPr>
            <a:spLocks noGrp="1"/>
          </p:cNvSpPr>
          <p:nvPr>
            <p:ph type="sldNum" idx="30"/>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D6F2469A-242C-4206-B440-DE53B49DB932}"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510840" y="336600"/>
            <a:ext cx="6391800" cy="1218240"/>
          </a:xfrm>
          <a:prstGeom prst="rect">
            <a:avLst/>
          </a:prstGeom>
          <a:noFill/>
          <a:ln w="0">
            <a:noFill/>
          </a:ln>
        </p:spPr>
        <p:txBody>
          <a:bodyPr lIns="91440" tIns="45720" rIns="91440" bIns="45720" anchor="ctr">
            <a:noAutofit/>
          </a:bodyPr>
          <a:lstStyle>
            <a:lvl1pPr indent="0" algn="l" defTabSz="512640">
              <a:lnSpc>
                <a:spcPct val="90000"/>
              </a:lnSpc>
              <a:buNone/>
              <a:tabLst>
                <a:tab pos="0" algn="l"/>
              </a:tabLst>
              <a:defRPr lang="en-US" sz="2470" b="0" u="none" strike="noStrike">
                <a:solidFill>
                  <a:schemeClr val="dk1"/>
                </a:solidFill>
                <a:effectLst/>
                <a:uFillTx/>
                <a:latin typeface="等线 Light"/>
              </a:defRPr>
            </a:lvl1pPr>
          </a:lstStyle>
          <a:p>
            <a:pPr indent="0" algn="l" defTabSz="512640">
              <a:lnSpc>
                <a:spcPct val="90000"/>
              </a:lnSpc>
              <a:buNone/>
              <a:tabLst>
                <a:tab pos="0" algn="l"/>
              </a:tabLst>
            </a:pPr>
            <a:r>
              <a:rPr lang="en-US" sz="2470" b="0" u="none" strike="noStrike">
                <a:solidFill>
                  <a:schemeClr val="dk1"/>
                </a:solidFill>
                <a:effectLst/>
                <a:uFillTx/>
                <a:latin typeface="等线 Light"/>
              </a:rPr>
              <a:t>Click to edit Master title style</a:t>
            </a:r>
          </a:p>
        </p:txBody>
      </p:sp>
      <p:sp>
        <p:nvSpPr>
          <p:cNvPr id="54" name="PlaceHolder 2"/>
          <p:cNvSpPr>
            <a:spLocks noGrp="1"/>
          </p:cNvSpPr>
          <p:nvPr>
            <p:ph type="body"/>
          </p:nvPr>
        </p:nvSpPr>
        <p:spPr>
          <a:xfrm>
            <a:off x="510840" y="1550160"/>
            <a:ext cx="3133080" cy="755640"/>
          </a:xfrm>
          <a:prstGeom prst="rect">
            <a:avLst/>
          </a:prstGeom>
          <a:noFill/>
          <a:ln w="0">
            <a:noFill/>
          </a:ln>
        </p:spPr>
        <p:txBody>
          <a:bodyPr lIns="91440" tIns="45720" rIns="91440" bIns="45720" anchor="b">
            <a:noAutofit/>
          </a:bodyPr>
          <a:lstStyle>
            <a:lvl1pPr marL="228600" indent="0" algn="l" defTabSz="512640">
              <a:lnSpc>
                <a:spcPct val="90000"/>
              </a:lnSpc>
              <a:spcBef>
                <a:spcPts val="561"/>
              </a:spcBef>
              <a:buNone/>
              <a:tabLst>
                <a:tab pos="0" algn="l"/>
              </a:tabLst>
              <a:defRPr lang="en-US" sz="1340" b="1" u="none" strike="noStrike">
                <a:solidFill>
                  <a:schemeClr val="dk1"/>
                </a:solidFill>
                <a:effectLst/>
                <a:uFillTx/>
                <a:latin typeface="等线"/>
              </a:defRPr>
            </a:lvl1pPr>
          </a:lstStyle>
          <a:p>
            <a:pPr marL="228600" indent="0" algn="l" defTabSz="512640">
              <a:lnSpc>
                <a:spcPct val="90000"/>
              </a:lnSpc>
              <a:spcBef>
                <a:spcPts val="561"/>
              </a:spcBef>
              <a:buNone/>
              <a:tabLst>
                <a:tab pos="0" algn="l"/>
              </a:tabLst>
            </a:pPr>
            <a:r>
              <a:rPr lang="en-US" sz="1340" b="1" u="none" strike="noStrike">
                <a:solidFill>
                  <a:schemeClr val="dk1"/>
                </a:solidFill>
                <a:effectLst/>
                <a:uFillTx/>
                <a:latin typeface="等线"/>
              </a:rPr>
              <a:t>Click to edit Master text styles</a:t>
            </a:r>
            <a:endParaRPr lang="en-US" sz="1340" b="0" u="none" strike="noStrike">
              <a:solidFill>
                <a:schemeClr val="dk1"/>
              </a:solidFill>
              <a:effectLst/>
              <a:uFillTx/>
              <a:latin typeface="等线"/>
            </a:endParaRPr>
          </a:p>
        </p:txBody>
      </p:sp>
      <p:sp>
        <p:nvSpPr>
          <p:cNvPr id="55" name="PlaceHolder 3"/>
          <p:cNvSpPr>
            <a:spLocks noGrp="1"/>
          </p:cNvSpPr>
          <p:nvPr>
            <p:ph type="body"/>
          </p:nvPr>
        </p:nvSpPr>
        <p:spPr>
          <a:xfrm>
            <a:off x="510840" y="2309760"/>
            <a:ext cx="3133080" cy="339336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tabLst>
                <a:tab pos="0" algn="l"/>
              </a:tabLst>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tabLst>
                <a:tab pos="0" algn="l"/>
              </a:tabLst>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tabLst>
                <a:tab pos="0" algn="l"/>
              </a:tabLst>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tabLst>
                <a:tab pos="0" algn="l"/>
              </a:tabLst>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tabLst>
                <a:tab pos="0" algn="l"/>
              </a:tabLst>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tabLst>
                <a:tab pos="0" algn="l"/>
              </a:tabLst>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tabLst>
                <a:tab pos="0" algn="l"/>
              </a:tabLst>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tabLst>
                <a:tab pos="0" algn="l"/>
              </a:tabLst>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tabLst>
                <a:tab pos="0" algn="l"/>
              </a:tabLst>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tabLst>
                <a:tab pos="0" algn="l"/>
              </a:tabLst>
            </a:pPr>
            <a:r>
              <a:rPr lang="en-US" sz="1010" b="0" u="none" strike="noStrike">
                <a:solidFill>
                  <a:schemeClr val="dk1"/>
                </a:solidFill>
                <a:effectLst/>
                <a:uFillTx/>
                <a:latin typeface="等线"/>
              </a:rPr>
              <a:t>Fifth level</a:t>
            </a:r>
          </a:p>
        </p:txBody>
      </p:sp>
      <p:sp>
        <p:nvSpPr>
          <p:cNvPr id="56" name="PlaceHolder 4"/>
          <p:cNvSpPr>
            <a:spLocks noGrp="1"/>
          </p:cNvSpPr>
          <p:nvPr>
            <p:ph type="body"/>
          </p:nvPr>
        </p:nvSpPr>
        <p:spPr>
          <a:xfrm>
            <a:off x="3754080" y="1550160"/>
            <a:ext cx="3148560" cy="755640"/>
          </a:xfrm>
          <a:prstGeom prst="rect">
            <a:avLst/>
          </a:prstGeom>
          <a:noFill/>
          <a:ln w="0">
            <a:noFill/>
          </a:ln>
        </p:spPr>
        <p:txBody>
          <a:bodyPr lIns="91440" tIns="45720" rIns="91440" bIns="45720" anchor="b">
            <a:noAutofit/>
          </a:bodyPr>
          <a:lstStyle>
            <a:lvl1pPr marL="228600" indent="0" algn="l" defTabSz="512640">
              <a:lnSpc>
                <a:spcPct val="90000"/>
              </a:lnSpc>
              <a:spcBef>
                <a:spcPts val="561"/>
              </a:spcBef>
              <a:buNone/>
              <a:tabLst>
                <a:tab pos="0" algn="l"/>
              </a:tabLst>
              <a:defRPr lang="en-US" sz="1340" b="1" u="none" strike="noStrike">
                <a:solidFill>
                  <a:schemeClr val="dk1"/>
                </a:solidFill>
                <a:effectLst/>
                <a:uFillTx/>
                <a:latin typeface="等线"/>
              </a:defRPr>
            </a:lvl1pPr>
          </a:lstStyle>
          <a:p>
            <a:pPr marL="228600" indent="0" algn="l" defTabSz="512640">
              <a:lnSpc>
                <a:spcPct val="90000"/>
              </a:lnSpc>
              <a:spcBef>
                <a:spcPts val="561"/>
              </a:spcBef>
              <a:buNone/>
              <a:tabLst>
                <a:tab pos="0" algn="l"/>
              </a:tabLst>
            </a:pPr>
            <a:r>
              <a:rPr lang="en-US" sz="1340" b="1" u="none" strike="noStrike">
                <a:solidFill>
                  <a:schemeClr val="dk1"/>
                </a:solidFill>
                <a:effectLst/>
                <a:uFillTx/>
                <a:latin typeface="等线"/>
              </a:rPr>
              <a:t>Click to edit Master text styles</a:t>
            </a:r>
            <a:endParaRPr lang="en-US" sz="1340" b="0" u="none" strike="noStrike">
              <a:solidFill>
                <a:schemeClr val="dk1"/>
              </a:solidFill>
              <a:effectLst/>
              <a:uFillTx/>
              <a:latin typeface="等线"/>
            </a:endParaRPr>
          </a:p>
        </p:txBody>
      </p:sp>
      <p:sp>
        <p:nvSpPr>
          <p:cNvPr id="57" name="PlaceHolder 5"/>
          <p:cNvSpPr>
            <a:spLocks noGrp="1"/>
          </p:cNvSpPr>
          <p:nvPr>
            <p:ph type="body"/>
          </p:nvPr>
        </p:nvSpPr>
        <p:spPr>
          <a:xfrm>
            <a:off x="3754080" y="2309760"/>
            <a:ext cx="3148560" cy="3393360"/>
          </a:xfrm>
          <a:prstGeom prst="rect">
            <a:avLst/>
          </a:prstGeom>
          <a:noFill/>
          <a:ln w="0">
            <a:noFill/>
          </a:ln>
        </p:spPr>
        <p:txBody>
          <a:bodyPr lIns="91440" tIns="45720" rIns="91440" bIns="45720" anchor="t">
            <a:noAutofit/>
          </a:bodyPr>
          <a:lstStyle>
            <a:lvl1pPr algn="l" defTabSz="512640">
              <a:lnSpc>
                <a:spcPct val="90000"/>
              </a:lnSpc>
              <a:spcBef>
                <a:spcPts val="561"/>
              </a:spcBef>
              <a:buClr>
                <a:srgbClr val="000000"/>
              </a:buClr>
              <a:buFont typeface="Arial"/>
              <a:buChar char="•"/>
              <a:tabLst>
                <a:tab pos="0" algn="l"/>
              </a:tabLst>
              <a:defRPr lang="en-US" sz="1570" b="0" u="none" strike="noStrike">
                <a:solidFill>
                  <a:schemeClr val="dk1"/>
                </a:solidFill>
                <a:effectLst/>
                <a:uFillTx/>
                <a:latin typeface="等线"/>
              </a:defRPr>
            </a:lvl1pPr>
            <a:lvl2pPr lvl="1" algn="l" defTabSz="512640">
              <a:lnSpc>
                <a:spcPct val="90000"/>
              </a:lnSpc>
              <a:spcBef>
                <a:spcPts val="281"/>
              </a:spcBef>
              <a:buClr>
                <a:srgbClr val="000000"/>
              </a:buClr>
              <a:buFont typeface="Arial"/>
              <a:buChar char="•"/>
              <a:tabLst>
                <a:tab pos="0" algn="l"/>
              </a:tabLst>
              <a:defRPr lang="en-US" sz="1340" b="0" u="none" strike="noStrike">
                <a:solidFill>
                  <a:schemeClr val="dk1"/>
                </a:solidFill>
                <a:effectLst/>
                <a:uFillTx/>
                <a:latin typeface="等线"/>
              </a:defRPr>
            </a:lvl2pPr>
            <a:lvl3pPr lvl="2" algn="l" defTabSz="512640">
              <a:lnSpc>
                <a:spcPct val="90000"/>
              </a:lnSpc>
              <a:spcBef>
                <a:spcPts val="281"/>
              </a:spcBef>
              <a:buClr>
                <a:srgbClr val="000000"/>
              </a:buClr>
              <a:buFont typeface="Arial"/>
              <a:buChar char="•"/>
              <a:tabLst>
                <a:tab pos="0" algn="l"/>
              </a:tabLst>
              <a:defRPr lang="en-US" sz="1120" b="0" u="none" strike="noStrike">
                <a:solidFill>
                  <a:schemeClr val="dk1"/>
                </a:solidFill>
                <a:effectLst/>
                <a:uFillTx/>
                <a:latin typeface="等线"/>
              </a:defRPr>
            </a:lvl3pPr>
            <a:lvl4pPr lvl="3" algn="l" defTabSz="512640">
              <a:lnSpc>
                <a:spcPct val="90000"/>
              </a:lnSpc>
              <a:spcBef>
                <a:spcPts val="281"/>
              </a:spcBef>
              <a:buClr>
                <a:srgbClr val="000000"/>
              </a:buClr>
              <a:buFont typeface="Arial"/>
              <a:buChar char="•"/>
              <a:tabLst>
                <a:tab pos="0" algn="l"/>
              </a:tabLst>
              <a:defRPr lang="en-US" sz="1010" b="0" u="none" strike="noStrike">
                <a:solidFill>
                  <a:schemeClr val="dk1"/>
                </a:solidFill>
                <a:effectLst/>
                <a:uFillTx/>
                <a:latin typeface="等线"/>
              </a:defRPr>
            </a:lvl4pPr>
            <a:lvl5pPr lvl="4" algn="l" defTabSz="512640">
              <a:lnSpc>
                <a:spcPct val="90000"/>
              </a:lnSpc>
              <a:spcBef>
                <a:spcPts val="281"/>
              </a:spcBef>
              <a:buClr>
                <a:srgbClr val="000000"/>
              </a:buClr>
              <a:buFont typeface="Arial"/>
              <a:buChar char="•"/>
              <a:tabLst>
                <a:tab pos="0" algn="l"/>
              </a:tabLst>
              <a:defRPr lang="en-US" sz="1010" b="0" u="none" strike="noStrike">
                <a:solidFill>
                  <a:schemeClr val="dk1"/>
                </a:solidFill>
                <a:effectLst/>
                <a:uFillTx/>
                <a:latin typeface="等线"/>
              </a:defRPr>
            </a:lvl5pPr>
          </a:lstStyle>
          <a:p>
            <a:pPr marL="128160" indent="-128160" algn="l" defTabSz="512640">
              <a:lnSpc>
                <a:spcPct val="90000"/>
              </a:lnSpc>
              <a:spcBef>
                <a:spcPts val="561"/>
              </a:spcBef>
              <a:buClr>
                <a:srgbClr val="000000"/>
              </a:buClr>
              <a:buFont typeface="Arial"/>
              <a:buChar char="•"/>
              <a:tabLst>
                <a:tab pos="0" algn="l"/>
              </a:tabLst>
            </a:pPr>
            <a:r>
              <a:rPr lang="en-US" sz="1570" b="0" u="none" strike="noStrike">
                <a:solidFill>
                  <a:schemeClr val="dk1"/>
                </a:solidFill>
                <a:effectLst/>
                <a:uFillTx/>
                <a:latin typeface="等线"/>
              </a:rPr>
              <a:t>Click to edit Master text styles</a:t>
            </a:r>
          </a:p>
          <a:p>
            <a:pPr marL="384480" lvl="1" indent="-128160" algn="l" defTabSz="512640">
              <a:lnSpc>
                <a:spcPct val="90000"/>
              </a:lnSpc>
              <a:spcBef>
                <a:spcPts val="281"/>
              </a:spcBef>
              <a:buClr>
                <a:srgbClr val="000000"/>
              </a:buClr>
              <a:buFont typeface="Arial"/>
              <a:buChar char="•"/>
              <a:tabLst>
                <a:tab pos="0" algn="l"/>
              </a:tabLst>
            </a:pPr>
            <a:r>
              <a:rPr lang="en-US" sz="1340" b="0" u="none" strike="noStrike">
                <a:solidFill>
                  <a:schemeClr val="dk1"/>
                </a:solidFill>
                <a:effectLst/>
                <a:uFillTx/>
                <a:latin typeface="等线"/>
              </a:rPr>
              <a:t>Second level</a:t>
            </a:r>
          </a:p>
          <a:p>
            <a:pPr marL="640800" lvl="2" indent="-128160" algn="l" defTabSz="512640">
              <a:lnSpc>
                <a:spcPct val="90000"/>
              </a:lnSpc>
              <a:spcBef>
                <a:spcPts val="281"/>
              </a:spcBef>
              <a:buClr>
                <a:srgbClr val="000000"/>
              </a:buClr>
              <a:buFont typeface="Arial"/>
              <a:buChar char="•"/>
              <a:tabLst>
                <a:tab pos="0" algn="l"/>
              </a:tabLst>
            </a:pPr>
            <a:r>
              <a:rPr lang="en-US" sz="1120" b="0" u="none" strike="noStrike">
                <a:solidFill>
                  <a:schemeClr val="dk1"/>
                </a:solidFill>
                <a:effectLst/>
                <a:uFillTx/>
                <a:latin typeface="等线"/>
              </a:rPr>
              <a:t>Third level</a:t>
            </a:r>
          </a:p>
          <a:p>
            <a:pPr marL="897480" lvl="3" indent="-128160" algn="l" defTabSz="512640">
              <a:lnSpc>
                <a:spcPct val="90000"/>
              </a:lnSpc>
              <a:spcBef>
                <a:spcPts val="281"/>
              </a:spcBef>
              <a:buClr>
                <a:srgbClr val="000000"/>
              </a:buClr>
              <a:buFont typeface="Arial"/>
              <a:buChar char="•"/>
              <a:tabLst>
                <a:tab pos="0" algn="l"/>
              </a:tabLst>
            </a:pPr>
            <a:r>
              <a:rPr lang="en-US" sz="1010" b="0" u="none" strike="noStrike">
                <a:solidFill>
                  <a:schemeClr val="dk1"/>
                </a:solidFill>
                <a:effectLst/>
                <a:uFillTx/>
                <a:latin typeface="等线"/>
              </a:rPr>
              <a:t>Fourth level</a:t>
            </a:r>
          </a:p>
          <a:p>
            <a:pPr marL="1153800" lvl="4" indent="-128160" algn="l" defTabSz="512640">
              <a:lnSpc>
                <a:spcPct val="90000"/>
              </a:lnSpc>
              <a:spcBef>
                <a:spcPts val="281"/>
              </a:spcBef>
              <a:buClr>
                <a:srgbClr val="000000"/>
              </a:buClr>
              <a:buFont typeface="Arial"/>
              <a:buChar char="•"/>
              <a:tabLst>
                <a:tab pos="0" algn="l"/>
              </a:tabLst>
            </a:pPr>
            <a:r>
              <a:rPr lang="en-US" sz="1010" b="0" u="none" strike="noStrike">
                <a:solidFill>
                  <a:schemeClr val="dk1"/>
                </a:solidFill>
                <a:effectLst/>
                <a:uFillTx/>
                <a:latin typeface="等线"/>
              </a:rPr>
              <a:t>Fifth level</a:t>
            </a:r>
          </a:p>
        </p:txBody>
      </p:sp>
      <p:sp>
        <p:nvSpPr>
          <p:cNvPr id="58" name="PlaceHolder 6"/>
          <p:cNvSpPr>
            <a:spLocks noGrp="1"/>
          </p:cNvSpPr>
          <p:nvPr>
            <p:ph type="dt" idx="31"/>
          </p:nvPr>
        </p:nvSpPr>
        <p:spPr>
          <a:xfrm>
            <a:off x="509760" y="5860440"/>
            <a:ext cx="1664640" cy="33264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l" defTabSz="914400">
              <a:lnSpc>
                <a:spcPct val="100000"/>
              </a:lnSpc>
              <a:buNone/>
              <a:tabLst>
                <a:tab pos="0" algn="l"/>
              </a:tabLst>
            </a:pPr>
            <a:r>
              <a:rPr lang="en-US" sz="670" b="0" u="none" strike="noStrike">
                <a:solidFill>
                  <a:schemeClr val="dk1">
                    <a:tint val="82000"/>
                  </a:schemeClr>
                </a:solidFill>
                <a:effectLst/>
                <a:uFillTx/>
                <a:latin typeface="等线"/>
              </a:rPr>
              <a:t>&lt;日期/时间&gt;</a:t>
            </a:r>
            <a:endParaRPr lang="en-US" sz="670" b="0" u="none" strike="noStrike">
              <a:solidFill>
                <a:srgbClr val="000000"/>
              </a:solidFill>
              <a:effectLst/>
              <a:uFillTx/>
              <a:latin typeface="Times New Roman"/>
            </a:endParaRPr>
          </a:p>
        </p:txBody>
      </p:sp>
      <p:sp>
        <p:nvSpPr>
          <p:cNvPr id="59" name="PlaceHolder 7"/>
          <p:cNvSpPr>
            <a:spLocks noGrp="1"/>
          </p:cNvSpPr>
          <p:nvPr>
            <p:ph type="ftr" idx="32"/>
          </p:nvPr>
        </p:nvSpPr>
        <p:spPr>
          <a:xfrm>
            <a:off x="2456280" y="5860440"/>
            <a:ext cx="2498760" cy="33264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rPr>
              <a:t>&lt;页脚&gt;</a:t>
            </a:r>
          </a:p>
        </p:txBody>
      </p:sp>
      <p:sp>
        <p:nvSpPr>
          <p:cNvPr id="60" name="PlaceHolder 8"/>
          <p:cNvSpPr>
            <a:spLocks noGrp="1"/>
          </p:cNvSpPr>
          <p:nvPr>
            <p:ph type="sldNum" idx="33"/>
          </p:nvPr>
        </p:nvSpPr>
        <p:spPr>
          <a:xfrm>
            <a:off x="5236920" y="5860440"/>
            <a:ext cx="1664640" cy="33264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670" b="0" u="none" strike="noStrike">
                <a:solidFill>
                  <a:schemeClr val="dk1">
                    <a:tint val="82000"/>
                  </a:schemeClr>
                </a:solidFill>
                <a:effectLst/>
                <a:uFillTx/>
                <a:latin typeface="等线"/>
              </a:defRPr>
            </a:lvl1pPr>
          </a:lstStyle>
          <a:p>
            <a:pPr indent="0" algn="r" defTabSz="914400">
              <a:lnSpc>
                <a:spcPct val="100000"/>
              </a:lnSpc>
              <a:buNone/>
              <a:tabLst>
                <a:tab pos="0" algn="l"/>
              </a:tabLst>
            </a:pPr>
            <a:fld id="{E88DFF69-EBBB-4D0D-AEA7-0821B0E08ADB}" type="slidenum">
              <a:rPr lang="en-US" sz="670" b="0" u="none" strike="noStrike">
                <a:solidFill>
                  <a:schemeClr val="dk1">
                    <a:tint val="82000"/>
                  </a:schemeClr>
                </a:solidFill>
                <a:effectLst/>
                <a:uFillTx/>
                <a:latin typeface="等线"/>
              </a:rPr>
              <a:t>‹#›</a:t>
            </a:fld>
            <a:endParaRPr lang="en-US" sz="67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jpe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2.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18" Type="http://schemas.openxmlformats.org/officeDocument/2006/relationships/image" Target="../media/image38.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png"/><Relationship Id="rId17" Type="http://schemas.openxmlformats.org/officeDocument/2006/relationships/image" Target="../media/image37.png"/><Relationship Id="rId2" Type="http://schemas.openxmlformats.org/officeDocument/2006/relationships/notesSlide" Target="../notesSlides/notesSlide2.xml"/><Relationship Id="rId16" Type="http://schemas.openxmlformats.org/officeDocument/2006/relationships/image" Target="../media/image25.svg"/><Relationship Id="rId1" Type="http://schemas.openxmlformats.org/officeDocument/2006/relationships/slideLayout" Target="../slideLayouts/slideLayout8.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5" Type="http://schemas.openxmlformats.org/officeDocument/2006/relationships/image" Target="../media/image24.sv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 Id="rId14" Type="http://schemas.openxmlformats.org/officeDocument/2006/relationships/image" Target="../media/image23.svg"/></Relationships>
</file>

<file path=ppt/slides/_rels/slide3.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png"/><Relationship Id="rId3" Type="http://schemas.openxmlformats.org/officeDocument/2006/relationships/image" Target="../media/image39.png"/><Relationship Id="rId7" Type="http://schemas.openxmlformats.org/officeDocument/2006/relationships/image" Target="../media/image43.png"/><Relationship Id="rId12" Type="http://schemas.openxmlformats.org/officeDocument/2006/relationships/image" Target="../media/image48.png"/><Relationship Id="rId2" Type="http://schemas.openxmlformats.org/officeDocument/2006/relationships/notesSlide" Target="../notesSlides/notesSlide3.xml"/><Relationship Id="rId16" Type="http://schemas.openxmlformats.org/officeDocument/2006/relationships/image" Target="../media/image52.png"/><Relationship Id="rId1" Type="http://schemas.openxmlformats.org/officeDocument/2006/relationships/slideLayout" Target="../slideLayouts/slideLayout8.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5" Type="http://schemas.openxmlformats.org/officeDocument/2006/relationships/image" Target="../media/image5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 Id="rId14" Type="http://schemas.openxmlformats.org/officeDocument/2006/relationships/image" Target="../media/image50.png"/></Relationships>
</file>

<file path=ppt/slides/_rels/slide4.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56.png"/><Relationship Id="rId11" Type="http://schemas.openxmlformats.org/officeDocument/2006/relationships/image" Target="../media/image61.png"/><Relationship Id="rId5" Type="http://schemas.openxmlformats.org/officeDocument/2006/relationships/image" Target="../media/image55.png"/><Relationship Id="rId10" Type="http://schemas.openxmlformats.org/officeDocument/2006/relationships/image" Target="../media/image60.png"/><Relationship Id="rId4" Type="http://schemas.openxmlformats.org/officeDocument/2006/relationships/image" Target="../media/image54.png"/><Relationship Id="rId9" Type="http://schemas.openxmlformats.org/officeDocument/2006/relationships/image" Target="../media/image59.png"/></Relationships>
</file>

<file path=ppt/slides/_rels/slide5.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 Id="rId9" Type="http://schemas.openxmlformats.org/officeDocument/2006/relationships/image" Target="../media/image6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98" name="组合 597">
            <a:extLst>
              <a:ext uri="{FF2B5EF4-FFF2-40B4-BE49-F238E27FC236}">
                <a16:creationId xmlns:a16="http://schemas.microsoft.com/office/drawing/2014/main" id="{6B09F2E0-A5BE-5A12-586A-E1F0D1CCF0B2}"/>
              </a:ext>
            </a:extLst>
          </p:cNvPr>
          <p:cNvGrpSpPr/>
          <p:nvPr/>
        </p:nvGrpSpPr>
        <p:grpSpPr>
          <a:xfrm>
            <a:off x="736468" y="158875"/>
            <a:ext cx="6299064" cy="5976330"/>
            <a:chOff x="736468" y="158875"/>
            <a:chExt cx="6299064" cy="5976330"/>
          </a:xfrm>
        </p:grpSpPr>
        <p:cxnSp>
          <p:nvCxnSpPr>
            <p:cNvPr id="17" name="input_encoder__0">
              <a:extLst>
                <a:ext uri="{FF2B5EF4-FFF2-40B4-BE49-F238E27FC236}">
                  <a16:creationId xmlns:a16="http://schemas.microsoft.com/office/drawing/2014/main" id="{66662046-CA62-393D-A628-B9A2C20F1350}"/>
                </a:ext>
              </a:extLst>
            </p:cNvPr>
            <p:cNvCxnSpPr>
              <a:cxnSpLocks/>
            </p:cNvCxnSpPr>
            <p:nvPr/>
          </p:nvCxnSpPr>
          <p:spPr>
            <a:xfrm>
              <a:off x="1097757" y="1280910"/>
              <a:ext cx="0" cy="123346"/>
            </a:xfrm>
            <a:prstGeom prst="straightConnector1">
              <a:avLst/>
            </a:prstGeom>
            <a:ln w="12700">
              <a:solidFill>
                <a:srgbClr val="687681"/>
              </a:solidFill>
              <a:round/>
              <a:tailEnd type="triangle" w="sm" len="sm"/>
            </a:ln>
          </p:spPr>
        </p:cxnSp>
        <p:sp>
          <p:nvSpPr>
            <p:cNvPr id="68" name="encoder"/>
            <p:cNvSpPr/>
            <p:nvPr/>
          </p:nvSpPr>
          <p:spPr>
            <a:xfrm rot="5400000">
              <a:off x="1017409" y="842576"/>
              <a:ext cx="177368" cy="686340"/>
            </a:xfrm>
            <a:custGeom>
              <a:avLst/>
              <a:gdLst>
                <a:gd name="textAreaLeft" fmla="*/ 0 w 491040"/>
                <a:gd name="textAreaRight" fmla="*/ 494640 w 491040"/>
                <a:gd name="textAreaTop" fmla="*/ 0 h 409680"/>
                <a:gd name="textAreaBottom" fmla="*/ 413280 h 409680"/>
              </a:gdLst>
              <a:ahLst/>
              <a:cxnLst/>
              <a:rect l="textAreaLeft" t="textAreaTop" r="textAreaRight" b="textAreaBottom"/>
              <a:pathLst>
                <a:path w="443189" h="413642">
                  <a:moveTo>
                    <a:pt x="0" y="0"/>
                  </a:moveTo>
                  <a:lnTo>
                    <a:pt x="443188" y="73864"/>
                  </a:lnTo>
                  <a:lnTo>
                    <a:pt x="443188" y="339777"/>
                  </a:lnTo>
                  <a:lnTo>
                    <a:pt x="0" y="413641"/>
                  </a:lnTo>
                  <a:close/>
                </a:path>
              </a:pathLst>
            </a:custGeom>
            <a:solidFill>
              <a:srgbClr val="F8DAB9"/>
            </a:solidFill>
            <a:ln w="5318">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3" name="encoder">
              <a:extLst>
                <a:ext uri="{FF2B5EF4-FFF2-40B4-BE49-F238E27FC236}">
                  <a16:creationId xmlns:a16="http://schemas.microsoft.com/office/drawing/2014/main" id="{787D34B6-A9E9-8B43-2861-B5FF60544536}"/>
                </a:ext>
              </a:extLst>
            </p:cNvPr>
            <p:cNvSpPr/>
            <p:nvPr/>
          </p:nvSpPr>
          <p:spPr>
            <a:xfrm rot="5400000">
              <a:off x="993927" y="1171818"/>
              <a:ext cx="177365" cy="642242"/>
            </a:xfrm>
            <a:custGeom>
              <a:avLst/>
              <a:gdLst>
                <a:gd name="textAreaLeft" fmla="*/ 0 w 491040"/>
                <a:gd name="textAreaRight" fmla="*/ 494640 w 491040"/>
                <a:gd name="textAreaTop" fmla="*/ 0 h 409680"/>
                <a:gd name="textAreaBottom" fmla="*/ 413280 h 409680"/>
              </a:gdLst>
              <a:ahLst/>
              <a:cxnLst/>
              <a:rect l="textAreaLeft" t="textAreaTop" r="textAreaRight" b="textAreaBottom"/>
              <a:pathLst>
                <a:path w="443189" h="413642">
                  <a:moveTo>
                    <a:pt x="0" y="0"/>
                  </a:moveTo>
                  <a:lnTo>
                    <a:pt x="443188" y="73864"/>
                  </a:lnTo>
                  <a:lnTo>
                    <a:pt x="443188" y="339777"/>
                  </a:lnTo>
                  <a:lnTo>
                    <a:pt x="0" y="413641"/>
                  </a:lnTo>
                  <a:close/>
                </a:path>
              </a:pathLst>
            </a:custGeom>
            <a:solidFill>
              <a:srgbClr val="FFF1CC"/>
            </a:solidFill>
            <a:ln w="5318">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67" name="input_label"/>
            <p:cNvSpPr/>
            <p:nvPr/>
          </p:nvSpPr>
          <p:spPr>
            <a:xfrm>
              <a:off x="978799" y="976853"/>
              <a:ext cx="6159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Input</a:t>
              </a:r>
            </a:p>
          </p:txBody>
        </p:sp>
        <p:sp>
          <p:nvSpPr>
            <p:cNvPr id="69" name="encoder_title"/>
            <p:cNvSpPr/>
            <p:nvPr/>
          </p:nvSpPr>
          <p:spPr>
            <a:xfrm>
              <a:off x="893873" y="1370631"/>
              <a:ext cx="424440" cy="2264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45" dirty="0">
                  <a:effectLst/>
                  <a:uFillTx/>
                  <a:latin typeface="Times New Roman" panose="02020603050405020304" pitchFamily="18" charset="0"/>
                  <a:cs typeface="Times New Roman" panose="02020603050405020304" pitchFamily="18" charset="0"/>
                </a:rPr>
                <a:t>Encoder</a:t>
              </a:r>
              <a:endParaRPr lang="en-US" sz="700" b="1" u="none" strike="noStrike" dirty="0">
                <a:effectLst/>
                <a:uFillTx/>
                <a:latin typeface="Times New Roman" panose="02020603050405020304" pitchFamily="18" charset="0"/>
                <a:cs typeface="Times New Roman" panose="02020603050405020304" pitchFamily="18" charset="0"/>
              </a:endParaRPr>
            </a:p>
          </p:txBody>
        </p:sp>
        <p:grpSp>
          <p:nvGrpSpPr>
            <p:cNvPr id="70" name="initial_head_group"/>
            <p:cNvGrpSpPr/>
            <p:nvPr/>
          </p:nvGrpSpPr>
          <p:grpSpPr>
            <a:xfrm>
              <a:off x="4184640" y="473911"/>
              <a:ext cx="646200" cy="262080"/>
              <a:chOff x="2806920" y="417240"/>
              <a:chExt cx="646200" cy="262080"/>
            </a:xfrm>
          </p:grpSpPr>
          <p:sp>
            <p:nvSpPr>
              <p:cNvPr id="71" name="initial_head"/>
              <p:cNvSpPr/>
              <p:nvPr/>
            </p:nvSpPr>
            <p:spPr>
              <a:xfrm>
                <a:off x="2806920" y="417240"/>
                <a:ext cx="646200" cy="262080"/>
              </a:xfrm>
              <a:prstGeom prst="roundRect">
                <a:avLst>
                  <a:gd name="adj" fmla="val 15000"/>
                </a:avLst>
              </a:prstGeom>
              <a:solidFill>
                <a:srgbClr val="EAF1FA"/>
              </a:solidFill>
              <a:ln w="5318">
                <a:solidFill>
                  <a:srgbClr val="687681"/>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72" name="initial_head_title"/>
              <p:cNvSpPr/>
              <p:nvPr/>
            </p:nvSpPr>
            <p:spPr>
              <a:xfrm>
                <a:off x="2824560" y="435600"/>
                <a:ext cx="610560" cy="2253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Initial box</a:t>
                </a:r>
              </a:p>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prediction</a:t>
                </a:r>
              </a:p>
            </p:txBody>
          </p:sp>
        </p:grpSp>
        <p:sp>
          <p:nvSpPr>
            <p:cNvPr id="73" name="reference_caption"/>
            <p:cNvSpPr/>
            <p:nvPr/>
          </p:nvSpPr>
          <p:spPr>
            <a:xfrm>
              <a:off x="6113479" y="161791"/>
              <a:ext cx="73332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u="none" strike="noStrike" dirty="0">
                  <a:effectLst/>
                  <a:uFillTx/>
                  <a:latin typeface="Times New Roman" panose="02020603050405020304" pitchFamily="18" charset="0"/>
                  <a:cs typeface="Times New Roman" panose="02020603050405020304" pitchFamily="18" charset="0"/>
                </a:rPr>
                <a:t>Initial box</a:t>
              </a:r>
            </a:p>
          </p:txBody>
        </p:sp>
        <p:sp>
          <p:nvSpPr>
            <p:cNvPr id="74" name="edge_heading"/>
            <p:cNvSpPr/>
            <p:nvPr/>
          </p:nvSpPr>
          <p:spPr>
            <a:xfrm>
              <a:off x="2651484" y="901080"/>
              <a:ext cx="1122631" cy="2206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Refined </a:t>
              </a:r>
              <a:r>
                <a:rPr lang="en-US" sz="650" b="1" dirty="0">
                  <a:latin typeface="Times New Roman" panose="02020603050405020304" pitchFamily="18" charset="0"/>
                  <a:cs typeface="Times New Roman" panose="02020603050405020304" pitchFamily="18" charset="0"/>
                </a:rPr>
                <a:t>D</a:t>
              </a:r>
              <a:r>
                <a:rPr lang="en-US" sz="650" b="1" u="none" strike="noStrike" dirty="0">
                  <a:effectLst/>
                  <a:uFillTx/>
                  <a:latin typeface="Times New Roman" panose="02020603050405020304" pitchFamily="18" charset="0"/>
                  <a:cs typeface="Times New Roman" panose="02020603050405020304" pitchFamily="18" charset="0"/>
                </a:rPr>
                <a:t>istributions</a:t>
              </a:r>
            </a:p>
          </p:txBody>
        </p:sp>
        <p:sp>
          <p:nvSpPr>
            <p:cNvPr id="75" name="edge_collection"/>
            <p:cNvSpPr/>
            <p:nvPr/>
          </p:nvSpPr>
          <p:spPr>
            <a:xfrm>
              <a:off x="2688840" y="1140480"/>
              <a:ext cx="1000440" cy="4345200"/>
            </a:xfrm>
            <a:prstGeom prst="roundRect">
              <a:avLst>
                <a:gd name="adj" fmla="val 15000"/>
              </a:avLst>
            </a:prstGeom>
            <a:noFill/>
            <a:ln w="19050">
              <a:solidFill>
                <a:srgbClr val="9683AB"/>
              </a:solidFill>
              <a:prstDash val="dash"/>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76" name="ddo_1_group"/>
            <p:cNvGrpSpPr/>
            <p:nvPr/>
          </p:nvGrpSpPr>
          <p:grpSpPr>
            <a:xfrm>
              <a:off x="4195440" y="978120"/>
              <a:ext cx="586800" cy="185040"/>
              <a:chOff x="4195440" y="978120"/>
              <a:chExt cx="586800" cy="185040"/>
            </a:xfrm>
            <a:solidFill>
              <a:srgbClr val="FFF1CC"/>
            </a:solidFill>
          </p:grpSpPr>
          <p:sp>
            <p:nvSpPr>
              <p:cNvPr id="77" name="ddo_1"/>
              <p:cNvSpPr/>
              <p:nvPr/>
            </p:nvSpPr>
            <p:spPr>
              <a:xfrm>
                <a:off x="4195440" y="978120"/>
                <a:ext cx="586800" cy="185040"/>
              </a:xfrm>
              <a:prstGeom prst="roundRect">
                <a:avLst>
                  <a:gd name="adj" fmla="val 15000"/>
                </a:avLst>
              </a:prstGeom>
              <a:grpFill/>
              <a:ln w="5318">
                <a:solidFill>
                  <a:srgbClr val="B39A6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78" name="ddo_1_title"/>
              <p:cNvSpPr/>
              <p:nvPr/>
            </p:nvSpPr>
            <p:spPr>
              <a:xfrm>
                <a:off x="4213080" y="992880"/>
                <a:ext cx="551520" cy="155520"/>
              </a:xfrm>
              <a:prstGeom prst="rect">
                <a:avLst/>
              </a:prstGeom>
              <a:grp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DDO</a:t>
                </a:r>
              </a:p>
            </p:txBody>
          </p:sp>
        </p:grpSp>
        <p:sp>
          <p:nvSpPr>
            <p:cNvPr id="79" name="ddo_b0_1"/>
            <p:cNvSpPr/>
            <p:nvPr/>
          </p:nvSpPr>
          <p:spPr>
            <a:xfrm>
              <a:off x="4417200" y="71784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80" name="ddo_b0_1_text"/>
            <p:cNvSpPr/>
            <p:nvPr/>
          </p:nvSpPr>
          <p:spPr>
            <a:xfrm>
              <a:off x="4183758" y="795203"/>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0</a:t>
              </a:r>
              <a:endParaRPr lang="en-US" sz="900" b="1" u="none" strike="noStrike" dirty="0">
                <a:effectLst/>
                <a:uFillTx/>
                <a:latin typeface="Times New Roman" panose="02020603050405020304" pitchFamily="18" charset="0"/>
                <a:cs typeface="Times New Roman" panose="02020603050405020304" pitchFamily="18" charset="0"/>
              </a:endParaRPr>
            </a:p>
          </p:txBody>
        </p:sp>
        <p:grpSp>
          <p:nvGrpSpPr>
            <p:cNvPr id="81" name="integral_1_group"/>
            <p:cNvGrpSpPr/>
            <p:nvPr/>
          </p:nvGrpSpPr>
          <p:grpSpPr>
            <a:xfrm>
              <a:off x="4195440" y="1370880"/>
              <a:ext cx="586800" cy="185040"/>
              <a:chOff x="4195440" y="1370880"/>
              <a:chExt cx="586800" cy="185040"/>
            </a:xfrm>
          </p:grpSpPr>
          <p:sp>
            <p:nvSpPr>
              <p:cNvPr id="82" name="integral_1"/>
              <p:cNvSpPr/>
              <p:nvPr/>
            </p:nvSpPr>
            <p:spPr>
              <a:xfrm>
                <a:off x="4195440" y="1370880"/>
                <a:ext cx="586800" cy="185040"/>
              </a:xfrm>
              <a:prstGeom prst="roundRect">
                <a:avLst>
                  <a:gd name="adj" fmla="val 15000"/>
                </a:avLst>
              </a:prstGeom>
              <a:solidFill>
                <a:srgbClr val="EAF1FA"/>
              </a:solidFill>
              <a:ln w="5318">
                <a:solidFill>
                  <a:srgbClr val="687681"/>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83" name="integral_1_title"/>
              <p:cNvSpPr/>
              <p:nvPr/>
            </p:nvSpPr>
            <p:spPr>
              <a:xfrm>
                <a:off x="4213080" y="138564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Integral</a:t>
                </a:r>
              </a:p>
            </p:txBody>
          </p:sp>
        </p:grpSp>
        <p:sp>
          <p:nvSpPr>
            <p:cNvPr id="84" name="weight_1"/>
            <p:cNvSpPr/>
            <p:nvPr/>
          </p:nvSpPr>
          <p:spPr>
            <a:xfrm>
              <a:off x="4033080" y="1725480"/>
              <a:ext cx="91188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85" name="weight_1_text"/>
            <p:cNvSpPr/>
            <p:nvPr/>
          </p:nvSpPr>
          <p:spPr>
            <a:xfrm>
              <a:off x="4327398" y="1604743"/>
              <a:ext cx="911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Adaptive </a:t>
              </a:r>
              <a:r>
                <a:rPr lang="en-US" sz="650" b="1" i="1" u="none" strike="noStrike" dirty="0">
                  <a:effectLst/>
                  <a:uFillTx/>
                  <a:latin typeface="Times New Roman" panose="02020603050405020304" pitchFamily="18" charset="0"/>
                  <a:cs typeface="Times New Roman" panose="02020603050405020304" pitchFamily="18" charset="0"/>
                </a:rPr>
                <a:t>W</a:t>
              </a:r>
              <a:r>
                <a:rPr lang="en-US" sz="650" b="1" u="none" strike="noStrike" dirty="0">
                  <a:effectLst/>
                  <a:uFillTx/>
                  <a:latin typeface="Times New Roman" panose="02020603050405020304" pitchFamily="18" charset="0"/>
                  <a:cs typeface="Times New Roman" panose="02020603050405020304" pitchFamily="18" charset="0"/>
                </a:rPr>
                <a:t>(</a:t>
              </a:r>
              <a:r>
                <a:rPr lang="en-US" sz="650" b="1" i="1" u="none" strike="noStrike" dirty="0">
                  <a:effectLst/>
                  <a:uFillTx/>
                  <a:latin typeface="Times New Roman" panose="02020603050405020304" pitchFamily="18" charset="0"/>
                  <a:cs typeface="Times New Roman" panose="02020603050405020304" pitchFamily="18" charset="0"/>
                </a:rPr>
                <a:t>n</a:t>
              </a:r>
              <a:r>
                <a:rPr lang="en-US" sz="650" b="1" u="none" strike="noStrike" dirty="0">
                  <a:effectLst/>
                  <a:uFillTx/>
                  <a:latin typeface="Times New Roman" panose="02020603050405020304" pitchFamily="18" charset="0"/>
                  <a:cs typeface="Times New Roman" panose="02020603050405020304" pitchFamily="18" charset="0"/>
                </a:rPr>
                <a:t>)</a:t>
              </a:r>
            </a:p>
          </p:txBody>
        </p:sp>
        <p:grpSp>
          <p:nvGrpSpPr>
            <p:cNvPr id="86" name="box_1_group"/>
            <p:cNvGrpSpPr/>
            <p:nvPr/>
          </p:nvGrpSpPr>
          <p:grpSpPr>
            <a:xfrm>
              <a:off x="5436360" y="1370880"/>
              <a:ext cx="658440" cy="185040"/>
              <a:chOff x="5436360" y="1370880"/>
              <a:chExt cx="658440" cy="185040"/>
            </a:xfrm>
            <a:solidFill>
              <a:srgbClr val="F8DAB9"/>
            </a:solidFill>
          </p:grpSpPr>
          <p:sp>
            <p:nvSpPr>
              <p:cNvPr id="87" name="box_1"/>
              <p:cNvSpPr/>
              <p:nvPr/>
            </p:nvSpPr>
            <p:spPr>
              <a:xfrm>
                <a:off x="5436360" y="1370880"/>
                <a:ext cx="658440" cy="185040"/>
              </a:xfrm>
              <a:prstGeom prst="roundRect">
                <a:avLst>
                  <a:gd name="adj" fmla="val 15000"/>
                </a:avLst>
              </a:prstGeom>
              <a:grpFill/>
              <a:ln w="5318">
                <a:solidFill>
                  <a:srgbClr val="687681"/>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88" name="box_1_title"/>
              <p:cNvSpPr/>
              <p:nvPr/>
            </p:nvSpPr>
            <p:spPr>
              <a:xfrm>
                <a:off x="5454000" y="1385640"/>
                <a:ext cx="610560" cy="155520"/>
              </a:xfrm>
              <a:prstGeom prst="rect">
                <a:avLst/>
              </a:prstGeom>
              <a:grp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Box Decoder</a:t>
                </a:r>
              </a:p>
            </p:txBody>
          </p:sp>
        </p:grpSp>
        <p:sp>
          <p:nvSpPr>
            <p:cNvPr id="89" name="scale_1"/>
            <p:cNvSpPr/>
            <p:nvPr/>
          </p:nvSpPr>
          <p:spPr>
            <a:xfrm>
              <a:off x="4830840" y="940680"/>
              <a:ext cx="882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Adaptive scale </a:t>
              </a:r>
              <a:r>
                <a:rPr lang="en-US" sz="900" b="1" i="1" u="none" strike="noStrike" dirty="0" err="1">
                  <a:effectLst/>
                  <a:uFillTx/>
                  <a:latin typeface="Times New Roman" panose="02020603050405020304" pitchFamily="18" charset="0"/>
                  <a:cs typeface="Times New Roman" panose="02020603050405020304" pitchFamily="18" charset="0"/>
                </a:rPr>
                <a:t>r</a:t>
              </a:r>
              <a:r>
                <a:rPr lang="en-US" sz="900" b="1" i="1" u="none" strike="noStrike" baseline="-25000" dirty="0" err="1">
                  <a:effectLst/>
                  <a:uFillTx/>
                  <a:latin typeface="Times New Roman" panose="02020603050405020304" pitchFamily="18" charset="0"/>
                  <a:cs typeface="Times New Roman" panose="02020603050405020304" pitchFamily="18" charset="0"/>
                </a:rPr>
                <a:t>i</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90" name="box_b0_1"/>
            <p:cNvSpPr/>
            <p:nvPr/>
          </p:nvSpPr>
          <p:spPr>
            <a:xfrm>
              <a:off x="5687640" y="172260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91" name="box_b0_1_text"/>
            <p:cNvSpPr/>
            <p:nvPr/>
          </p:nvSpPr>
          <p:spPr>
            <a:xfrm>
              <a:off x="5494603" y="1591178"/>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i="1" u="none" strike="noStrike" dirty="0">
                  <a:effectLst/>
                  <a:uFillTx/>
                  <a:latin typeface="Times New Roman" panose="02020603050405020304" pitchFamily="18" charset="0"/>
                  <a:cs typeface="Times New Roman" panose="02020603050405020304" pitchFamily="18" charset="0"/>
                </a:rPr>
                <a:t>b</a:t>
              </a:r>
              <a:r>
                <a:rPr lang="en-US" sz="650" b="1" i="1" u="none" strike="noStrike" baseline="-25000" dirty="0">
                  <a:effectLst/>
                  <a:uFillTx/>
                  <a:latin typeface="Times New Roman" panose="02020603050405020304" pitchFamily="18" charset="0"/>
                  <a:cs typeface="Times New Roman" panose="02020603050405020304" pitchFamily="18" charset="0"/>
                </a:rPr>
                <a:t>0</a:t>
              </a:r>
              <a:endParaRPr lang="en-US" sz="650" b="1" u="none" strike="noStrike" dirty="0">
                <a:effectLst/>
                <a:uFillTx/>
                <a:latin typeface="Times New Roman" panose="02020603050405020304" pitchFamily="18" charset="0"/>
                <a:cs typeface="Times New Roman" panose="02020603050405020304" pitchFamily="18" charset="0"/>
              </a:endParaRPr>
            </a:p>
          </p:txBody>
        </p:sp>
        <p:grpSp>
          <p:nvGrpSpPr>
            <p:cNvPr id="92" name="lqe_1_group"/>
            <p:cNvGrpSpPr/>
            <p:nvPr/>
          </p:nvGrpSpPr>
          <p:grpSpPr>
            <a:xfrm>
              <a:off x="4673602" y="1762740"/>
              <a:ext cx="677160" cy="173160"/>
              <a:chOff x="5433480" y="1929240"/>
              <a:chExt cx="677160" cy="173160"/>
            </a:xfrm>
          </p:grpSpPr>
          <p:sp>
            <p:nvSpPr>
              <p:cNvPr id="93" name="lqe_1"/>
              <p:cNvSpPr/>
              <p:nvPr/>
            </p:nvSpPr>
            <p:spPr>
              <a:xfrm>
                <a:off x="5433480" y="1929240"/>
                <a:ext cx="677160" cy="173160"/>
              </a:xfrm>
              <a:prstGeom prst="roundRect">
                <a:avLst>
                  <a:gd name="adj" fmla="val 15000"/>
                </a:avLst>
              </a:prstGeom>
              <a:solidFill>
                <a:srgbClr val="DFECC0"/>
              </a:solidFill>
              <a:ln w="5318">
                <a:solidFill>
                  <a:srgbClr val="84966B"/>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94" name="lqe_1_title"/>
              <p:cNvSpPr/>
              <p:nvPr/>
            </p:nvSpPr>
            <p:spPr>
              <a:xfrm>
                <a:off x="5454000" y="1944000"/>
                <a:ext cx="610560" cy="1436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26">
                    <a:effectLst/>
                    <a:uFillTx/>
                    <a:latin typeface="Times New Roman" panose="02020603050405020304" pitchFamily="18" charset="0"/>
                    <a:cs typeface="Times New Roman" panose="02020603050405020304" pitchFamily="18" charset="0"/>
                  </a:rPr>
                  <a:t>LQE + Entropy</a:t>
                </a:r>
                <a:endParaRPr lang="en-US" sz="700" b="1" u="none" strike="noStrike">
                  <a:effectLst/>
                  <a:uFillTx/>
                  <a:latin typeface="Times New Roman" panose="02020603050405020304" pitchFamily="18" charset="0"/>
                  <a:cs typeface="Times New Roman" panose="02020603050405020304" pitchFamily="18" charset="0"/>
                </a:endParaRPr>
              </a:p>
            </p:txBody>
          </p:sp>
        </p:grpSp>
        <p:sp>
          <p:nvSpPr>
            <p:cNvPr id="95" name="class_feature_1"/>
            <p:cNvSpPr/>
            <p:nvPr/>
          </p:nvSpPr>
          <p:spPr>
            <a:xfrm>
              <a:off x="4727160" y="196776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96" name="class_feature_1_text"/>
            <p:cNvSpPr/>
            <p:nvPr/>
          </p:nvSpPr>
          <p:spPr>
            <a:xfrm>
              <a:off x="5903950" y="1778746"/>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1</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97" name="class_input_label_1"/>
            <p:cNvSpPr/>
            <p:nvPr/>
          </p:nvSpPr>
          <p:spPr>
            <a:xfrm>
              <a:off x="5360617" y="1850939"/>
              <a:ext cx="5277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Class logits</a:t>
              </a:r>
            </a:p>
          </p:txBody>
        </p:sp>
        <p:grpSp>
          <p:nvGrpSpPr>
            <p:cNvPr id="98" name="ddo_2_group"/>
            <p:cNvGrpSpPr/>
            <p:nvPr/>
          </p:nvGrpSpPr>
          <p:grpSpPr>
            <a:xfrm>
              <a:off x="4195440" y="2160000"/>
              <a:ext cx="586800" cy="185040"/>
              <a:chOff x="4195440" y="2160000"/>
              <a:chExt cx="586800" cy="185040"/>
            </a:xfrm>
          </p:grpSpPr>
          <p:sp>
            <p:nvSpPr>
              <p:cNvPr id="99" name="ddo_2"/>
              <p:cNvSpPr/>
              <p:nvPr/>
            </p:nvSpPr>
            <p:spPr>
              <a:xfrm>
                <a:off x="4195440" y="2160000"/>
                <a:ext cx="586800" cy="185040"/>
              </a:xfrm>
              <a:prstGeom prst="roundRect">
                <a:avLst>
                  <a:gd name="adj" fmla="val 15000"/>
                </a:avLst>
              </a:prstGeom>
              <a:solidFill>
                <a:srgbClr val="FFF1CC"/>
              </a:solidFill>
              <a:ln w="5318">
                <a:solidFill>
                  <a:srgbClr val="B39A6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00" name="ddo_2_title"/>
              <p:cNvSpPr/>
              <p:nvPr/>
            </p:nvSpPr>
            <p:spPr>
              <a:xfrm>
                <a:off x="4213080" y="217476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DDO</a:t>
                </a:r>
              </a:p>
            </p:txBody>
          </p:sp>
        </p:grpSp>
        <p:sp>
          <p:nvSpPr>
            <p:cNvPr id="101" name="ddo_b0_2"/>
            <p:cNvSpPr/>
            <p:nvPr/>
          </p:nvSpPr>
          <p:spPr>
            <a:xfrm>
              <a:off x="4417200" y="189972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02" name="ddo_b0_2_text"/>
            <p:cNvSpPr/>
            <p:nvPr/>
          </p:nvSpPr>
          <p:spPr>
            <a:xfrm>
              <a:off x="4153320" y="196596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0</a:t>
              </a:r>
              <a:endParaRPr lang="en-US" sz="900" b="1" u="none" strike="noStrike" dirty="0">
                <a:effectLst/>
                <a:uFillTx/>
                <a:latin typeface="Times New Roman" panose="02020603050405020304" pitchFamily="18" charset="0"/>
                <a:cs typeface="Times New Roman" panose="02020603050405020304" pitchFamily="18" charset="0"/>
              </a:endParaRPr>
            </a:p>
          </p:txBody>
        </p:sp>
        <p:grpSp>
          <p:nvGrpSpPr>
            <p:cNvPr id="103" name="integral_2_group"/>
            <p:cNvGrpSpPr/>
            <p:nvPr/>
          </p:nvGrpSpPr>
          <p:grpSpPr>
            <a:xfrm>
              <a:off x="4195440" y="2552760"/>
              <a:ext cx="586800" cy="185040"/>
              <a:chOff x="4195440" y="2552760"/>
              <a:chExt cx="586800" cy="185040"/>
            </a:xfrm>
          </p:grpSpPr>
          <p:sp>
            <p:nvSpPr>
              <p:cNvPr id="104" name="integral_2"/>
              <p:cNvSpPr/>
              <p:nvPr/>
            </p:nvSpPr>
            <p:spPr>
              <a:xfrm>
                <a:off x="4195440" y="2552760"/>
                <a:ext cx="586800" cy="185040"/>
              </a:xfrm>
              <a:prstGeom prst="roundRect">
                <a:avLst>
                  <a:gd name="adj" fmla="val 15000"/>
                </a:avLst>
              </a:prstGeom>
              <a:solidFill>
                <a:srgbClr val="EAF1FA"/>
              </a:solidFill>
              <a:ln w="5318">
                <a:solidFill>
                  <a:srgbClr val="687681"/>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05" name="integral_2_title"/>
              <p:cNvSpPr/>
              <p:nvPr/>
            </p:nvSpPr>
            <p:spPr>
              <a:xfrm>
                <a:off x="4213080" y="256752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Integral</a:t>
                </a:r>
              </a:p>
            </p:txBody>
          </p:sp>
        </p:grpSp>
        <p:sp>
          <p:nvSpPr>
            <p:cNvPr id="106" name="weight_2"/>
            <p:cNvSpPr/>
            <p:nvPr/>
          </p:nvSpPr>
          <p:spPr>
            <a:xfrm>
              <a:off x="4033080" y="2907360"/>
              <a:ext cx="91188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108" name="box_2_group"/>
            <p:cNvGrpSpPr/>
            <p:nvPr/>
          </p:nvGrpSpPr>
          <p:grpSpPr>
            <a:xfrm>
              <a:off x="5436360" y="2552760"/>
              <a:ext cx="658440" cy="185040"/>
              <a:chOff x="5436360" y="2552760"/>
              <a:chExt cx="658440" cy="185040"/>
            </a:xfrm>
            <a:solidFill>
              <a:srgbClr val="F8DAB9"/>
            </a:solidFill>
          </p:grpSpPr>
          <p:sp>
            <p:nvSpPr>
              <p:cNvPr id="109" name="box_2"/>
              <p:cNvSpPr/>
              <p:nvPr/>
            </p:nvSpPr>
            <p:spPr>
              <a:xfrm>
                <a:off x="5436360" y="2552760"/>
                <a:ext cx="658440" cy="185040"/>
              </a:xfrm>
              <a:prstGeom prst="roundRect">
                <a:avLst>
                  <a:gd name="adj" fmla="val 15000"/>
                </a:avLst>
              </a:prstGeom>
              <a:grpFill/>
              <a:ln w="5318">
                <a:solidFill>
                  <a:srgbClr val="687681"/>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10" name="box_2_title"/>
              <p:cNvSpPr/>
              <p:nvPr/>
            </p:nvSpPr>
            <p:spPr>
              <a:xfrm>
                <a:off x="5454000" y="2567520"/>
                <a:ext cx="610560" cy="155520"/>
              </a:xfrm>
              <a:prstGeom prst="rect">
                <a:avLst/>
              </a:prstGeom>
              <a:grp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Box Decoder</a:t>
                </a:r>
              </a:p>
            </p:txBody>
          </p:sp>
        </p:grpSp>
        <p:sp>
          <p:nvSpPr>
            <p:cNvPr id="111" name="scale_2"/>
            <p:cNvSpPr/>
            <p:nvPr/>
          </p:nvSpPr>
          <p:spPr>
            <a:xfrm>
              <a:off x="4830840" y="2122560"/>
              <a:ext cx="882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Adaptive scale </a:t>
              </a:r>
              <a:r>
                <a:rPr lang="en-US" altLang="zh-CN" sz="800" b="1" i="1" dirty="0" err="1">
                  <a:latin typeface="Times New Roman" panose="02020603050405020304" pitchFamily="18" charset="0"/>
                  <a:cs typeface="Times New Roman" panose="02020603050405020304" pitchFamily="18" charset="0"/>
                </a:rPr>
                <a:t>r</a:t>
              </a:r>
              <a:r>
                <a:rPr lang="en-US" altLang="zh-CN" sz="800" b="1" i="1" baseline="-25000" dirty="0" err="1">
                  <a:latin typeface="Times New Roman" panose="02020603050405020304" pitchFamily="18" charset="0"/>
                  <a:cs typeface="Times New Roman" panose="02020603050405020304" pitchFamily="18" charset="0"/>
                </a:rPr>
                <a:t>i</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112" name="box_b0_2"/>
            <p:cNvSpPr/>
            <p:nvPr/>
          </p:nvSpPr>
          <p:spPr>
            <a:xfrm>
              <a:off x="5687640" y="290448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114" name="lqe_2_group"/>
            <p:cNvGrpSpPr/>
            <p:nvPr/>
          </p:nvGrpSpPr>
          <p:grpSpPr>
            <a:xfrm>
              <a:off x="4678488" y="2940840"/>
              <a:ext cx="677160" cy="173160"/>
              <a:chOff x="5433480" y="3111120"/>
              <a:chExt cx="677160" cy="173160"/>
            </a:xfrm>
            <a:solidFill>
              <a:srgbClr val="DFECC0"/>
            </a:solidFill>
          </p:grpSpPr>
          <p:sp>
            <p:nvSpPr>
              <p:cNvPr id="115" name="lqe_2"/>
              <p:cNvSpPr/>
              <p:nvPr/>
            </p:nvSpPr>
            <p:spPr>
              <a:xfrm>
                <a:off x="5433480" y="3111120"/>
                <a:ext cx="677160" cy="173160"/>
              </a:xfrm>
              <a:prstGeom prst="roundRect">
                <a:avLst>
                  <a:gd name="adj" fmla="val 15000"/>
                </a:avLst>
              </a:prstGeom>
              <a:grpFill/>
              <a:ln w="5318">
                <a:solidFill>
                  <a:srgbClr val="84966B"/>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16" name="lqe_2_title"/>
              <p:cNvSpPr/>
              <p:nvPr/>
            </p:nvSpPr>
            <p:spPr>
              <a:xfrm>
                <a:off x="5454000" y="3125880"/>
                <a:ext cx="610560" cy="143640"/>
              </a:xfrm>
              <a:prstGeom prst="rect">
                <a:avLst/>
              </a:prstGeom>
              <a:grp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26">
                    <a:effectLst/>
                    <a:uFillTx/>
                    <a:latin typeface="Times New Roman" panose="02020603050405020304" pitchFamily="18" charset="0"/>
                    <a:cs typeface="Times New Roman" panose="02020603050405020304" pitchFamily="18" charset="0"/>
                  </a:rPr>
                  <a:t>LQE + Entropy</a:t>
                </a:r>
                <a:endParaRPr lang="en-US" sz="700" b="1" u="none" strike="noStrike">
                  <a:effectLst/>
                  <a:uFillTx/>
                  <a:latin typeface="Times New Roman" panose="02020603050405020304" pitchFamily="18" charset="0"/>
                  <a:cs typeface="Times New Roman" panose="02020603050405020304" pitchFamily="18" charset="0"/>
                </a:endParaRPr>
              </a:p>
            </p:txBody>
          </p:sp>
        </p:grpSp>
        <p:sp>
          <p:nvSpPr>
            <p:cNvPr id="117" name="class_feature_2"/>
            <p:cNvSpPr/>
            <p:nvPr/>
          </p:nvSpPr>
          <p:spPr>
            <a:xfrm>
              <a:off x="4727160" y="314964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18" name="class_feature_2_text"/>
            <p:cNvSpPr/>
            <p:nvPr/>
          </p:nvSpPr>
          <p:spPr>
            <a:xfrm>
              <a:off x="5917338" y="295971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2</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19" name="class_input_label_2"/>
            <p:cNvSpPr/>
            <p:nvPr/>
          </p:nvSpPr>
          <p:spPr>
            <a:xfrm>
              <a:off x="5360617" y="3035148"/>
              <a:ext cx="5277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Class logits</a:t>
              </a:r>
            </a:p>
          </p:txBody>
        </p:sp>
        <p:sp>
          <p:nvSpPr>
            <p:cNvPr id="120" name="reference_input_2"/>
            <p:cNvSpPr/>
            <p:nvPr/>
          </p:nvSpPr>
          <p:spPr>
            <a:xfrm>
              <a:off x="1211400" y="2597040"/>
              <a:ext cx="15840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9200" tIns="45000" rIns="79200" bIns="45000" anchor="ctr">
              <a:noAutofit/>
            </a:bodyPr>
            <a:lstStyle/>
            <a:p>
              <a:endParaRPr lang="en-US" sz="900" b="1" u="none" strike="noStrike">
                <a:effectLst/>
                <a:uFillTx/>
                <a:latin typeface="Times New Roman" panose="02020603050405020304" pitchFamily="18" charset="0"/>
                <a:cs typeface="Times New Roman" panose="02020603050405020304" pitchFamily="18" charset="0"/>
              </a:endParaRPr>
            </a:p>
          </p:txBody>
        </p:sp>
        <p:sp>
          <p:nvSpPr>
            <p:cNvPr id="121" name="reference_input_2_text"/>
            <p:cNvSpPr/>
            <p:nvPr/>
          </p:nvSpPr>
          <p:spPr>
            <a:xfrm>
              <a:off x="1211400" y="2595240"/>
              <a:ext cx="15840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1</a:t>
              </a:r>
              <a:endParaRPr lang="en-US" sz="900" b="1" u="none" strike="noStrike" dirty="0">
                <a:effectLst/>
                <a:uFillTx/>
                <a:latin typeface="Times New Roman" panose="02020603050405020304" pitchFamily="18" charset="0"/>
                <a:cs typeface="Times New Roman" panose="02020603050405020304" pitchFamily="18" charset="0"/>
              </a:endParaRPr>
            </a:p>
          </p:txBody>
        </p:sp>
        <p:grpSp>
          <p:nvGrpSpPr>
            <p:cNvPr id="122" name="ddo_3_group"/>
            <p:cNvGrpSpPr/>
            <p:nvPr/>
          </p:nvGrpSpPr>
          <p:grpSpPr>
            <a:xfrm>
              <a:off x="4195440" y="3341520"/>
              <a:ext cx="586800" cy="185040"/>
              <a:chOff x="4195440" y="3341520"/>
              <a:chExt cx="586800" cy="185040"/>
            </a:xfrm>
          </p:grpSpPr>
          <p:sp>
            <p:nvSpPr>
              <p:cNvPr id="123" name="ddo_3"/>
              <p:cNvSpPr/>
              <p:nvPr/>
            </p:nvSpPr>
            <p:spPr>
              <a:xfrm>
                <a:off x="4195440" y="3341520"/>
                <a:ext cx="586800" cy="185040"/>
              </a:xfrm>
              <a:prstGeom prst="roundRect">
                <a:avLst>
                  <a:gd name="adj" fmla="val 15000"/>
                </a:avLst>
              </a:prstGeom>
              <a:solidFill>
                <a:srgbClr val="FFF1CC"/>
              </a:solidFill>
              <a:ln w="5318">
                <a:solidFill>
                  <a:srgbClr val="B39A6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24" name="ddo_3_title"/>
              <p:cNvSpPr/>
              <p:nvPr/>
            </p:nvSpPr>
            <p:spPr>
              <a:xfrm>
                <a:off x="4213080" y="335628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DDO</a:t>
                </a:r>
              </a:p>
            </p:txBody>
          </p:sp>
        </p:grpSp>
        <p:sp>
          <p:nvSpPr>
            <p:cNvPr id="125" name="ddo_b0_3"/>
            <p:cNvSpPr/>
            <p:nvPr/>
          </p:nvSpPr>
          <p:spPr>
            <a:xfrm>
              <a:off x="4417200" y="308160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26" name="ddo_b0_3_text"/>
            <p:cNvSpPr/>
            <p:nvPr/>
          </p:nvSpPr>
          <p:spPr>
            <a:xfrm>
              <a:off x="4234578" y="314784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0</a:t>
              </a:r>
              <a:endParaRPr lang="en-US" sz="900" b="1" u="none" strike="noStrike" dirty="0">
                <a:effectLst/>
                <a:uFillTx/>
                <a:latin typeface="Times New Roman" panose="02020603050405020304" pitchFamily="18" charset="0"/>
                <a:cs typeface="Times New Roman" panose="02020603050405020304" pitchFamily="18" charset="0"/>
              </a:endParaRPr>
            </a:p>
          </p:txBody>
        </p:sp>
        <p:grpSp>
          <p:nvGrpSpPr>
            <p:cNvPr id="127" name="integral_3_group"/>
            <p:cNvGrpSpPr/>
            <p:nvPr/>
          </p:nvGrpSpPr>
          <p:grpSpPr>
            <a:xfrm>
              <a:off x="4195440" y="3734640"/>
              <a:ext cx="586800" cy="185040"/>
              <a:chOff x="4195440" y="3734640"/>
              <a:chExt cx="586800" cy="185040"/>
            </a:xfrm>
          </p:grpSpPr>
          <p:sp>
            <p:nvSpPr>
              <p:cNvPr id="128" name="integral_3"/>
              <p:cNvSpPr/>
              <p:nvPr/>
            </p:nvSpPr>
            <p:spPr>
              <a:xfrm>
                <a:off x="4195440" y="3734640"/>
                <a:ext cx="586800" cy="185040"/>
              </a:xfrm>
              <a:prstGeom prst="roundRect">
                <a:avLst>
                  <a:gd name="adj" fmla="val 15000"/>
                </a:avLst>
              </a:prstGeom>
              <a:solidFill>
                <a:srgbClr val="EAF1FA"/>
              </a:solidFill>
              <a:ln w="5318">
                <a:solidFill>
                  <a:srgbClr val="687681"/>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29" name="integral_3_title"/>
              <p:cNvSpPr/>
              <p:nvPr/>
            </p:nvSpPr>
            <p:spPr>
              <a:xfrm>
                <a:off x="4213080" y="374940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Integral</a:t>
                </a:r>
              </a:p>
            </p:txBody>
          </p:sp>
        </p:grpSp>
        <p:sp>
          <p:nvSpPr>
            <p:cNvPr id="130" name="weight_3"/>
            <p:cNvSpPr/>
            <p:nvPr/>
          </p:nvSpPr>
          <p:spPr>
            <a:xfrm>
              <a:off x="4033080" y="4089240"/>
              <a:ext cx="91188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132" name="box_3_group"/>
            <p:cNvGrpSpPr/>
            <p:nvPr/>
          </p:nvGrpSpPr>
          <p:grpSpPr>
            <a:xfrm>
              <a:off x="5436360" y="3734640"/>
              <a:ext cx="658440" cy="185040"/>
              <a:chOff x="5436360" y="3734640"/>
              <a:chExt cx="658440" cy="185040"/>
            </a:xfrm>
            <a:solidFill>
              <a:srgbClr val="F8DAB9"/>
            </a:solidFill>
          </p:grpSpPr>
          <p:sp>
            <p:nvSpPr>
              <p:cNvPr id="133" name="box_3"/>
              <p:cNvSpPr/>
              <p:nvPr/>
            </p:nvSpPr>
            <p:spPr>
              <a:xfrm>
                <a:off x="5436360" y="3734640"/>
                <a:ext cx="658440" cy="185040"/>
              </a:xfrm>
              <a:prstGeom prst="roundRect">
                <a:avLst>
                  <a:gd name="adj" fmla="val 15000"/>
                </a:avLst>
              </a:prstGeom>
              <a:grpFill/>
              <a:ln w="5318">
                <a:solidFill>
                  <a:srgbClr val="687681"/>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34" name="box_3_title"/>
              <p:cNvSpPr/>
              <p:nvPr/>
            </p:nvSpPr>
            <p:spPr>
              <a:xfrm>
                <a:off x="5454000" y="3749400"/>
                <a:ext cx="610560" cy="155520"/>
              </a:xfrm>
              <a:prstGeom prst="rect">
                <a:avLst/>
              </a:prstGeom>
              <a:grp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Box Decoder</a:t>
                </a:r>
              </a:p>
            </p:txBody>
          </p:sp>
        </p:grpSp>
        <p:sp>
          <p:nvSpPr>
            <p:cNvPr id="135" name="scale_3"/>
            <p:cNvSpPr/>
            <p:nvPr/>
          </p:nvSpPr>
          <p:spPr>
            <a:xfrm>
              <a:off x="4830840" y="3304440"/>
              <a:ext cx="882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Adaptive scale </a:t>
              </a:r>
              <a:r>
                <a:rPr lang="en-US" altLang="zh-CN" sz="800" b="1" i="1" dirty="0" err="1">
                  <a:latin typeface="Times New Roman" panose="02020603050405020304" pitchFamily="18" charset="0"/>
                  <a:cs typeface="Times New Roman" panose="02020603050405020304" pitchFamily="18" charset="0"/>
                </a:rPr>
                <a:t>r</a:t>
              </a:r>
              <a:r>
                <a:rPr lang="en-US" altLang="zh-CN" sz="800" b="1" i="1" baseline="-25000" dirty="0" err="1">
                  <a:latin typeface="Times New Roman" panose="02020603050405020304" pitchFamily="18" charset="0"/>
                  <a:cs typeface="Times New Roman" panose="02020603050405020304" pitchFamily="18" charset="0"/>
                </a:rPr>
                <a:t>i</a:t>
              </a:r>
              <a:endParaRPr lang="en-US" sz="650" b="1" u="none" strike="noStrike" dirty="0">
                <a:effectLst/>
                <a:uFillTx/>
                <a:latin typeface="Times New Roman" panose="02020603050405020304" pitchFamily="18" charset="0"/>
                <a:cs typeface="Times New Roman" panose="02020603050405020304" pitchFamily="18" charset="0"/>
              </a:endParaRPr>
            </a:p>
          </p:txBody>
        </p:sp>
        <p:grpSp>
          <p:nvGrpSpPr>
            <p:cNvPr id="138" name="lqe_3_group"/>
            <p:cNvGrpSpPr/>
            <p:nvPr/>
          </p:nvGrpSpPr>
          <p:grpSpPr>
            <a:xfrm>
              <a:off x="4710941" y="4120560"/>
              <a:ext cx="677160" cy="173160"/>
              <a:chOff x="5433480" y="4293000"/>
              <a:chExt cx="677160" cy="173160"/>
            </a:xfrm>
          </p:grpSpPr>
          <p:sp>
            <p:nvSpPr>
              <p:cNvPr id="139" name="lqe_3"/>
              <p:cNvSpPr/>
              <p:nvPr/>
            </p:nvSpPr>
            <p:spPr>
              <a:xfrm>
                <a:off x="5433480" y="4293000"/>
                <a:ext cx="677160" cy="173160"/>
              </a:xfrm>
              <a:prstGeom prst="roundRect">
                <a:avLst>
                  <a:gd name="adj" fmla="val 15000"/>
                </a:avLst>
              </a:prstGeom>
              <a:solidFill>
                <a:srgbClr val="DFECC0"/>
              </a:solidFill>
              <a:ln w="5318">
                <a:solidFill>
                  <a:srgbClr val="84966B"/>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40" name="lqe_3_title"/>
              <p:cNvSpPr/>
              <p:nvPr/>
            </p:nvSpPr>
            <p:spPr>
              <a:xfrm>
                <a:off x="5454000" y="4307760"/>
                <a:ext cx="610560" cy="1436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26">
                    <a:effectLst/>
                    <a:uFillTx/>
                    <a:latin typeface="Times New Roman" panose="02020603050405020304" pitchFamily="18" charset="0"/>
                    <a:cs typeface="Times New Roman" panose="02020603050405020304" pitchFamily="18" charset="0"/>
                  </a:rPr>
                  <a:t>LQE + Entropy</a:t>
                </a:r>
                <a:endParaRPr lang="en-US" sz="700" b="1" u="none" strike="noStrike">
                  <a:effectLst/>
                  <a:uFillTx/>
                  <a:latin typeface="Times New Roman" panose="02020603050405020304" pitchFamily="18" charset="0"/>
                  <a:cs typeface="Times New Roman" panose="02020603050405020304" pitchFamily="18" charset="0"/>
                </a:endParaRPr>
              </a:p>
            </p:txBody>
          </p:sp>
        </p:grpSp>
        <p:sp>
          <p:nvSpPr>
            <p:cNvPr id="141" name="class_feature_3"/>
            <p:cNvSpPr/>
            <p:nvPr/>
          </p:nvSpPr>
          <p:spPr>
            <a:xfrm>
              <a:off x="4727160" y="433152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42" name="class_feature_3_text"/>
            <p:cNvSpPr/>
            <p:nvPr/>
          </p:nvSpPr>
          <p:spPr>
            <a:xfrm>
              <a:off x="5907657" y="4152235"/>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3</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43" name="class_input_label_3"/>
            <p:cNvSpPr/>
            <p:nvPr/>
          </p:nvSpPr>
          <p:spPr>
            <a:xfrm>
              <a:off x="5389578" y="4200979"/>
              <a:ext cx="5277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Class logits</a:t>
              </a:r>
            </a:p>
          </p:txBody>
        </p:sp>
        <p:sp>
          <p:nvSpPr>
            <p:cNvPr id="144" name="reference_input_3"/>
            <p:cNvSpPr/>
            <p:nvPr/>
          </p:nvSpPr>
          <p:spPr>
            <a:xfrm>
              <a:off x="1211400" y="3778920"/>
              <a:ext cx="15840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9200" tIns="45000" rIns="79200" bIns="45000" anchor="ctr">
              <a:noAutofit/>
            </a:bodyPr>
            <a:lstStyle/>
            <a:p>
              <a:endParaRPr lang="en-US" sz="900" b="1" u="none" strike="noStrike">
                <a:effectLst/>
                <a:uFillTx/>
                <a:latin typeface="Times New Roman" panose="02020603050405020304" pitchFamily="18" charset="0"/>
                <a:cs typeface="Times New Roman" panose="02020603050405020304" pitchFamily="18" charset="0"/>
              </a:endParaRPr>
            </a:p>
          </p:txBody>
        </p:sp>
        <p:sp>
          <p:nvSpPr>
            <p:cNvPr id="145" name="reference_input_3_text"/>
            <p:cNvSpPr/>
            <p:nvPr/>
          </p:nvSpPr>
          <p:spPr>
            <a:xfrm>
              <a:off x="1211400" y="3777120"/>
              <a:ext cx="15840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a:effectLst/>
                  <a:uFillTx/>
                  <a:latin typeface="Times New Roman" panose="02020603050405020304" pitchFamily="18" charset="0"/>
                  <a:cs typeface="Times New Roman" panose="02020603050405020304" pitchFamily="18" charset="0"/>
                </a:rPr>
                <a:t>b</a:t>
              </a:r>
              <a:r>
                <a:rPr lang="en-US" sz="900" b="1" i="1" u="none" strike="noStrike" baseline="-25000">
                  <a:effectLst/>
                  <a:uFillTx/>
                  <a:latin typeface="Times New Roman" panose="02020603050405020304" pitchFamily="18" charset="0"/>
                  <a:cs typeface="Times New Roman" panose="02020603050405020304" pitchFamily="18" charset="0"/>
                </a:rPr>
                <a:t>2</a:t>
              </a:r>
              <a:endParaRPr lang="en-US" sz="900" b="1" u="none" strike="noStrike">
                <a:effectLst/>
                <a:uFillTx/>
                <a:latin typeface="Times New Roman" panose="02020603050405020304" pitchFamily="18" charset="0"/>
                <a:cs typeface="Times New Roman" panose="02020603050405020304" pitchFamily="18" charset="0"/>
              </a:endParaRPr>
            </a:p>
          </p:txBody>
        </p:sp>
        <p:grpSp>
          <p:nvGrpSpPr>
            <p:cNvPr id="146" name="ddo_6_group"/>
            <p:cNvGrpSpPr/>
            <p:nvPr/>
          </p:nvGrpSpPr>
          <p:grpSpPr>
            <a:xfrm>
              <a:off x="4195440" y="4671360"/>
              <a:ext cx="586800" cy="185040"/>
              <a:chOff x="4195440" y="4671360"/>
              <a:chExt cx="586800" cy="185040"/>
            </a:xfrm>
          </p:grpSpPr>
          <p:sp>
            <p:nvSpPr>
              <p:cNvPr id="147" name="ddo_6"/>
              <p:cNvSpPr/>
              <p:nvPr/>
            </p:nvSpPr>
            <p:spPr>
              <a:xfrm>
                <a:off x="4195440" y="4671360"/>
                <a:ext cx="586800" cy="185040"/>
              </a:xfrm>
              <a:prstGeom prst="roundRect">
                <a:avLst>
                  <a:gd name="adj" fmla="val 15000"/>
                </a:avLst>
              </a:prstGeom>
              <a:solidFill>
                <a:srgbClr val="FFF1CC"/>
              </a:solidFill>
              <a:ln w="5318">
                <a:solidFill>
                  <a:srgbClr val="B39A6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48" name="ddo_6_title"/>
              <p:cNvSpPr/>
              <p:nvPr/>
            </p:nvSpPr>
            <p:spPr>
              <a:xfrm>
                <a:off x="4213080" y="468612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DDO</a:t>
                </a:r>
              </a:p>
            </p:txBody>
          </p:sp>
        </p:grpSp>
        <p:sp>
          <p:nvSpPr>
            <p:cNvPr id="149" name="ddo_b0_6"/>
            <p:cNvSpPr/>
            <p:nvPr/>
          </p:nvSpPr>
          <p:spPr>
            <a:xfrm>
              <a:off x="4417200" y="441108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50" name="ddo_b0_6_text"/>
            <p:cNvSpPr/>
            <p:nvPr/>
          </p:nvSpPr>
          <p:spPr>
            <a:xfrm>
              <a:off x="4236392" y="449369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0</a:t>
              </a:r>
              <a:endParaRPr lang="en-US" sz="900" b="1" u="none" strike="noStrike" dirty="0">
                <a:effectLst/>
                <a:uFillTx/>
                <a:latin typeface="Times New Roman" panose="02020603050405020304" pitchFamily="18" charset="0"/>
                <a:cs typeface="Times New Roman" panose="02020603050405020304" pitchFamily="18" charset="0"/>
              </a:endParaRPr>
            </a:p>
          </p:txBody>
        </p:sp>
        <p:grpSp>
          <p:nvGrpSpPr>
            <p:cNvPr id="151" name="integral_6_group"/>
            <p:cNvGrpSpPr/>
            <p:nvPr/>
          </p:nvGrpSpPr>
          <p:grpSpPr>
            <a:xfrm>
              <a:off x="4195440" y="5064120"/>
              <a:ext cx="586800" cy="185040"/>
              <a:chOff x="4195440" y="5064120"/>
              <a:chExt cx="586800" cy="185040"/>
            </a:xfrm>
          </p:grpSpPr>
          <p:sp>
            <p:nvSpPr>
              <p:cNvPr id="152" name="integral_6"/>
              <p:cNvSpPr/>
              <p:nvPr/>
            </p:nvSpPr>
            <p:spPr>
              <a:xfrm>
                <a:off x="4195440" y="5064120"/>
                <a:ext cx="586800" cy="185040"/>
              </a:xfrm>
              <a:prstGeom prst="roundRect">
                <a:avLst>
                  <a:gd name="adj" fmla="val 15000"/>
                </a:avLst>
              </a:prstGeom>
              <a:solidFill>
                <a:srgbClr val="EAF1FA"/>
              </a:solidFill>
              <a:ln w="5318">
                <a:solidFill>
                  <a:srgbClr val="687681"/>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53" name="integral_6_title"/>
              <p:cNvSpPr/>
              <p:nvPr/>
            </p:nvSpPr>
            <p:spPr>
              <a:xfrm>
                <a:off x="4213080" y="5078880"/>
                <a:ext cx="551520" cy="1555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Integral</a:t>
                </a:r>
              </a:p>
            </p:txBody>
          </p:sp>
        </p:grpSp>
        <p:grpSp>
          <p:nvGrpSpPr>
            <p:cNvPr id="156" name="box_6_group"/>
            <p:cNvGrpSpPr/>
            <p:nvPr/>
          </p:nvGrpSpPr>
          <p:grpSpPr>
            <a:xfrm>
              <a:off x="5436360" y="5064120"/>
              <a:ext cx="658440" cy="185040"/>
              <a:chOff x="5436360" y="5064120"/>
              <a:chExt cx="658440" cy="185040"/>
            </a:xfrm>
            <a:solidFill>
              <a:srgbClr val="F8DAB9"/>
            </a:solidFill>
          </p:grpSpPr>
          <p:sp>
            <p:nvSpPr>
              <p:cNvPr id="157" name="box_6"/>
              <p:cNvSpPr/>
              <p:nvPr/>
            </p:nvSpPr>
            <p:spPr>
              <a:xfrm>
                <a:off x="5436360" y="5064120"/>
                <a:ext cx="658440" cy="185040"/>
              </a:xfrm>
              <a:prstGeom prst="roundRect">
                <a:avLst>
                  <a:gd name="adj" fmla="val 15000"/>
                </a:avLst>
              </a:prstGeom>
              <a:grpFill/>
              <a:ln w="5318">
                <a:solidFill>
                  <a:srgbClr val="687681"/>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58" name="box_6_title"/>
              <p:cNvSpPr/>
              <p:nvPr/>
            </p:nvSpPr>
            <p:spPr>
              <a:xfrm>
                <a:off x="5454000" y="5078880"/>
                <a:ext cx="610560" cy="155520"/>
              </a:xfrm>
              <a:prstGeom prst="rect">
                <a:avLst/>
              </a:prstGeom>
              <a:grp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Box Decoder</a:t>
                </a:r>
              </a:p>
            </p:txBody>
          </p:sp>
        </p:grpSp>
        <p:sp>
          <p:nvSpPr>
            <p:cNvPr id="159" name="scale_6"/>
            <p:cNvSpPr/>
            <p:nvPr/>
          </p:nvSpPr>
          <p:spPr>
            <a:xfrm>
              <a:off x="4830840" y="4633920"/>
              <a:ext cx="882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Adaptive scale </a:t>
              </a:r>
              <a:r>
                <a:rPr lang="en-US" altLang="zh-CN" sz="800" b="1" i="1" dirty="0" err="1">
                  <a:latin typeface="Times New Roman" panose="02020603050405020304" pitchFamily="18" charset="0"/>
                  <a:cs typeface="Times New Roman" panose="02020603050405020304" pitchFamily="18" charset="0"/>
                </a:rPr>
                <a:t>r</a:t>
              </a:r>
              <a:r>
                <a:rPr lang="en-US" altLang="zh-CN" sz="800" b="1" i="1" baseline="-25000" dirty="0" err="1">
                  <a:latin typeface="Times New Roman" panose="02020603050405020304" pitchFamily="18" charset="0"/>
                  <a:cs typeface="Times New Roman" panose="02020603050405020304" pitchFamily="18" charset="0"/>
                </a:rPr>
                <a:t>i</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160" name="box_b0_6"/>
            <p:cNvSpPr/>
            <p:nvPr/>
          </p:nvSpPr>
          <p:spPr>
            <a:xfrm>
              <a:off x="5687640" y="541584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162" name="lqe_6_group"/>
            <p:cNvGrpSpPr/>
            <p:nvPr/>
          </p:nvGrpSpPr>
          <p:grpSpPr>
            <a:xfrm>
              <a:off x="4686567" y="5487840"/>
              <a:ext cx="677160" cy="173160"/>
              <a:chOff x="5433480" y="5622480"/>
              <a:chExt cx="677160" cy="173160"/>
            </a:xfrm>
          </p:grpSpPr>
          <p:sp>
            <p:nvSpPr>
              <p:cNvPr id="163" name="lqe_6"/>
              <p:cNvSpPr/>
              <p:nvPr/>
            </p:nvSpPr>
            <p:spPr>
              <a:xfrm>
                <a:off x="5433480" y="5622480"/>
                <a:ext cx="677160" cy="173160"/>
              </a:xfrm>
              <a:prstGeom prst="roundRect">
                <a:avLst>
                  <a:gd name="adj" fmla="val 15000"/>
                </a:avLst>
              </a:prstGeom>
              <a:solidFill>
                <a:srgbClr val="DFECC0"/>
              </a:solidFill>
              <a:ln w="5318">
                <a:solidFill>
                  <a:srgbClr val="84966B"/>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64" name="lqe_6_title"/>
              <p:cNvSpPr/>
              <p:nvPr/>
            </p:nvSpPr>
            <p:spPr>
              <a:xfrm>
                <a:off x="5454000" y="5637240"/>
                <a:ext cx="610560" cy="1436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26">
                    <a:effectLst/>
                    <a:uFillTx/>
                    <a:latin typeface="Times New Roman" panose="02020603050405020304" pitchFamily="18" charset="0"/>
                    <a:cs typeface="Times New Roman" panose="02020603050405020304" pitchFamily="18" charset="0"/>
                  </a:rPr>
                  <a:t>LQE + Entropy</a:t>
                </a:r>
                <a:endParaRPr lang="en-US" sz="700" b="1" u="none" strike="noStrike">
                  <a:effectLst/>
                  <a:uFillTx/>
                  <a:latin typeface="Times New Roman" panose="02020603050405020304" pitchFamily="18" charset="0"/>
                  <a:cs typeface="Times New Roman" panose="02020603050405020304" pitchFamily="18" charset="0"/>
                </a:endParaRPr>
              </a:p>
            </p:txBody>
          </p:sp>
        </p:grpSp>
        <p:sp>
          <p:nvSpPr>
            <p:cNvPr id="165" name="class_feature_6"/>
            <p:cNvSpPr/>
            <p:nvPr/>
          </p:nvSpPr>
          <p:spPr>
            <a:xfrm>
              <a:off x="4727160" y="566100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66" name="class_feature_6_text"/>
            <p:cNvSpPr/>
            <p:nvPr/>
          </p:nvSpPr>
          <p:spPr>
            <a:xfrm>
              <a:off x="5888377" y="549846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6</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67" name="class_input_label_6"/>
            <p:cNvSpPr/>
            <p:nvPr/>
          </p:nvSpPr>
          <p:spPr>
            <a:xfrm>
              <a:off x="5374363" y="5577181"/>
              <a:ext cx="5277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Class logits</a:t>
              </a:r>
            </a:p>
          </p:txBody>
        </p:sp>
        <p:sp>
          <p:nvSpPr>
            <p:cNvPr id="168" name="reference_input_6"/>
            <p:cNvSpPr/>
            <p:nvPr/>
          </p:nvSpPr>
          <p:spPr>
            <a:xfrm>
              <a:off x="1211400" y="5108400"/>
              <a:ext cx="15840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9200" tIns="45000" rIns="79200" bIns="45000" anchor="ctr">
              <a:noAutofit/>
            </a:bodyPr>
            <a:lstStyle/>
            <a:p>
              <a:endParaRPr lang="en-US" sz="800" b="1" u="none" strike="noStrike">
                <a:effectLst/>
                <a:uFillTx/>
                <a:latin typeface="Times New Roman" panose="02020603050405020304" pitchFamily="18" charset="0"/>
                <a:cs typeface="Times New Roman" panose="02020603050405020304" pitchFamily="18" charset="0"/>
              </a:endParaRPr>
            </a:p>
          </p:txBody>
        </p:sp>
        <p:sp>
          <p:nvSpPr>
            <p:cNvPr id="169" name="reference_input_6_text"/>
            <p:cNvSpPr/>
            <p:nvPr/>
          </p:nvSpPr>
          <p:spPr>
            <a:xfrm>
              <a:off x="1211400" y="5106600"/>
              <a:ext cx="15840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5</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70" name="feature_source_1"/>
            <p:cNvSpPr/>
            <p:nvPr/>
          </p:nvSpPr>
          <p:spPr>
            <a:xfrm>
              <a:off x="2009160" y="176112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71" name="feature_source_1_text"/>
            <p:cNvSpPr/>
            <p:nvPr/>
          </p:nvSpPr>
          <p:spPr>
            <a:xfrm>
              <a:off x="2009160" y="184014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1</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172" name="feature_source_2"/>
            <p:cNvSpPr/>
            <p:nvPr/>
          </p:nvSpPr>
          <p:spPr>
            <a:xfrm>
              <a:off x="2009160" y="294264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73" name="feature_source_2_text"/>
            <p:cNvSpPr/>
            <p:nvPr/>
          </p:nvSpPr>
          <p:spPr>
            <a:xfrm>
              <a:off x="2012687" y="2971569"/>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2</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74" name="feature_source_3"/>
            <p:cNvSpPr/>
            <p:nvPr/>
          </p:nvSpPr>
          <p:spPr>
            <a:xfrm>
              <a:off x="2009160" y="412452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75" name="feature_source_3_text"/>
            <p:cNvSpPr/>
            <p:nvPr/>
          </p:nvSpPr>
          <p:spPr>
            <a:xfrm>
              <a:off x="2009160" y="412272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3</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76" name="feature_source_6"/>
            <p:cNvSpPr/>
            <p:nvPr/>
          </p:nvSpPr>
          <p:spPr>
            <a:xfrm>
              <a:off x="2009160" y="5454360"/>
              <a:ext cx="143640" cy="964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72000" tIns="45000" rIns="72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77" name="feature_source_6_text"/>
            <p:cNvSpPr/>
            <p:nvPr/>
          </p:nvSpPr>
          <p:spPr>
            <a:xfrm>
              <a:off x="2009160" y="5452560"/>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h</a:t>
              </a:r>
              <a:r>
                <a:rPr lang="en-US" sz="900" b="1" i="1" u="none" strike="noStrike" baseline="-25000" dirty="0">
                  <a:effectLst/>
                  <a:uFillTx/>
                  <a:latin typeface="Times New Roman" panose="02020603050405020304" pitchFamily="18" charset="0"/>
                  <a:cs typeface="Times New Roman" panose="02020603050405020304" pitchFamily="18" charset="0"/>
                </a:rPr>
                <a:t>6</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178" name="query_ellipsis"/>
            <p:cNvSpPr/>
            <p:nvPr/>
          </p:nvSpPr>
          <p:spPr>
            <a:xfrm>
              <a:off x="1764000" y="4434840"/>
              <a:ext cx="102240" cy="1969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1000" b="1" u="none" strike="noStrike" dirty="0">
                  <a:effectLst/>
                  <a:uFillTx/>
                  <a:latin typeface="Times New Roman" panose="02020603050405020304" pitchFamily="18" charset="0"/>
                  <a:cs typeface="Times New Roman" panose="02020603050405020304" pitchFamily="18" charset="0"/>
                </a:rPr>
                <a:t>⋮</a:t>
              </a:r>
            </a:p>
          </p:txBody>
        </p:sp>
        <p:sp>
          <p:nvSpPr>
            <p:cNvPr id="179" name="residual_ellipsis"/>
            <p:cNvSpPr/>
            <p:nvPr/>
          </p:nvSpPr>
          <p:spPr>
            <a:xfrm>
              <a:off x="2258640" y="4434840"/>
              <a:ext cx="102240" cy="1969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1000" b="1" u="none" strike="noStrike" dirty="0">
                  <a:effectLst/>
                  <a:uFillTx/>
                  <a:latin typeface="Times New Roman" panose="02020603050405020304" pitchFamily="18" charset="0"/>
                  <a:cs typeface="Times New Roman" panose="02020603050405020304" pitchFamily="18" charset="0"/>
                </a:rPr>
                <a:t>⋮</a:t>
              </a:r>
            </a:p>
          </p:txBody>
        </p:sp>
        <p:sp>
          <p:nvSpPr>
            <p:cNvPr id="180" name="omitted_layers"/>
            <p:cNvSpPr/>
            <p:nvPr/>
          </p:nvSpPr>
          <p:spPr>
            <a:xfrm>
              <a:off x="1532366" y="4357630"/>
              <a:ext cx="1122634" cy="212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Layer</a:t>
              </a:r>
              <a:r>
                <a:rPr lang="en-US" sz="650" b="1" dirty="0">
                  <a:latin typeface="Times New Roman" panose="02020603050405020304" pitchFamily="18" charset="0"/>
                  <a:cs typeface="Times New Roman" panose="02020603050405020304" pitchFamily="18" charset="0"/>
                </a:rPr>
                <a:t> </a:t>
              </a:r>
              <a:r>
                <a:rPr lang="en-US" sz="650" b="1" u="none" strike="noStrike" dirty="0">
                  <a:effectLst/>
                  <a:uFillTx/>
                  <a:latin typeface="Times New Roman" panose="02020603050405020304" pitchFamily="18" charset="0"/>
                  <a:cs typeface="Times New Roman" panose="02020603050405020304" pitchFamily="18" charset="0"/>
                </a:rPr>
                <a:t>4</a:t>
              </a:r>
            </a:p>
          </p:txBody>
        </p:sp>
        <p:sp>
          <p:nvSpPr>
            <p:cNvPr id="181" name="omitted_reference"/>
            <p:cNvSpPr/>
            <p:nvPr/>
          </p:nvSpPr>
          <p:spPr>
            <a:xfrm>
              <a:off x="1014671" y="5262480"/>
              <a:ext cx="4834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800" b="1" dirty="0">
                  <a:latin typeface="Times New Roman" panose="02020603050405020304" pitchFamily="18" charset="0"/>
                  <a:cs typeface="Times New Roman" panose="02020603050405020304" pitchFamily="18" charset="0"/>
                </a:rPr>
                <a:t>F</a:t>
              </a:r>
              <a:r>
                <a:rPr lang="en-US" sz="800" b="1" u="none" strike="noStrike" dirty="0">
                  <a:effectLst/>
                  <a:uFillTx/>
                  <a:latin typeface="Times New Roman" panose="02020603050405020304" pitchFamily="18" charset="0"/>
                  <a:cs typeface="Times New Roman" panose="02020603050405020304" pitchFamily="18" charset="0"/>
                </a:rPr>
                <a:t>rom layer 5</a:t>
              </a:r>
            </a:p>
          </p:txBody>
        </p:sp>
        <p:sp>
          <p:nvSpPr>
            <p:cNvPr id="182" name="clc_ellipsis"/>
            <p:cNvSpPr/>
            <p:nvPr/>
          </p:nvSpPr>
          <p:spPr>
            <a:xfrm>
              <a:off x="3137760" y="4434840"/>
              <a:ext cx="102240" cy="1969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1000" b="1" u="none" strike="noStrike" dirty="0">
                  <a:effectLst/>
                  <a:uFillTx/>
                  <a:latin typeface="Times New Roman" panose="02020603050405020304" pitchFamily="18" charset="0"/>
                  <a:cs typeface="Times New Roman" panose="02020603050405020304" pitchFamily="18" charset="0"/>
                </a:rPr>
                <a:t>⋮</a:t>
              </a:r>
            </a:p>
          </p:txBody>
        </p:sp>
        <p:sp>
          <p:nvSpPr>
            <p:cNvPr id="183" name="query_caption"/>
            <p:cNvSpPr/>
            <p:nvPr/>
          </p:nvSpPr>
          <p:spPr>
            <a:xfrm rot="5400000">
              <a:off x="1609020" y="1926360"/>
              <a:ext cx="306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Queries</a:t>
              </a:r>
            </a:p>
          </p:txBody>
        </p:sp>
        <p:sp>
          <p:nvSpPr>
            <p:cNvPr id="184" name="residual_caption"/>
            <p:cNvSpPr/>
            <p:nvPr/>
          </p:nvSpPr>
          <p:spPr>
            <a:xfrm rot="5400000">
              <a:off x="2081917" y="1973483"/>
              <a:ext cx="639275" cy="133909"/>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Logit </a:t>
              </a:r>
              <a:r>
                <a:rPr lang="en-US" altLang="zh-CN" sz="650" b="1" dirty="0">
                  <a:latin typeface="Times New Roman" panose="02020603050405020304" pitchFamily="18" charset="0"/>
                  <a:cs typeface="Times New Roman" panose="02020603050405020304" pitchFamily="18" charset="0"/>
                </a:rPr>
                <a:t>Residual</a:t>
              </a:r>
            </a:p>
          </p:txBody>
        </p:sp>
        <p:sp>
          <p:nvSpPr>
            <p:cNvPr id="185" name="final_caption"/>
            <p:cNvSpPr/>
            <p:nvPr/>
          </p:nvSpPr>
          <p:spPr>
            <a:xfrm>
              <a:off x="6286502" y="5957544"/>
              <a:ext cx="749030" cy="115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u="none" strike="noStrike" dirty="0">
                  <a:effectLst/>
                  <a:uFillTx/>
                  <a:latin typeface="Times New Roman" panose="02020603050405020304" pitchFamily="18" charset="0"/>
                  <a:cs typeface="Times New Roman" panose="02020603050405020304" pitchFamily="18" charset="0"/>
                </a:rPr>
                <a:t>Final Detections</a:t>
              </a:r>
            </a:p>
          </p:txBody>
        </p:sp>
        <p:sp>
          <p:nvSpPr>
            <p:cNvPr id="186" name="frd"/>
            <p:cNvSpPr/>
            <p:nvPr/>
          </p:nvSpPr>
          <p:spPr>
            <a:xfrm>
              <a:off x="2159952" y="5814085"/>
              <a:ext cx="1889619" cy="321120"/>
            </a:xfrm>
            <a:prstGeom prst="roundRect">
              <a:avLst>
                <a:gd name="adj" fmla="val 15000"/>
              </a:avLst>
            </a:prstGeom>
            <a:solidFill>
              <a:srgbClr val="E7DFEC"/>
            </a:solidFill>
            <a:ln w="5318">
              <a:solidFill>
                <a:srgbClr val="FDE1E1"/>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87" name="frd_title"/>
            <p:cNvSpPr/>
            <p:nvPr/>
          </p:nvSpPr>
          <p:spPr>
            <a:xfrm>
              <a:off x="2181420" y="5913085"/>
              <a:ext cx="306360" cy="12312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FRD</a:t>
              </a:r>
            </a:p>
          </p:txBody>
        </p:sp>
        <p:grpSp>
          <p:nvGrpSpPr>
            <p:cNvPr id="188" name="frd_fgl_group"/>
            <p:cNvGrpSpPr/>
            <p:nvPr/>
          </p:nvGrpSpPr>
          <p:grpSpPr>
            <a:xfrm>
              <a:off x="2553098" y="5860164"/>
              <a:ext cx="723932" cy="203040"/>
              <a:chOff x="2452320" y="5681520"/>
              <a:chExt cx="808560" cy="203040"/>
            </a:xfrm>
            <a:solidFill>
              <a:schemeClr val="bg1"/>
            </a:solidFill>
          </p:grpSpPr>
          <p:sp>
            <p:nvSpPr>
              <p:cNvPr id="189" name="frd_fgl"/>
              <p:cNvSpPr/>
              <p:nvPr/>
            </p:nvSpPr>
            <p:spPr>
              <a:xfrm>
                <a:off x="2452320" y="5681520"/>
                <a:ext cx="808560" cy="203040"/>
              </a:xfrm>
              <a:prstGeom prst="roundRect">
                <a:avLst>
                  <a:gd name="adj" fmla="val 15000"/>
                </a:avLst>
              </a:prstGeom>
              <a:grpFill/>
              <a:ln w="5318">
                <a:solidFill>
                  <a:srgbClr val="A596B2"/>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solidFill>
                    <a:srgbClr val="F8DAB9"/>
                  </a:solidFill>
                  <a:effectLst/>
                  <a:uFillTx/>
                  <a:latin typeface="Times New Roman" panose="02020603050405020304" pitchFamily="18" charset="0"/>
                  <a:cs typeface="Times New Roman" panose="02020603050405020304" pitchFamily="18" charset="0"/>
                </a:endParaRPr>
              </a:p>
            </p:txBody>
          </p:sp>
          <p:sp>
            <p:nvSpPr>
              <p:cNvPr id="190" name="frd_fgl_title"/>
              <p:cNvSpPr/>
              <p:nvPr/>
            </p:nvSpPr>
            <p:spPr>
              <a:xfrm>
                <a:off x="2469960" y="5696640"/>
                <a:ext cx="772920" cy="173160"/>
              </a:xfrm>
              <a:prstGeom prst="rect">
                <a:avLst/>
              </a:prstGeom>
              <a:grp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Fisher FGL</a:t>
                </a:r>
              </a:p>
            </p:txBody>
          </p:sp>
        </p:grpSp>
        <p:grpSp>
          <p:nvGrpSpPr>
            <p:cNvPr id="191" name="frd_lsd_group"/>
            <p:cNvGrpSpPr/>
            <p:nvPr/>
          </p:nvGrpSpPr>
          <p:grpSpPr>
            <a:xfrm>
              <a:off x="3359108" y="5867003"/>
              <a:ext cx="556450" cy="203040"/>
              <a:chOff x="3441960" y="5681520"/>
              <a:chExt cx="808560" cy="203040"/>
            </a:xfrm>
            <a:solidFill>
              <a:schemeClr val="bg1"/>
            </a:solidFill>
          </p:grpSpPr>
          <p:sp>
            <p:nvSpPr>
              <p:cNvPr id="192" name="frd_lsd"/>
              <p:cNvSpPr/>
              <p:nvPr/>
            </p:nvSpPr>
            <p:spPr>
              <a:xfrm>
                <a:off x="3441960" y="5681520"/>
                <a:ext cx="808560" cy="203040"/>
              </a:xfrm>
              <a:prstGeom prst="roundRect">
                <a:avLst>
                  <a:gd name="adj" fmla="val 15000"/>
                </a:avLst>
              </a:prstGeom>
              <a:grpFill/>
              <a:ln w="5318">
                <a:solidFill>
                  <a:srgbClr val="A596B2"/>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93" name="frd_lsd_title"/>
              <p:cNvSpPr/>
              <p:nvPr/>
            </p:nvSpPr>
            <p:spPr>
              <a:xfrm>
                <a:off x="3459960" y="5696640"/>
                <a:ext cx="772920" cy="173160"/>
              </a:xfrm>
              <a:prstGeom prst="rect">
                <a:avLst/>
              </a:prstGeom>
              <a:grp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FR-LSD</a:t>
                </a:r>
              </a:p>
            </p:txBody>
          </p:sp>
        </p:grpSp>
        <p:sp>
          <p:nvSpPr>
            <p:cNvPr id="194" name="frd_scope"/>
            <p:cNvSpPr/>
            <p:nvPr/>
          </p:nvSpPr>
          <p:spPr>
            <a:xfrm>
              <a:off x="3204516" y="5516895"/>
              <a:ext cx="46872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a:effectLst/>
                  <a:uFillTx/>
                  <a:latin typeface="Times New Roman" panose="02020603050405020304" pitchFamily="18" charset="0"/>
                  <a:cs typeface="Times New Roman" panose="02020603050405020304" pitchFamily="18" charset="0"/>
                </a:rPr>
                <a:t>All layers</a:t>
              </a:r>
            </a:p>
          </p:txBody>
        </p:sp>
        <p:grpSp>
          <p:nvGrpSpPr>
            <p:cNvPr id="195" name="gt_group"/>
            <p:cNvGrpSpPr/>
            <p:nvPr/>
          </p:nvGrpSpPr>
          <p:grpSpPr>
            <a:xfrm>
              <a:off x="1076247" y="5814048"/>
              <a:ext cx="577440" cy="321120"/>
              <a:chOff x="1388520" y="5696640"/>
              <a:chExt cx="291600" cy="173160"/>
            </a:xfrm>
            <a:solidFill>
              <a:schemeClr val="bg2">
                <a:lumMod val="90000"/>
              </a:schemeClr>
            </a:solidFill>
          </p:grpSpPr>
          <p:sp>
            <p:nvSpPr>
              <p:cNvPr id="196" name="gt"/>
              <p:cNvSpPr/>
              <p:nvPr/>
            </p:nvSpPr>
            <p:spPr>
              <a:xfrm>
                <a:off x="1388520" y="5696640"/>
                <a:ext cx="291600" cy="173160"/>
              </a:xfrm>
              <a:prstGeom prst="roundRect">
                <a:avLst>
                  <a:gd name="adj" fmla="val 15000"/>
                </a:avLst>
              </a:prstGeom>
              <a:grpFill/>
              <a:ln w="5318">
                <a:solidFill>
                  <a:srgbClr val="687681"/>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197" name="gt_title"/>
              <p:cNvSpPr/>
              <p:nvPr/>
            </p:nvSpPr>
            <p:spPr>
              <a:xfrm>
                <a:off x="1406520" y="5711400"/>
                <a:ext cx="255960" cy="143640"/>
              </a:xfrm>
              <a:prstGeom prst="rect">
                <a:avLst/>
              </a:prstGeom>
              <a:grp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1000" b="1" u="none" strike="noStrike" dirty="0">
                    <a:effectLst/>
                    <a:uFillTx/>
                    <a:latin typeface="Times New Roman" panose="02020603050405020304" pitchFamily="18" charset="0"/>
                    <a:cs typeface="Times New Roman" panose="02020603050405020304" pitchFamily="18" charset="0"/>
                  </a:rPr>
                  <a:t>GT</a:t>
                </a:r>
              </a:p>
            </p:txBody>
          </p:sp>
        </p:grpSp>
        <p:sp>
          <p:nvSpPr>
            <p:cNvPr id="198" name="legend_forward_text"/>
            <p:cNvSpPr/>
            <p:nvPr/>
          </p:nvSpPr>
          <p:spPr>
            <a:xfrm>
              <a:off x="4929877" y="5838616"/>
              <a:ext cx="103032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u="none" strike="noStrike" dirty="0">
                  <a:effectLst/>
                  <a:uFillTx/>
                  <a:latin typeface="Times New Roman" panose="02020603050405020304" pitchFamily="18" charset="0"/>
                  <a:cs typeface="Times New Roman" panose="02020603050405020304" pitchFamily="18" charset="0"/>
                </a:rPr>
                <a:t>Train </a:t>
              </a:r>
              <a:r>
                <a:rPr lang="en-US" altLang="zh-CN" sz="900" b="1" u="none" strike="noStrike" dirty="0">
                  <a:effectLst/>
                  <a:uFillTx/>
                  <a:latin typeface="Times New Roman" panose="02020603050405020304" pitchFamily="18" charset="0"/>
                  <a:cs typeface="Times New Roman" panose="02020603050405020304" pitchFamily="18" charset="0"/>
                </a:rPr>
                <a:t>and</a:t>
              </a:r>
              <a:r>
                <a:rPr lang="en-US" sz="900" b="1" u="none" strike="noStrike" dirty="0">
                  <a:effectLst/>
                  <a:uFillTx/>
                  <a:latin typeface="Times New Roman" panose="02020603050405020304" pitchFamily="18" charset="0"/>
                  <a:cs typeface="Times New Roman" panose="02020603050405020304" pitchFamily="18" charset="0"/>
                </a:rPr>
                <a:t> inference</a:t>
              </a:r>
            </a:p>
          </p:txBody>
        </p:sp>
        <p:sp>
          <p:nvSpPr>
            <p:cNvPr id="199" name="legend_training_text"/>
            <p:cNvSpPr/>
            <p:nvPr/>
          </p:nvSpPr>
          <p:spPr>
            <a:xfrm>
              <a:off x="4904677" y="6011112"/>
              <a:ext cx="911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u="none" strike="noStrike" dirty="0">
                  <a:effectLst/>
                  <a:uFillTx/>
                  <a:latin typeface="Times New Roman" panose="02020603050405020304" pitchFamily="18" charset="0"/>
                  <a:cs typeface="Times New Roman" panose="02020603050405020304" pitchFamily="18" charset="0"/>
                </a:rPr>
                <a:t>Training only</a:t>
              </a:r>
            </a:p>
          </p:txBody>
        </p:sp>
        <p:sp>
          <p:nvSpPr>
            <p:cNvPr id="200" name="v11_junction_5"/>
            <p:cNvSpPr>
              <a:spLocks/>
            </p:cNvSpPr>
            <p:nvPr/>
          </p:nvSpPr>
          <p:spPr>
            <a:xfrm>
              <a:off x="3954420" y="3824100"/>
              <a:ext cx="10800" cy="10800"/>
            </a:xfrm>
            <a:prstGeom prst="ellipse">
              <a:avLst/>
            </a:prstGeom>
            <a:solidFill>
              <a:srgbClr val="687681"/>
            </a:solidFill>
            <a:ln>
              <a:noFill/>
            </a:ln>
          </p:spPr>
          <p:style>
            <a:lnRef idx="2">
              <a:schemeClr val="accent1">
                <a:shade val="15000"/>
              </a:schemeClr>
            </a:lnRef>
            <a:fillRef idx="1">
              <a:schemeClr val="accent1"/>
            </a:fillRef>
            <a:effectRef idx="0">
              <a:schemeClr val="accent1"/>
            </a:effectRef>
            <a:fontRef idx="minor"/>
          </p:style>
          <p:txBody>
            <a:bodyPr lIns="5400" tIns="-34920" rIns="5400" bIns="-3492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01" name="v11_junction_7"/>
            <p:cNvSpPr>
              <a:spLocks/>
            </p:cNvSpPr>
            <p:nvPr/>
          </p:nvSpPr>
          <p:spPr>
            <a:xfrm>
              <a:off x="3954420" y="5153580"/>
              <a:ext cx="10800" cy="10800"/>
            </a:xfrm>
            <a:prstGeom prst="ellipse">
              <a:avLst/>
            </a:prstGeom>
            <a:solidFill>
              <a:srgbClr val="687681"/>
            </a:solidFill>
            <a:ln>
              <a:noFill/>
            </a:ln>
          </p:spPr>
          <p:style>
            <a:lnRef idx="2">
              <a:schemeClr val="accent1">
                <a:shade val="15000"/>
              </a:schemeClr>
            </a:lnRef>
            <a:fillRef idx="1">
              <a:schemeClr val="accent1"/>
            </a:fillRef>
            <a:effectRef idx="0">
              <a:schemeClr val="accent1"/>
            </a:effectRef>
            <a:fontRef idx="minor"/>
          </p:style>
          <p:txBody>
            <a:bodyPr lIns="5400" tIns="-34920" rIns="5400" bIns="-3492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grpSp>
          <p:nvGrpSpPr>
            <p:cNvPr id="202" name="clc_1_2_group"/>
            <p:cNvGrpSpPr/>
            <p:nvPr/>
          </p:nvGrpSpPr>
          <p:grpSpPr>
            <a:xfrm>
              <a:off x="3016800" y="1979640"/>
              <a:ext cx="344520" cy="149760"/>
              <a:chOff x="3016800" y="1979640"/>
              <a:chExt cx="344520" cy="149760"/>
            </a:xfrm>
          </p:grpSpPr>
          <p:sp>
            <p:nvSpPr>
              <p:cNvPr id="203" name="clc_1_2"/>
              <p:cNvSpPr/>
              <p:nvPr/>
            </p:nvSpPr>
            <p:spPr>
              <a:xfrm>
                <a:off x="3016800" y="1979640"/>
                <a:ext cx="344520" cy="149760"/>
              </a:xfrm>
              <a:prstGeom prst="roundRect">
                <a:avLst>
                  <a:gd name="adj" fmla="val 15000"/>
                </a:avLst>
              </a:prstGeom>
              <a:solidFill>
                <a:srgbClr val="D9E7FB"/>
              </a:solidFill>
              <a:ln w="5318">
                <a:solidFill>
                  <a:srgbClr val="7098B7"/>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04" name="clc_1_2_title"/>
              <p:cNvSpPr/>
              <p:nvPr/>
            </p:nvSpPr>
            <p:spPr>
              <a:xfrm>
                <a:off x="3031560" y="1991520"/>
                <a:ext cx="315000" cy="12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CLC</a:t>
                </a:r>
              </a:p>
            </p:txBody>
          </p:sp>
        </p:grpSp>
        <p:grpSp>
          <p:nvGrpSpPr>
            <p:cNvPr id="205" name="clc_2_3_group"/>
            <p:cNvGrpSpPr/>
            <p:nvPr/>
          </p:nvGrpSpPr>
          <p:grpSpPr>
            <a:xfrm>
              <a:off x="3016800" y="3161520"/>
              <a:ext cx="344520" cy="149760"/>
              <a:chOff x="3016800" y="3161520"/>
              <a:chExt cx="344520" cy="149760"/>
            </a:xfrm>
          </p:grpSpPr>
          <p:sp>
            <p:nvSpPr>
              <p:cNvPr id="206" name="clc_2_3"/>
              <p:cNvSpPr/>
              <p:nvPr/>
            </p:nvSpPr>
            <p:spPr>
              <a:xfrm>
                <a:off x="3016800" y="3161520"/>
                <a:ext cx="344520" cy="149760"/>
              </a:xfrm>
              <a:prstGeom prst="roundRect">
                <a:avLst>
                  <a:gd name="adj" fmla="val 15000"/>
                </a:avLst>
              </a:prstGeom>
              <a:solidFill>
                <a:srgbClr val="D9E7FB"/>
              </a:solidFill>
              <a:ln w="5318">
                <a:solidFill>
                  <a:srgbClr val="7098B7"/>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07" name="clc_2_3_title"/>
              <p:cNvSpPr/>
              <p:nvPr/>
            </p:nvSpPr>
            <p:spPr>
              <a:xfrm>
                <a:off x="3031560" y="3173400"/>
                <a:ext cx="315000" cy="12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CLC</a:t>
                </a:r>
              </a:p>
            </p:txBody>
          </p:sp>
        </p:grpSp>
        <p:grpSp>
          <p:nvGrpSpPr>
            <p:cNvPr id="212" name="stage1_unit"/>
            <p:cNvGrpSpPr/>
            <p:nvPr/>
          </p:nvGrpSpPr>
          <p:grpSpPr>
            <a:xfrm>
              <a:off x="1566000" y="1352520"/>
              <a:ext cx="985680" cy="226440"/>
              <a:chOff x="1566000" y="1352520"/>
              <a:chExt cx="985680" cy="226440"/>
            </a:xfrm>
          </p:grpSpPr>
          <p:sp>
            <p:nvSpPr>
              <p:cNvPr id="213" name="stage1_decoder"/>
              <p:cNvSpPr/>
              <p:nvPr/>
            </p:nvSpPr>
            <p:spPr>
              <a:xfrm>
                <a:off x="1566000" y="1353240"/>
                <a:ext cx="49824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14" name="stage1_head"/>
              <p:cNvSpPr/>
              <p:nvPr/>
            </p:nvSpPr>
            <p:spPr>
              <a:xfrm>
                <a:off x="2068200" y="1353240"/>
                <a:ext cx="48348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15" name="stage1_background"/>
              <p:cNvSpPr/>
              <p:nvPr/>
            </p:nvSpPr>
            <p:spPr>
              <a:xfrm>
                <a:off x="1566000" y="1353240"/>
                <a:ext cx="985680" cy="220680"/>
              </a:xfrm>
              <a:prstGeom prst="roundRect">
                <a:avLst>
                  <a:gd name="adj" fmla="val 15000"/>
                </a:avLst>
              </a:prstGeom>
              <a:solidFill>
                <a:srgbClr val="F8DAB9"/>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17" name="stage1_seam"/>
              <p:cNvSpPr/>
              <p:nvPr/>
            </p:nvSpPr>
            <p:spPr>
              <a:xfrm>
                <a:off x="2068200" y="1353240"/>
                <a:ext cx="49320" cy="220680"/>
              </a:xfrm>
              <a:prstGeom prst="rect">
                <a:avLst/>
              </a:prstGeom>
              <a:solidFill>
                <a:srgbClr val="D9E7FB"/>
              </a:solidFill>
              <a:ln>
                <a:noFill/>
              </a:ln>
            </p:spPr>
            <p:style>
              <a:lnRef idx="2">
                <a:schemeClr val="accent1">
                  <a:shade val="15000"/>
                </a:schemeClr>
              </a:lnRef>
              <a:fillRef idx="1">
                <a:schemeClr val="accent1"/>
              </a:fillRef>
              <a:effectRef idx="0">
                <a:schemeClr val="accent1"/>
              </a:effectRef>
              <a:fontRef idx="minor"/>
            </p:style>
            <p:txBody>
              <a:bodyPr lIns="24840" tIns="45000" rIns="2484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18" name="stage1_outline"/>
              <p:cNvSpPr/>
              <p:nvPr/>
            </p:nvSpPr>
            <p:spPr>
              <a:xfrm>
                <a:off x="1566000" y="1353240"/>
                <a:ext cx="985680" cy="220680"/>
              </a:xfrm>
              <a:prstGeom prst="roundRect">
                <a:avLst>
                  <a:gd name="adj" fmla="val 15000"/>
                </a:avLst>
              </a:prstGeom>
              <a:noFill/>
              <a:ln w="5318">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19" name="stage1_dtext"/>
              <p:cNvSpPr/>
              <p:nvPr/>
            </p:nvSpPr>
            <p:spPr>
              <a:xfrm>
                <a:off x="1583640" y="1379880"/>
                <a:ext cx="46296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Decoder 1</a:t>
                </a:r>
              </a:p>
            </p:txBody>
          </p:sp>
          <p:cxnSp>
            <p:nvCxnSpPr>
              <p:cNvPr id="221" name="stage1_divider__0"/>
              <p:cNvCxnSpPr>
                <a:cxnSpLocks/>
              </p:cNvCxnSpPr>
              <p:nvPr/>
            </p:nvCxnSpPr>
            <p:spPr>
              <a:xfrm>
                <a:off x="2069100" y="1352520"/>
                <a:ext cx="0" cy="226440"/>
              </a:xfrm>
              <a:prstGeom prst="straightConnector1">
                <a:avLst/>
              </a:prstGeom>
              <a:ln w="5614">
                <a:noFill/>
                <a:round/>
              </a:ln>
            </p:spPr>
          </p:cxnSp>
        </p:grpSp>
        <p:grpSp>
          <p:nvGrpSpPr>
            <p:cNvPr id="222" name="stage2_unit"/>
            <p:cNvGrpSpPr/>
            <p:nvPr/>
          </p:nvGrpSpPr>
          <p:grpSpPr>
            <a:xfrm>
              <a:off x="1566000" y="2534400"/>
              <a:ext cx="985680" cy="226440"/>
              <a:chOff x="1566000" y="2534400"/>
              <a:chExt cx="985680" cy="226440"/>
            </a:xfrm>
          </p:grpSpPr>
          <p:sp>
            <p:nvSpPr>
              <p:cNvPr id="223" name="stage2_decoder"/>
              <p:cNvSpPr/>
              <p:nvPr/>
            </p:nvSpPr>
            <p:spPr>
              <a:xfrm>
                <a:off x="1566000" y="2535120"/>
                <a:ext cx="49824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24" name="stage2_head"/>
              <p:cNvSpPr/>
              <p:nvPr/>
            </p:nvSpPr>
            <p:spPr>
              <a:xfrm>
                <a:off x="2068200" y="2535120"/>
                <a:ext cx="48348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25" name="stage2_background"/>
              <p:cNvSpPr/>
              <p:nvPr/>
            </p:nvSpPr>
            <p:spPr>
              <a:xfrm>
                <a:off x="1566000" y="2535120"/>
                <a:ext cx="985680" cy="220680"/>
              </a:xfrm>
              <a:prstGeom prst="roundRect">
                <a:avLst>
                  <a:gd name="adj" fmla="val 15000"/>
                </a:avLst>
              </a:prstGeom>
              <a:solidFill>
                <a:srgbClr val="F8DAB9"/>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27" name="stage2_seam"/>
              <p:cNvSpPr/>
              <p:nvPr/>
            </p:nvSpPr>
            <p:spPr>
              <a:xfrm>
                <a:off x="2068200" y="2535120"/>
                <a:ext cx="49320" cy="220680"/>
              </a:xfrm>
              <a:prstGeom prst="rect">
                <a:avLst/>
              </a:prstGeom>
              <a:solidFill>
                <a:srgbClr val="D9E7FB"/>
              </a:solidFill>
              <a:ln>
                <a:noFill/>
              </a:ln>
            </p:spPr>
            <p:style>
              <a:lnRef idx="2">
                <a:schemeClr val="accent1">
                  <a:shade val="15000"/>
                </a:schemeClr>
              </a:lnRef>
              <a:fillRef idx="1">
                <a:schemeClr val="accent1"/>
              </a:fillRef>
              <a:effectRef idx="0">
                <a:schemeClr val="accent1"/>
              </a:effectRef>
              <a:fontRef idx="minor"/>
            </p:style>
            <p:txBody>
              <a:bodyPr lIns="24840" tIns="45000" rIns="2484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28" name="stage2_outline"/>
              <p:cNvSpPr/>
              <p:nvPr/>
            </p:nvSpPr>
            <p:spPr>
              <a:xfrm>
                <a:off x="1566000" y="2535120"/>
                <a:ext cx="985680" cy="220680"/>
              </a:xfrm>
              <a:prstGeom prst="roundRect">
                <a:avLst>
                  <a:gd name="adj" fmla="val 15000"/>
                </a:avLst>
              </a:prstGeom>
              <a:noFill/>
              <a:ln w="5318">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29" name="stage2_dtext"/>
              <p:cNvSpPr/>
              <p:nvPr/>
            </p:nvSpPr>
            <p:spPr>
              <a:xfrm>
                <a:off x="1583640" y="2561760"/>
                <a:ext cx="46296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Decoder 2</a:t>
                </a:r>
              </a:p>
            </p:txBody>
          </p:sp>
          <p:cxnSp>
            <p:nvCxnSpPr>
              <p:cNvPr id="231" name="stage2_divider__0"/>
              <p:cNvCxnSpPr>
                <a:cxnSpLocks/>
              </p:cNvCxnSpPr>
              <p:nvPr/>
            </p:nvCxnSpPr>
            <p:spPr>
              <a:xfrm>
                <a:off x="2069100" y="2534400"/>
                <a:ext cx="0" cy="226440"/>
              </a:xfrm>
              <a:prstGeom prst="straightConnector1">
                <a:avLst/>
              </a:prstGeom>
              <a:ln w="5614">
                <a:noFill/>
                <a:round/>
              </a:ln>
            </p:spPr>
          </p:cxnSp>
          <p:sp>
            <p:nvSpPr>
              <p:cNvPr id="226" name="stage2_headfill"/>
              <p:cNvSpPr/>
              <p:nvPr/>
            </p:nvSpPr>
            <p:spPr>
              <a:xfrm>
                <a:off x="2066471" y="2534940"/>
                <a:ext cx="476114" cy="220680"/>
              </a:xfrm>
              <a:prstGeom prst="roundRect">
                <a:avLst>
                  <a:gd name="adj" fmla="val 15000"/>
                </a:avLst>
              </a:prstGeom>
              <a:solidFill>
                <a:srgbClr val="DFECC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0" name="stage2_htext"/>
              <p:cNvSpPr/>
              <p:nvPr/>
            </p:nvSpPr>
            <p:spPr>
              <a:xfrm>
                <a:off x="2110224" y="2555090"/>
                <a:ext cx="381241" cy="191160"/>
              </a:xfrm>
              <a:prstGeom prst="rect">
                <a:avLst/>
              </a:prstGeom>
              <a:solidFill>
                <a:srgbClr val="DFECC0"/>
              </a:solid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FDR Head</a:t>
                </a:r>
              </a:p>
            </p:txBody>
          </p:sp>
        </p:grpSp>
        <p:grpSp>
          <p:nvGrpSpPr>
            <p:cNvPr id="232" name="stage3_unit"/>
            <p:cNvGrpSpPr/>
            <p:nvPr/>
          </p:nvGrpSpPr>
          <p:grpSpPr>
            <a:xfrm>
              <a:off x="1566000" y="3716280"/>
              <a:ext cx="985680" cy="226440"/>
              <a:chOff x="1566000" y="3716280"/>
              <a:chExt cx="985680" cy="226440"/>
            </a:xfrm>
          </p:grpSpPr>
          <p:sp>
            <p:nvSpPr>
              <p:cNvPr id="233" name="stage3_decoder"/>
              <p:cNvSpPr/>
              <p:nvPr/>
            </p:nvSpPr>
            <p:spPr>
              <a:xfrm>
                <a:off x="1566000" y="3717000"/>
                <a:ext cx="49824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4" name="stage3_head"/>
              <p:cNvSpPr/>
              <p:nvPr/>
            </p:nvSpPr>
            <p:spPr>
              <a:xfrm>
                <a:off x="2068200" y="3717000"/>
                <a:ext cx="48348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5" name="stage3_background"/>
              <p:cNvSpPr/>
              <p:nvPr/>
            </p:nvSpPr>
            <p:spPr>
              <a:xfrm>
                <a:off x="1566000" y="3717000"/>
                <a:ext cx="985680" cy="220680"/>
              </a:xfrm>
              <a:prstGeom prst="roundRect">
                <a:avLst>
                  <a:gd name="adj" fmla="val 15000"/>
                </a:avLst>
              </a:prstGeom>
              <a:solidFill>
                <a:srgbClr val="F8DAB9"/>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6" name="stage3_headfill"/>
              <p:cNvSpPr/>
              <p:nvPr/>
            </p:nvSpPr>
            <p:spPr>
              <a:xfrm>
                <a:off x="2068200" y="3717000"/>
                <a:ext cx="483480" cy="220680"/>
              </a:xfrm>
              <a:prstGeom prst="roundRect">
                <a:avLst>
                  <a:gd name="adj" fmla="val 15000"/>
                </a:avLst>
              </a:prstGeom>
              <a:solidFill>
                <a:srgbClr val="D9E7FB"/>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7" name="stage3_seam"/>
              <p:cNvSpPr/>
              <p:nvPr/>
            </p:nvSpPr>
            <p:spPr>
              <a:xfrm>
                <a:off x="2068200" y="3717000"/>
                <a:ext cx="49320" cy="220680"/>
              </a:xfrm>
              <a:prstGeom prst="rect">
                <a:avLst/>
              </a:prstGeom>
              <a:solidFill>
                <a:srgbClr val="D9E7FB"/>
              </a:solidFill>
              <a:ln>
                <a:noFill/>
              </a:ln>
            </p:spPr>
            <p:style>
              <a:lnRef idx="2">
                <a:schemeClr val="accent1">
                  <a:shade val="15000"/>
                </a:schemeClr>
              </a:lnRef>
              <a:fillRef idx="1">
                <a:schemeClr val="accent1"/>
              </a:fillRef>
              <a:effectRef idx="0">
                <a:schemeClr val="accent1"/>
              </a:effectRef>
              <a:fontRef idx="minor"/>
            </p:style>
            <p:txBody>
              <a:bodyPr lIns="24840" tIns="45000" rIns="2484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8" name="stage3_outline"/>
              <p:cNvSpPr/>
              <p:nvPr/>
            </p:nvSpPr>
            <p:spPr>
              <a:xfrm>
                <a:off x="1566000" y="3717000"/>
                <a:ext cx="985680" cy="220680"/>
              </a:xfrm>
              <a:prstGeom prst="roundRect">
                <a:avLst>
                  <a:gd name="adj" fmla="val 15000"/>
                </a:avLst>
              </a:prstGeom>
              <a:noFill/>
              <a:ln w="5318">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39" name="stage3_dtext"/>
              <p:cNvSpPr/>
              <p:nvPr/>
            </p:nvSpPr>
            <p:spPr>
              <a:xfrm>
                <a:off x="1583640" y="3743640"/>
                <a:ext cx="46296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Decoder 3</a:t>
                </a:r>
              </a:p>
            </p:txBody>
          </p:sp>
          <p:cxnSp>
            <p:nvCxnSpPr>
              <p:cNvPr id="241" name="stage3_divider__0"/>
              <p:cNvCxnSpPr>
                <a:cxnSpLocks/>
              </p:cNvCxnSpPr>
              <p:nvPr/>
            </p:nvCxnSpPr>
            <p:spPr>
              <a:xfrm>
                <a:off x="2069100" y="3716280"/>
                <a:ext cx="0" cy="226440"/>
              </a:xfrm>
              <a:prstGeom prst="straightConnector1">
                <a:avLst/>
              </a:prstGeom>
              <a:ln w="5614">
                <a:noFill/>
                <a:round/>
              </a:ln>
            </p:spPr>
          </p:cxnSp>
        </p:grpSp>
        <p:grpSp>
          <p:nvGrpSpPr>
            <p:cNvPr id="242" name="stage6_unit"/>
            <p:cNvGrpSpPr/>
            <p:nvPr/>
          </p:nvGrpSpPr>
          <p:grpSpPr>
            <a:xfrm>
              <a:off x="1566000" y="5045760"/>
              <a:ext cx="985680" cy="226440"/>
              <a:chOff x="1566000" y="5045760"/>
              <a:chExt cx="985680" cy="226440"/>
            </a:xfrm>
          </p:grpSpPr>
          <p:sp>
            <p:nvSpPr>
              <p:cNvPr id="243" name="stage6_decoder"/>
              <p:cNvSpPr/>
              <p:nvPr/>
            </p:nvSpPr>
            <p:spPr>
              <a:xfrm>
                <a:off x="1566000" y="5046480"/>
                <a:ext cx="49824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4" name="stage6_head"/>
              <p:cNvSpPr/>
              <p:nvPr/>
            </p:nvSpPr>
            <p:spPr>
              <a:xfrm>
                <a:off x="2068200" y="5046480"/>
                <a:ext cx="483480" cy="220680"/>
              </a:xfrm>
              <a:prstGeom prst="rect">
                <a:avLst/>
              </a:prstGeom>
              <a:no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5" name="stage6_background"/>
              <p:cNvSpPr/>
              <p:nvPr/>
            </p:nvSpPr>
            <p:spPr>
              <a:xfrm>
                <a:off x="1566000" y="5046480"/>
                <a:ext cx="985680" cy="220680"/>
              </a:xfrm>
              <a:prstGeom prst="roundRect">
                <a:avLst>
                  <a:gd name="adj" fmla="val 15000"/>
                </a:avLst>
              </a:prstGeom>
              <a:solidFill>
                <a:srgbClr val="F8DAB9"/>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6" name="stage6_headfill"/>
              <p:cNvSpPr/>
              <p:nvPr/>
            </p:nvSpPr>
            <p:spPr>
              <a:xfrm>
                <a:off x="2068200" y="5046480"/>
                <a:ext cx="483480" cy="220680"/>
              </a:xfrm>
              <a:prstGeom prst="roundRect">
                <a:avLst>
                  <a:gd name="adj" fmla="val 15000"/>
                </a:avLst>
              </a:prstGeom>
              <a:solidFill>
                <a:srgbClr val="D9E7FB"/>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7" name="stage6_seam"/>
              <p:cNvSpPr/>
              <p:nvPr/>
            </p:nvSpPr>
            <p:spPr>
              <a:xfrm>
                <a:off x="2068200" y="5046480"/>
                <a:ext cx="49320" cy="220680"/>
              </a:xfrm>
              <a:prstGeom prst="rect">
                <a:avLst/>
              </a:prstGeom>
              <a:solidFill>
                <a:srgbClr val="D9E7FB"/>
              </a:solidFill>
              <a:ln>
                <a:noFill/>
              </a:ln>
            </p:spPr>
            <p:style>
              <a:lnRef idx="2">
                <a:schemeClr val="accent1">
                  <a:shade val="15000"/>
                </a:schemeClr>
              </a:lnRef>
              <a:fillRef idx="1">
                <a:schemeClr val="accent1"/>
              </a:fillRef>
              <a:effectRef idx="0">
                <a:schemeClr val="accent1"/>
              </a:effectRef>
              <a:fontRef idx="minor"/>
            </p:style>
            <p:txBody>
              <a:bodyPr lIns="24840" tIns="45000" rIns="2484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8" name="stage6_outline"/>
              <p:cNvSpPr/>
              <p:nvPr/>
            </p:nvSpPr>
            <p:spPr>
              <a:xfrm>
                <a:off x="1566000" y="5046480"/>
                <a:ext cx="985680" cy="220680"/>
              </a:xfrm>
              <a:prstGeom prst="roundRect">
                <a:avLst>
                  <a:gd name="adj" fmla="val 15000"/>
                </a:avLst>
              </a:prstGeom>
              <a:noFill/>
              <a:ln w="5318">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249" name="stage6_dtext"/>
              <p:cNvSpPr/>
              <p:nvPr/>
            </p:nvSpPr>
            <p:spPr>
              <a:xfrm>
                <a:off x="1583640" y="5073120"/>
                <a:ext cx="46296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a:effectLst/>
                    <a:uFillTx/>
                    <a:latin typeface="Times New Roman" panose="02020603050405020304" pitchFamily="18" charset="0"/>
                    <a:cs typeface="Times New Roman" panose="02020603050405020304" pitchFamily="18" charset="0"/>
                  </a:rPr>
                  <a:t>Decoder 6</a:t>
                </a:r>
              </a:p>
            </p:txBody>
          </p:sp>
          <p:cxnSp>
            <p:nvCxnSpPr>
              <p:cNvPr id="251" name="stage6_divider__0"/>
              <p:cNvCxnSpPr>
                <a:cxnSpLocks/>
              </p:cNvCxnSpPr>
              <p:nvPr/>
            </p:nvCxnSpPr>
            <p:spPr>
              <a:xfrm>
                <a:off x="2069100" y="5045760"/>
                <a:ext cx="0" cy="226440"/>
              </a:xfrm>
              <a:prstGeom prst="straightConnector1">
                <a:avLst/>
              </a:prstGeom>
              <a:ln w="5614">
                <a:noFill/>
                <a:round/>
              </a:ln>
            </p:spPr>
          </p:cxnSp>
        </p:grpSp>
        <p:cxnSp>
          <p:nvCxnSpPr>
            <p:cNvPr id="252" name="initial_reference__0"/>
            <p:cNvCxnSpPr>
              <a:cxnSpLocks/>
              <a:stCxn id="71" idx="3"/>
              <a:endCxn id="352" idx="1"/>
            </p:cNvCxnSpPr>
            <p:nvPr/>
          </p:nvCxnSpPr>
          <p:spPr>
            <a:xfrm flipV="1">
              <a:off x="4830840" y="602280"/>
              <a:ext cx="1522197" cy="2671"/>
            </a:xfrm>
            <a:prstGeom prst="straightConnector1">
              <a:avLst/>
            </a:prstGeom>
            <a:ln w="12700">
              <a:solidFill>
                <a:srgbClr val="687681"/>
              </a:solidFill>
              <a:round/>
              <a:tailEnd type="triangle" w="sm" len="sm"/>
            </a:ln>
          </p:spPr>
        </p:cxnSp>
        <p:cxnSp>
          <p:nvCxnSpPr>
            <p:cNvPr id="255" name="dist_lqe_1__1"/>
            <p:cNvCxnSpPr>
              <a:cxnSpLocks/>
            </p:cNvCxnSpPr>
            <p:nvPr/>
          </p:nvCxnSpPr>
          <p:spPr>
            <a:xfrm flipV="1">
              <a:off x="3954420" y="1854295"/>
              <a:ext cx="704978" cy="5351"/>
            </a:xfrm>
            <a:prstGeom prst="straightConnector1">
              <a:avLst/>
            </a:prstGeom>
            <a:ln w="12700">
              <a:solidFill>
                <a:srgbClr val="84966B"/>
              </a:solidFill>
              <a:prstDash val="sysDot"/>
              <a:round/>
              <a:tailEnd type="triangle" w="sm" len="sm"/>
            </a:ln>
          </p:spPr>
        </p:cxnSp>
        <p:cxnSp>
          <p:nvCxnSpPr>
            <p:cNvPr id="256" name="class_lqe_1__0"/>
            <p:cNvCxnSpPr>
              <a:cxnSpLocks/>
              <a:endCxn id="93" idx="3"/>
            </p:cNvCxnSpPr>
            <p:nvPr/>
          </p:nvCxnSpPr>
          <p:spPr>
            <a:xfrm flipH="1">
              <a:off x="5350762" y="1849320"/>
              <a:ext cx="505056" cy="0"/>
            </a:xfrm>
            <a:prstGeom prst="straightConnector1">
              <a:avLst/>
            </a:prstGeom>
            <a:ln w="9525">
              <a:solidFill>
                <a:srgbClr val="84966B"/>
              </a:solidFill>
              <a:prstDash val="sysDot"/>
              <a:round/>
              <a:tailEnd type="triangle" w="sm" len="sm"/>
            </a:ln>
          </p:spPr>
        </p:cxnSp>
        <p:cxnSp>
          <p:nvCxnSpPr>
            <p:cNvPr id="259" name="dist_lqe_2__1"/>
            <p:cNvCxnSpPr>
              <a:cxnSpLocks/>
              <a:endCxn id="115" idx="1"/>
            </p:cNvCxnSpPr>
            <p:nvPr/>
          </p:nvCxnSpPr>
          <p:spPr>
            <a:xfrm flipV="1">
              <a:off x="3954420" y="3027420"/>
              <a:ext cx="724068" cy="6597"/>
            </a:xfrm>
            <a:prstGeom prst="straightConnector1">
              <a:avLst/>
            </a:prstGeom>
            <a:ln w="12700">
              <a:solidFill>
                <a:srgbClr val="84966B"/>
              </a:solidFill>
              <a:prstDash val="sysDot"/>
              <a:round/>
              <a:tailEnd type="triangle" w="sm" len="sm"/>
            </a:ln>
          </p:spPr>
        </p:cxnSp>
        <p:cxnSp>
          <p:nvCxnSpPr>
            <p:cNvPr id="260" name="class_lqe_2__0"/>
            <p:cNvCxnSpPr>
              <a:cxnSpLocks/>
              <a:endCxn id="115" idx="3"/>
            </p:cNvCxnSpPr>
            <p:nvPr/>
          </p:nvCxnSpPr>
          <p:spPr>
            <a:xfrm flipH="1" flipV="1">
              <a:off x="5355648" y="3027420"/>
              <a:ext cx="519916" cy="1216"/>
            </a:xfrm>
            <a:prstGeom prst="straightConnector1">
              <a:avLst/>
            </a:prstGeom>
            <a:ln w="12700">
              <a:solidFill>
                <a:srgbClr val="84966B"/>
              </a:solidFill>
              <a:prstDash val="sysDot"/>
              <a:round/>
              <a:tailEnd type="triangle" w="sm" len="sm"/>
            </a:ln>
          </p:spPr>
        </p:cxnSp>
        <p:cxnSp>
          <p:nvCxnSpPr>
            <p:cNvPr id="263" name="dist_lqe_3__1"/>
            <p:cNvCxnSpPr>
              <a:cxnSpLocks/>
              <a:endCxn id="139" idx="1"/>
            </p:cNvCxnSpPr>
            <p:nvPr/>
          </p:nvCxnSpPr>
          <p:spPr>
            <a:xfrm>
              <a:off x="3954420" y="4207140"/>
              <a:ext cx="756521" cy="0"/>
            </a:xfrm>
            <a:prstGeom prst="straightConnector1">
              <a:avLst/>
            </a:prstGeom>
            <a:ln w="12700">
              <a:solidFill>
                <a:srgbClr val="84966B"/>
              </a:solidFill>
              <a:prstDash val="sysDot"/>
              <a:round/>
              <a:tailEnd type="triangle" w="sm" len="sm"/>
            </a:ln>
          </p:spPr>
        </p:cxnSp>
        <p:cxnSp>
          <p:nvCxnSpPr>
            <p:cNvPr id="264" name="class_lqe_3__0"/>
            <p:cNvCxnSpPr>
              <a:cxnSpLocks/>
              <a:endCxn id="139" idx="3"/>
            </p:cNvCxnSpPr>
            <p:nvPr/>
          </p:nvCxnSpPr>
          <p:spPr>
            <a:xfrm flipH="1">
              <a:off x="5388101" y="4204615"/>
              <a:ext cx="478108" cy="2525"/>
            </a:xfrm>
            <a:prstGeom prst="straightConnector1">
              <a:avLst/>
            </a:prstGeom>
            <a:ln w="12700">
              <a:solidFill>
                <a:srgbClr val="84966B"/>
              </a:solidFill>
              <a:prstDash val="sysDot"/>
              <a:round/>
              <a:tailEnd type="triangle" w="sm" len="sm"/>
            </a:ln>
          </p:spPr>
        </p:cxnSp>
        <p:cxnSp>
          <p:nvCxnSpPr>
            <p:cNvPr id="267" name="dist_lqe_6__1"/>
            <p:cNvCxnSpPr>
              <a:cxnSpLocks/>
            </p:cNvCxnSpPr>
            <p:nvPr/>
          </p:nvCxnSpPr>
          <p:spPr>
            <a:xfrm>
              <a:off x="3951698" y="5569275"/>
              <a:ext cx="732147" cy="5145"/>
            </a:xfrm>
            <a:prstGeom prst="straightConnector1">
              <a:avLst/>
            </a:prstGeom>
            <a:ln w="12700">
              <a:solidFill>
                <a:srgbClr val="84966B"/>
              </a:solidFill>
              <a:round/>
              <a:tailEnd type="triangle" w="sm" len="sm"/>
            </a:ln>
          </p:spPr>
        </p:cxnSp>
        <p:cxnSp>
          <p:nvCxnSpPr>
            <p:cNvPr id="268" name="class_lqe_6__0"/>
            <p:cNvCxnSpPr>
              <a:cxnSpLocks/>
              <a:endCxn id="163" idx="3"/>
            </p:cNvCxnSpPr>
            <p:nvPr/>
          </p:nvCxnSpPr>
          <p:spPr>
            <a:xfrm flipH="1">
              <a:off x="5363727" y="5569275"/>
              <a:ext cx="492091" cy="5145"/>
            </a:xfrm>
            <a:prstGeom prst="straightConnector1">
              <a:avLst/>
            </a:prstGeom>
            <a:ln w="12700">
              <a:solidFill>
                <a:srgbClr val="84966B"/>
              </a:solidFill>
              <a:round/>
              <a:tailEnd type="triangle" w="sm" len="sm"/>
            </a:ln>
          </p:spPr>
        </p:cxnSp>
        <p:cxnSp>
          <p:nvCxnSpPr>
            <p:cNvPr id="269" name="input_encoder__0"/>
            <p:cNvCxnSpPr>
              <a:cxnSpLocks/>
            </p:cNvCxnSpPr>
            <p:nvPr/>
          </p:nvCxnSpPr>
          <p:spPr>
            <a:xfrm>
              <a:off x="1109787" y="851732"/>
              <a:ext cx="0" cy="246894"/>
            </a:xfrm>
            <a:prstGeom prst="straightConnector1">
              <a:avLst/>
            </a:prstGeom>
            <a:ln w="12700">
              <a:solidFill>
                <a:srgbClr val="687681"/>
              </a:solidFill>
              <a:round/>
              <a:tailEnd type="triangle" w="sm" len="sm"/>
            </a:ln>
          </p:spPr>
        </p:cxnSp>
        <p:cxnSp>
          <p:nvCxnSpPr>
            <p:cNvPr id="270" name="encoder_decoder__0"/>
            <p:cNvCxnSpPr>
              <a:cxnSpLocks/>
            </p:cNvCxnSpPr>
            <p:nvPr/>
          </p:nvCxnSpPr>
          <p:spPr>
            <a:xfrm>
              <a:off x="1364423" y="1483851"/>
              <a:ext cx="203400" cy="0"/>
            </a:xfrm>
            <a:prstGeom prst="straightConnector1">
              <a:avLst/>
            </a:prstGeom>
            <a:ln w="12700">
              <a:solidFill>
                <a:srgbClr val="687681"/>
              </a:solidFill>
              <a:round/>
              <a:tailEnd type="triangle" w="sm" len="sm"/>
            </a:ln>
          </p:spPr>
        </p:cxnSp>
        <p:cxnSp>
          <p:nvCxnSpPr>
            <p:cNvPr id="271" name="initial_prediction__0"/>
            <p:cNvCxnSpPr>
              <a:cxnSpLocks/>
            </p:cNvCxnSpPr>
            <p:nvPr/>
          </p:nvCxnSpPr>
          <p:spPr>
            <a:xfrm flipV="1">
              <a:off x="1814581" y="602280"/>
              <a:ext cx="0" cy="756872"/>
            </a:xfrm>
            <a:prstGeom prst="straightConnector1">
              <a:avLst/>
            </a:prstGeom>
            <a:ln w="12700">
              <a:solidFill>
                <a:srgbClr val="687681"/>
              </a:solidFill>
              <a:round/>
            </a:ln>
          </p:spPr>
        </p:cxnSp>
        <p:cxnSp>
          <p:nvCxnSpPr>
            <p:cNvPr id="272" name="initial_prediction__1"/>
            <p:cNvCxnSpPr>
              <a:cxnSpLocks/>
              <a:endCxn id="71" idx="1"/>
            </p:cNvCxnSpPr>
            <p:nvPr/>
          </p:nvCxnSpPr>
          <p:spPr>
            <a:xfrm flipV="1">
              <a:off x="1814581" y="604951"/>
              <a:ext cx="2370059" cy="1659"/>
            </a:xfrm>
            <a:prstGeom prst="straightConnector1">
              <a:avLst/>
            </a:prstGeom>
            <a:ln w="12700">
              <a:solidFill>
                <a:srgbClr val="687681"/>
              </a:solidFill>
              <a:round/>
              <a:tailEnd type="triangle" w="sm" len="sm"/>
            </a:ln>
          </p:spPr>
        </p:cxnSp>
        <p:cxnSp>
          <p:nvCxnSpPr>
            <p:cNvPr id="273" name="head_to_distribution_1__0"/>
            <p:cNvCxnSpPr>
              <a:cxnSpLocks/>
            </p:cNvCxnSpPr>
            <p:nvPr/>
          </p:nvCxnSpPr>
          <p:spPr>
            <a:xfrm>
              <a:off x="2553840" y="1465200"/>
              <a:ext cx="224640" cy="0"/>
            </a:xfrm>
            <a:prstGeom prst="straightConnector1">
              <a:avLst/>
            </a:prstGeom>
            <a:ln w="12700">
              <a:solidFill>
                <a:srgbClr val="687681"/>
              </a:solidFill>
              <a:round/>
              <a:tailEnd type="triangle" w="sm" len="sm"/>
            </a:ln>
          </p:spPr>
        </p:cxnSp>
        <p:cxnSp>
          <p:nvCxnSpPr>
            <p:cNvPr id="274" name="distribution_out_1__0"/>
            <p:cNvCxnSpPr>
              <a:cxnSpLocks/>
            </p:cNvCxnSpPr>
            <p:nvPr/>
          </p:nvCxnSpPr>
          <p:spPr>
            <a:xfrm>
              <a:off x="3603600" y="1465740"/>
              <a:ext cx="356220" cy="0"/>
            </a:xfrm>
            <a:prstGeom prst="straightConnector1">
              <a:avLst/>
            </a:prstGeom>
            <a:ln w="12700">
              <a:solidFill>
                <a:srgbClr val="687681"/>
              </a:solidFill>
              <a:round/>
            </a:ln>
          </p:spPr>
        </p:cxnSp>
        <p:cxnSp>
          <p:nvCxnSpPr>
            <p:cNvPr id="275" name="dist_ddo_1__0"/>
            <p:cNvCxnSpPr>
              <a:cxnSpLocks/>
            </p:cNvCxnSpPr>
            <p:nvPr/>
          </p:nvCxnSpPr>
          <p:spPr>
            <a:xfrm flipV="1">
              <a:off x="3959820" y="1072080"/>
              <a:ext cx="0" cy="392760"/>
            </a:xfrm>
            <a:prstGeom prst="straightConnector1">
              <a:avLst/>
            </a:prstGeom>
            <a:ln w="12700">
              <a:solidFill>
                <a:srgbClr val="B39A60"/>
              </a:solidFill>
              <a:round/>
            </a:ln>
          </p:spPr>
        </p:cxnSp>
        <p:cxnSp>
          <p:nvCxnSpPr>
            <p:cNvPr id="276" name="dist_ddo_1__1"/>
            <p:cNvCxnSpPr>
              <a:cxnSpLocks/>
            </p:cNvCxnSpPr>
            <p:nvPr/>
          </p:nvCxnSpPr>
          <p:spPr>
            <a:xfrm flipV="1">
              <a:off x="3959820" y="1072080"/>
              <a:ext cx="235620" cy="0"/>
            </a:xfrm>
            <a:prstGeom prst="straightConnector1">
              <a:avLst/>
            </a:prstGeom>
            <a:ln w="12700">
              <a:solidFill>
                <a:srgbClr val="B39A60"/>
              </a:solidFill>
              <a:round/>
              <a:tailEnd type="triangle" w="sm" len="sm"/>
            </a:ln>
          </p:spPr>
        </p:cxnSp>
        <p:cxnSp>
          <p:nvCxnSpPr>
            <p:cNvPr id="277" name="dist_integral_1__0"/>
            <p:cNvCxnSpPr>
              <a:cxnSpLocks/>
            </p:cNvCxnSpPr>
            <p:nvPr/>
          </p:nvCxnSpPr>
          <p:spPr>
            <a:xfrm flipV="1">
              <a:off x="3959820" y="1464840"/>
              <a:ext cx="235620" cy="0"/>
            </a:xfrm>
            <a:prstGeom prst="straightConnector1">
              <a:avLst/>
            </a:prstGeom>
            <a:ln w="12700">
              <a:solidFill>
                <a:srgbClr val="687681"/>
              </a:solidFill>
              <a:round/>
              <a:tailEnd type="triangle" w="sm" len="sm"/>
            </a:ln>
          </p:spPr>
        </p:cxnSp>
        <p:cxnSp>
          <p:nvCxnSpPr>
            <p:cNvPr id="278" name="dist_lqe_trunk_1__0"/>
            <p:cNvCxnSpPr>
              <a:cxnSpLocks/>
            </p:cNvCxnSpPr>
            <p:nvPr/>
          </p:nvCxnSpPr>
          <p:spPr>
            <a:xfrm flipH="1">
              <a:off x="3954420" y="1464840"/>
              <a:ext cx="5400" cy="399240"/>
            </a:xfrm>
            <a:prstGeom prst="straightConnector1">
              <a:avLst/>
            </a:prstGeom>
            <a:ln w="12700">
              <a:solidFill>
                <a:srgbClr val="84966B"/>
              </a:solidFill>
              <a:prstDash val="sysDot"/>
              <a:round/>
            </a:ln>
          </p:spPr>
        </p:cxnSp>
        <p:cxnSp>
          <p:nvCxnSpPr>
            <p:cNvPr id="280" name="ddo_box_1__0"/>
            <p:cNvCxnSpPr>
              <a:cxnSpLocks/>
            </p:cNvCxnSpPr>
            <p:nvPr/>
          </p:nvCxnSpPr>
          <p:spPr>
            <a:xfrm>
              <a:off x="4782240" y="1072800"/>
              <a:ext cx="979020" cy="0"/>
            </a:xfrm>
            <a:prstGeom prst="straightConnector1">
              <a:avLst/>
            </a:prstGeom>
            <a:ln w="12700">
              <a:solidFill>
                <a:srgbClr val="B39A60"/>
              </a:solidFill>
              <a:round/>
            </a:ln>
          </p:spPr>
        </p:cxnSp>
        <p:cxnSp>
          <p:nvCxnSpPr>
            <p:cNvPr id="281" name="ddo_box_1__1"/>
            <p:cNvCxnSpPr>
              <a:cxnSpLocks/>
            </p:cNvCxnSpPr>
            <p:nvPr/>
          </p:nvCxnSpPr>
          <p:spPr>
            <a:xfrm>
              <a:off x="5755816" y="1072800"/>
              <a:ext cx="0" cy="298080"/>
            </a:xfrm>
            <a:prstGeom prst="straightConnector1">
              <a:avLst/>
            </a:prstGeom>
            <a:ln w="12700">
              <a:solidFill>
                <a:srgbClr val="B39A60"/>
              </a:solidFill>
              <a:round/>
              <a:tailEnd type="triangle" w="sm" len="sm"/>
            </a:ln>
          </p:spPr>
        </p:cxnSp>
        <p:cxnSp>
          <p:nvCxnSpPr>
            <p:cNvPr id="283" name="box_out_1__0"/>
            <p:cNvCxnSpPr>
              <a:cxnSpLocks/>
              <a:stCxn id="87" idx="3"/>
              <a:endCxn id="353" idx="1"/>
            </p:cNvCxnSpPr>
            <p:nvPr/>
          </p:nvCxnSpPr>
          <p:spPr>
            <a:xfrm>
              <a:off x="6094800" y="1463400"/>
              <a:ext cx="261145" cy="1361"/>
            </a:xfrm>
            <a:prstGeom prst="straightConnector1">
              <a:avLst/>
            </a:prstGeom>
            <a:ln w="12700">
              <a:solidFill>
                <a:srgbClr val="9683AB"/>
              </a:solidFill>
              <a:round/>
              <a:tailEnd type="triangle" w="sm" len="sm"/>
            </a:ln>
          </p:spPr>
        </p:cxnSp>
        <p:cxnSp>
          <p:nvCxnSpPr>
            <p:cNvPr id="284" name="decoder_feature_1__0"/>
            <p:cNvCxnSpPr>
              <a:cxnSpLocks/>
            </p:cNvCxnSpPr>
            <p:nvPr/>
          </p:nvCxnSpPr>
          <p:spPr>
            <a:xfrm flipV="1">
              <a:off x="1816020" y="1895539"/>
              <a:ext cx="193140" cy="0"/>
            </a:xfrm>
            <a:prstGeom prst="straightConnector1">
              <a:avLst/>
            </a:prstGeom>
            <a:ln w="12700">
              <a:solidFill>
                <a:srgbClr val="84966B"/>
              </a:solidFill>
              <a:prstDash val="sysDot"/>
              <a:round/>
              <a:tailEnd type="triangle" w="sm" len="sm"/>
            </a:ln>
          </p:spPr>
        </p:cxnSp>
        <p:cxnSp>
          <p:nvCxnSpPr>
            <p:cNvPr id="285" name="head_to_distribution_2__0"/>
            <p:cNvCxnSpPr>
              <a:cxnSpLocks/>
            </p:cNvCxnSpPr>
            <p:nvPr/>
          </p:nvCxnSpPr>
          <p:spPr>
            <a:xfrm>
              <a:off x="2553840" y="2647080"/>
              <a:ext cx="224640" cy="0"/>
            </a:xfrm>
            <a:prstGeom prst="straightConnector1">
              <a:avLst/>
            </a:prstGeom>
            <a:ln w="12700">
              <a:solidFill>
                <a:srgbClr val="687681"/>
              </a:solidFill>
              <a:round/>
              <a:tailEnd type="triangle" w="sm" len="sm"/>
            </a:ln>
          </p:spPr>
        </p:cxnSp>
        <p:cxnSp>
          <p:nvCxnSpPr>
            <p:cNvPr id="286" name="distribution_out_2__0"/>
            <p:cNvCxnSpPr>
              <a:cxnSpLocks/>
            </p:cNvCxnSpPr>
            <p:nvPr/>
          </p:nvCxnSpPr>
          <p:spPr>
            <a:xfrm>
              <a:off x="3603600" y="2647620"/>
              <a:ext cx="356220" cy="0"/>
            </a:xfrm>
            <a:prstGeom prst="straightConnector1">
              <a:avLst/>
            </a:prstGeom>
            <a:ln w="12700">
              <a:solidFill>
                <a:srgbClr val="687681"/>
              </a:solidFill>
              <a:round/>
            </a:ln>
          </p:spPr>
        </p:cxnSp>
        <p:cxnSp>
          <p:nvCxnSpPr>
            <p:cNvPr id="287" name="dist_ddo_2__0"/>
            <p:cNvCxnSpPr>
              <a:cxnSpLocks/>
            </p:cNvCxnSpPr>
            <p:nvPr/>
          </p:nvCxnSpPr>
          <p:spPr>
            <a:xfrm flipV="1">
              <a:off x="3959820" y="2253960"/>
              <a:ext cx="0" cy="392760"/>
            </a:xfrm>
            <a:prstGeom prst="straightConnector1">
              <a:avLst/>
            </a:prstGeom>
            <a:ln w="12700">
              <a:solidFill>
                <a:srgbClr val="B39A60"/>
              </a:solidFill>
              <a:round/>
            </a:ln>
          </p:spPr>
        </p:cxnSp>
        <p:cxnSp>
          <p:nvCxnSpPr>
            <p:cNvPr id="288" name="dist_ddo_2__1"/>
            <p:cNvCxnSpPr>
              <a:cxnSpLocks/>
            </p:cNvCxnSpPr>
            <p:nvPr/>
          </p:nvCxnSpPr>
          <p:spPr>
            <a:xfrm flipV="1">
              <a:off x="3959820" y="2253960"/>
              <a:ext cx="235620" cy="0"/>
            </a:xfrm>
            <a:prstGeom prst="straightConnector1">
              <a:avLst/>
            </a:prstGeom>
            <a:ln w="12700">
              <a:solidFill>
                <a:srgbClr val="B39A60"/>
              </a:solidFill>
              <a:round/>
              <a:tailEnd type="triangle" w="sm" len="sm"/>
            </a:ln>
          </p:spPr>
        </p:cxnSp>
        <p:cxnSp>
          <p:nvCxnSpPr>
            <p:cNvPr id="289" name="dist_integral_2__0"/>
            <p:cNvCxnSpPr>
              <a:cxnSpLocks/>
            </p:cNvCxnSpPr>
            <p:nvPr/>
          </p:nvCxnSpPr>
          <p:spPr>
            <a:xfrm flipV="1">
              <a:off x="3959820" y="2646720"/>
              <a:ext cx="235620" cy="0"/>
            </a:xfrm>
            <a:prstGeom prst="straightConnector1">
              <a:avLst/>
            </a:prstGeom>
            <a:ln w="12700">
              <a:solidFill>
                <a:srgbClr val="687681"/>
              </a:solidFill>
              <a:round/>
              <a:tailEnd type="triangle" w="sm" len="sm"/>
            </a:ln>
          </p:spPr>
        </p:cxnSp>
        <p:cxnSp>
          <p:nvCxnSpPr>
            <p:cNvPr id="290" name="dist_lqe_trunk_2__0"/>
            <p:cNvCxnSpPr>
              <a:cxnSpLocks/>
            </p:cNvCxnSpPr>
            <p:nvPr/>
          </p:nvCxnSpPr>
          <p:spPr>
            <a:xfrm>
              <a:off x="3959820" y="2646720"/>
              <a:ext cx="0" cy="378414"/>
            </a:xfrm>
            <a:prstGeom prst="straightConnector1">
              <a:avLst/>
            </a:prstGeom>
            <a:ln w="12700">
              <a:solidFill>
                <a:srgbClr val="84966B"/>
              </a:solidFill>
              <a:prstDash val="sysDot"/>
              <a:round/>
            </a:ln>
          </p:spPr>
        </p:cxnSp>
        <p:cxnSp>
          <p:nvCxnSpPr>
            <p:cNvPr id="292" name="ddo_box_2__0"/>
            <p:cNvCxnSpPr>
              <a:cxnSpLocks/>
            </p:cNvCxnSpPr>
            <p:nvPr/>
          </p:nvCxnSpPr>
          <p:spPr>
            <a:xfrm>
              <a:off x="4782240" y="2254680"/>
              <a:ext cx="979020" cy="0"/>
            </a:xfrm>
            <a:prstGeom prst="straightConnector1">
              <a:avLst/>
            </a:prstGeom>
            <a:ln w="12700">
              <a:solidFill>
                <a:srgbClr val="B39A60"/>
              </a:solidFill>
              <a:round/>
            </a:ln>
          </p:spPr>
        </p:cxnSp>
        <p:cxnSp>
          <p:nvCxnSpPr>
            <p:cNvPr id="293" name="ddo_box_2__1"/>
            <p:cNvCxnSpPr>
              <a:cxnSpLocks/>
            </p:cNvCxnSpPr>
            <p:nvPr/>
          </p:nvCxnSpPr>
          <p:spPr>
            <a:xfrm>
              <a:off x="5761260" y="2254680"/>
              <a:ext cx="0" cy="298080"/>
            </a:xfrm>
            <a:prstGeom prst="straightConnector1">
              <a:avLst/>
            </a:prstGeom>
            <a:ln w="12700">
              <a:solidFill>
                <a:srgbClr val="B39A60"/>
              </a:solidFill>
              <a:round/>
              <a:tailEnd type="triangle" w="sm" len="sm"/>
            </a:ln>
          </p:spPr>
        </p:cxnSp>
        <p:cxnSp>
          <p:nvCxnSpPr>
            <p:cNvPr id="295" name="box_out_2__0"/>
            <p:cNvCxnSpPr>
              <a:cxnSpLocks/>
              <a:stCxn id="109" idx="3"/>
              <a:endCxn id="354" idx="1"/>
            </p:cNvCxnSpPr>
            <p:nvPr/>
          </p:nvCxnSpPr>
          <p:spPr>
            <a:xfrm>
              <a:off x="6094800" y="2645280"/>
              <a:ext cx="266957" cy="0"/>
            </a:xfrm>
            <a:prstGeom prst="straightConnector1">
              <a:avLst/>
            </a:prstGeom>
            <a:ln w="12700">
              <a:solidFill>
                <a:srgbClr val="7098B7"/>
              </a:solidFill>
              <a:round/>
              <a:tailEnd type="triangle" w="sm" len="sm"/>
            </a:ln>
          </p:spPr>
        </p:cxnSp>
        <p:cxnSp>
          <p:nvCxnSpPr>
            <p:cNvPr id="296" name="reference_decoder_2__0"/>
            <p:cNvCxnSpPr>
              <a:cxnSpLocks/>
            </p:cNvCxnSpPr>
            <p:nvPr/>
          </p:nvCxnSpPr>
          <p:spPr>
            <a:xfrm>
              <a:off x="1371960" y="2646720"/>
              <a:ext cx="194400" cy="0"/>
            </a:xfrm>
            <a:prstGeom prst="straightConnector1">
              <a:avLst/>
            </a:prstGeom>
            <a:ln w="12700">
              <a:solidFill>
                <a:srgbClr val="687681"/>
              </a:solidFill>
              <a:round/>
              <a:tailEnd type="triangle" w="sm" len="sm"/>
            </a:ln>
          </p:spPr>
        </p:cxnSp>
        <p:cxnSp>
          <p:nvCxnSpPr>
            <p:cNvPr id="297" name="decoder_feature_2__0"/>
            <p:cNvCxnSpPr>
              <a:cxnSpLocks/>
            </p:cNvCxnSpPr>
            <p:nvPr/>
          </p:nvCxnSpPr>
          <p:spPr>
            <a:xfrm flipV="1">
              <a:off x="1816020" y="3045600"/>
              <a:ext cx="193140" cy="0"/>
            </a:xfrm>
            <a:prstGeom prst="straightConnector1">
              <a:avLst/>
            </a:prstGeom>
            <a:ln w="12700">
              <a:solidFill>
                <a:srgbClr val="84966B"/>
              </a:solidFill>
              <a:prstDash val="sysDot"/>
              <a:round/>
              <a:tailEnd type="triangle" w="sm" len="sm"/>
            </a:ln>
          </p:spPr>
        </p:cxnSp>
        <p:cxnSp>
          <p:nvCxnSpPr>
            <p:cNvPr id="298" name="head_to_distribution_3__0"/>
            <p:cNvCxnSpPr>
              <a:cxnSpLocks/>
            </p:cNvCxnSpPr>
            <p:nvPr/>
          </p:nvCxnSpPr>
          <p:spPr>
            <a:xfrm>
              <a:off x="2553840" y="3828960"/>
              <a:ext cx="224640" cy="0"/>
            </a:xfrm>
            <a:prstGeom prst="straightConnector1">
              <a:avLst/>
            </a:prstGeom>
            <a:ln w="12700">
              <a:solidFill>
                <a:srgbClr val="687681"/>
              </a:solidFill>
              <a:round/>
              <a:tailEnd type="triangle" w="sm" len="sm"/>
            </a:ln>
          </p:spPr>
        </p:cxnSp>
        <p:cxnSp>
          <p:nvCxnSpPr>
            <p:cNvPr id="299" name="distribution_out_3__0"/>
            <p:cNvCxnSpPr>
              <a:cxnSpLocks/>
            </p:cNvCxnSpPr>
            <p:nvPr/>
          </p:nvCxnSpPr>
          <p:spPr>
            <a:xfrm>
              <a:off x="3603600" y="3829500"/>
              <a:ext cx="356220" cy="0"/>
            </a:xfrm>
            <a:prstGeom prst="straightConnector1">
              <a:avLst/>
            </a:prstGeom>
            <a:ln w="12700">
              <a:solidFill>
                <a:srgbClr val="687681"/>
              </a:solidFill>
              <a:round/>
            </a:ln>
          </p:spPr>
        </p:cxnSp>
        <p:cxnSp>
          <p:nvCxnSpPr>
            <p:cNvPr id="300" name="dist_ddo_3__0"/>
            <p:cNvCxnSpPr>
              <a:cxnSpLocks/>
            </p:cNvCxnSpPr>
            <p:nvPr/>
          </p:nvCxnSpPr>
          <p:spPr>
            <a:xfrm flipV="1">
              <a:off x="3959820" y="3436380"/>
              <a:ext cx="0" cy="392220"/>
            </a:xfrm>
            <a:prstGeom prst="straightConnector1">
              <a:avLst/>
            </a:prstGeom>
            <a:ln w="12700">
              <a:solidFill>
                <a:srgbClr val="B39A60"/>
              </a:solidFill>
              <a:round/>
            </a:ln>
          </p:spPr>
        </p:cxnSp>
        <p:cxnSp>
          <p:nvCxnSpPr>
            <p:cNvPr id="301" name="dist_ddo_3__1"/>
            <p:cNvCxnSpPr>
              <a:cxnSpLocks/>
            </p:cNvCxnSpPr>
            <p:nvPr/>
          </p:nvCxnSpPr>
          <p:spPr>
            <a:xfrm flipV="1">
              <a:off x="3959820" y="3436380"/>
              <a:ext cx="235620" cy="0"/>
            </a:xfrm>
            <a:prstGeom prst="straightConnector1">
              <a:avLst/>
            </a:prstGeom>
            <a:ln w="12700">
              <a:solidFill>
                <a:srgbClr val="B39A60"/>
              </a:solidFill>
              <a:round/>
              <a:tailEnd type="triangle" w="sm" len="sm"/>
            </a:ln>
          </p:spPr>
        </p:cxnSp>
        <p:cxnSp>
          <p:nvCxnSpPr>
            <p:cNvPr id="302" name="dist_integral_3__0"/>
            <p:cNvCxnSpPr>
              <a:cxnSpLocks/>
            </p:cNvCxnSpPr>
            <p:nvPr/>
          </p:nvCxnSpPr>
          <p:spPr>
            <a:xfrm flipV="1">
              <a:off x="3959820" y="3828600"/>
              <a:ext cx="235620" cy="0"/>
            </a:xfrm>
            <a:prstGeom prst="straightConnector1">
              <a:avLst/>
            </a:prstGeom>
            <a:ln w="12700">
              <a:solidFill>
                <a:srgbClr val="687681"/>
              </a:solidFill>
              <a:round/>
              <a:tailEnd type="triangle" w="sm" len="sm"/>
            </a:ln>
          </p:spPr>
        </p:cxnSp>
        <p:cxnSp>
          <p:nvCxnSpPr>
            <p:cNvPr id="303" name="dist_lqe_trunk_3__0"/>
            <p:cNvCxnSpPr>
              <a:cxnSpLocks/>
            </p:cNvCxnSpPr>
            <p:nvPr/>
          </p:nvCxnSpPr>
          <p:spPr>
            <a:xfrm>
              <a:off x="3959820" y="3828600"/>
              <a:ext cx="0" cy="392400"/>
            </a:xfrm>
            <a:prstGeom prst="straightConnector1">
              <a:avLst/>
            </a:prstGeom>
            <a:ln w="12700">
              <a:solidFill>
                <a:srgbClr val="84966B"/>
              </a:solidFill>
              <a:prstDash val="sysDot"/>
              <a:round/>
            </a:ln>
          </p:spPr>
        </p:cxnSp>
        <p:cxnSp>
          <p:nvCxnSpPr>
            <p:cNvPr id="305" name="ddo_box_3__0"/>
            <p:cNvCxnSpPr>
              <a:cxnSpLocks/>
            </p:cNvCxnSpPr>
            <p:nvPr/>
          </p:nvCxnSpPr>
          <p:spPr>
            <a:xfrm>
              <a:off x="4782240" y="3436380"/>
              <a:ext cx="979020" cy="0"/>
            </a:xfrm>
            <a:prstGeom prst="straightConnector1">
              <a:avLst/>
            </a:prstGeom>
            <a:ln w="12700">
              <a:solidFill>
                <a:srgbClr val="B39A60"/>
              </a:solidFill>
              <a:round/>
            </a:ln>
          </p:spPr>
        </p:cxnSp>
        <p:cxnSp>
          <p:nvCxnSpPr>
            <p:cNvPr id="306" name="ddo_box_3__1"/>
            <p:cNvCxnSpPr>
              <a:cxnSpLocks/>
            </p:cNvCxnSpPr>
            <p:nvPr/>
          </p:nvCxnSpPr>
          <p:spPr>
            <a:xfrm>
              <a:off x="5761260" y="3436380"/>
              <a:ext cx="0" cy="298260"/>
            </a:xfrm>
            <a:prstGeom prst="straightConnector1">
              <a:avLst/>
            </a:prstGeom>
            <a:ln w="12700">
              <a:solidFill>
                <a:srgbClr val="B39A60"/>
              </a:solidFill>
              <a:round/>
              <a:tailEnd type="triangle" w="sm" len="sm"/>
            </a:ln>
          </p:spPr>
        </p:cxnSp>
        <p:cxnSp>
          <p:nvCxnSpPr>
            <p:cNvPr id="308" name="box_out_3__0"/>
            <p:cNvCxnSpPr>
              <a:cxnSpLocks/>
              <a:stCxn id="133" idx="3"/>
              <a:endCxn id="355" idx="1"/>
            </p:cNvCxnSpPr>
            <p:nvPr/>
          </p:nvCxnSpPr>
          <p:spPr>
            <a:xfrm flipV="1">
              <a:off x="6094800" y="3823920"/>
              <a:ext cx="288477" cy="3240"/>
            </a:xfrm>
            <a:prstGeom prst="straightConnector1">
              <a:avLst/>
            </a:prstGeom>
            <a:ln w="12700">
              <a:solidFill>
                <a:srgbClr val="84966B"/>
              </a:solidFill>
              <a:round/>
              <a:tailEnd type="triangle" w="sm" len="sm"/>
            </a:ln>
          </p:spPr>
        </p:cxnSp>
        <p:cxnSp>
          <p:nvCxnSpPr>
            <p:cNvPr id="309" name="reference_decoder_3__0"/>
            <p:cNvCxnSpPr>
              <a:cxnSpLocks/>
            </p:cNvCxnSpPr>
            <p:nvPr/>
          </p:nvCxnSpPr>
          <p:spPr>
            <a:xfrm>
              <a:off x="1371960" y="3828600"/>
              <a:ext cx="194400" cy="0"/>
            </a:xfrm>
            <a:prstGeom prst="straightConnector1">
              <a:avLst/>
            </a:prstGeom>
            <a:ln w="12700">
              <a:solidFill>
                <a:srgbClr val="687681"/>
              </a:solidFill>
              <a:round/>
              <a:tailEnd type="triangle" w="sm" len="sm"/>
            </a:ln>
          </p:spPr>
        </p:cxnSp>
        <p:cxnSp>
          <p:nvCxnSpPr>
            <p:cNvPr id="310" name="decoder_feature_3__0"/>
            <p:cNvCxnSpPr>
              <a:cxnSpLocks/>
            </p:cNvCxnSpPr>
            <p:nvPr/>
          </p:nvCxnSpPr>
          <p:spPr>
            <a:xfrm flipV="1">
              <a:off x="1817460" y="4174200"/>
              <a:ext cx="192060" cy="0"/>
            </a:xfrm>
            <a:prstGeom prst="straightConnector1">
              <a:avLst/>
            </a:prstGeom>
            <a:ln w="12700">
              <a:solidFill>
                <a:srgbClr val="84966B"/>
              </a:solidFill>
              <a:prstDash val="sysDot"/>
              <a:round/>
              <a:tailEnd type="triangle" w="sm" len="sm"/>
            </a:ln>
          </p:spPr>
        </p:cxnSp>
        <p:cxnSp>
          <p:nvCxnSpPr>
            <p:cNvPr id="311" name="head_to_distribution_6__0"/>
            <p:cNvCxnSpPr>
              <a:cxnSpLocks/>
            </p:cNvCxnSpPr>
            <p:nvPr/>
          </p:nvCxnSpPr>
          <p:spPr>
            <a:xfrm>
              <a:off x="2553840" y="5158440"/>
              <a:ext cx="224640" cy="0"/>
            </a:xfrm>
            <a:prstGeom prst="straightConnector1">
              <a:avLst/>
            </a:prstGeom>
            <a:ln w="12700">
              <a:solidFill>
                <a:srgbClr val="687681"/>
              </a:solidFill>
              <a:round/>
              <a:tailEnd type="triangle" w="sm" len="sm"/>
            </a:ln>
          </p:spPr>
        </p:cxnSp>
        <p:cxnSp>
          <p:nvCxnSpPr>
            <p:cNvPr id="312" name="distribution_out_6__0"/>
            <p:cNvCxnSpPr>
              <a:cxnSpLocks/>
            </p:cNvCxnSpPr>
            <p:nvPr/>
          </p:nvCxnSpPr>
          <p:spPr>
            <a:xfrm>
              <a:off x="3603600" y="5158980"/>
              <a:ext cx="356220" cy="0"/>
            </a:xfrm>
            <a:prstGeom prst="straightConnector1">
              <a:avLst/>
            </a:prstGeom>
            <a:ln w="12700">
              <a:solidFill>
                <a:srgbClr val="687681"/>
              </a:solidFill>
              <a:round/>
            </a:ln>
          </p:spPr>
        </p:cxnSp>
        <p:cxnSp>
          <p:nvCxnSpPr>
            <p:cNvPr id="313" name="dist_ddo_6__0"/>
            <p:cNvCxnSpPr>
              <a:cxnSpLocks/>
            </p:cNvCxnSpPr>
            <p:nvPr/>
          </p:nvCxnSpPr>
          <p:spPr>
            <a:xfrm flipV="1">
              <a:off x="3959820" y="4765320"/>
              <a:ext cx="0" cy="392760"/>
            </a:xfrm>
            <a:prstGeom prst="straightConnector1">
              <a:avLst/>
            </a:prstGeom>
            <a:ln w="12700">
              <a:solidFill>
                <a:srgbClr val="B39A60"/>
              </a:solidFill>
              <a:round/>
            </a:ln>
          </p:spPr>
        </p:cxnSp>
        <p:cxnSp>
          <p:nvCxnSpPr>
            <p:cNvPr id="314" name="dist_ddo_6__1"/>
            <p:cNvCxnSpPr>
              <a:cxnSpLocks/>
            </p:cNvCxnSpPr>
            <p:nvPr/>
          </p:nvCxnSpPr>
          <p:spPr>
            <a:xfrm flipV="1">
              <a:off x="3959820" y="4765320"/>
              <a:ext cx="235620" cy="0"/>
            </a:xfrm>
            <a:prstGeom prst="straightConnector1">
              <a:avLst/>
            </a:prstGeom>
            <a:ln w="12700">
              <a:solidFill>
                <a:srgbClr val="B39A60"/>
              </a:solidFill>
              <a:round/>
              <a:tailEnd type="triangle" w="sm" len="sm"/>
            </a:ln>
          </p:spPr>
        </p:cxnSp>
        <p:cxnSp>
          <p:nvCxnSpPr>
            <p:cNvPr id="315" name="dist_integral_6__0"/>
            <p:cNvCxnSpPr>
              <a:cxnSpLocks/>
            </p:cNvCxnSpPr>
            <p:nvPr/>
          </p:nvCxnSpPr>
          <p:spPr>
            <a:xfrm flipV="1">
              <a:off x="3959820" y="5158080"/>
              <a:ext cx="235620" cy="0"/>
            </a:xfrm>
            <a:prstGeom prst="straightConnector1">
              <a:avLst/>
            </a:prstGeom>
            <a:ln w="12700">
              <a:solidFill>
                <a:srgbClr val="687681"/>
              </a:solidFill>
              <a:round/>
              <a:tailEnd type="triangle" w="sm" len="sm"/>
            </a:ln>
          </p:spPr>
        </p:cxnSp>
        <p:cxnSp>
          <p:nvCxnSpPr>
            <p:cNvPr id="316" name="dist_lqe_trunk_6__0"/>
            <p:cNvCxnSpPr>
              <a:cxnSpLocks/>
            </p:cNvCxnSpPr>
            <p:nvPr/>
          </p:nvCxnSpPr>
          <p:spPr>
            <a:xfrm>
              <a:off x="3957142" y="5158980"/>
              <a:ext cx="0" cy="410295"/>
            </a:xfrm>
            <a:prstGeom prst="straightConnector1">
              <a:avLst/>
            </a:prstGeom>
            <a:ln w="12700">
              <a:solidFill>
                <a:srgbClr val="84966B"/>
              </a:solidFill>
              <a:round/>
            </a:ln>
          </p:spPr>
        </p:cxnSp>
        <p:cxnSp>
          <p:nvCxnSpPr>
            <p:cNvPr id="318" name="ddo_box_6__0"/>
            <p:cNvCxnSpPr>
              <a:cxnSpLocks/>
            </p:cNvCxnSpPr>
            <p:nvPr/>
          </p:nvCxnSpPr>
          <p:spPr>
            <a:xfrm>
              <a:off x="4782240" y="4766040"/>
              <a:ext cx="979020" cy="0"/>
            </a:xfrm>
            <a:prstGeom prst="straightConnector1">
              <a:avLst/>
            </a:prstGeom>
            <a:ln w="12700">
              <a:solidFill>
                <a:srgbClr val="B39A60"/>
              </a:solidFill>
              <a:round/>
            </a:ln>
          </p:spPr>
        </p:cxnSp>
        <p:cxnSp>
          <p:nvCxnSpPr>
            <p:cNvPr id="319" name="ddo_box_6__1"/>
            <p:cNvCxnSpPr>
              <a:cxnSpLocks/>
            </p:cNvCxnSpPr>
            <p:nvPr/>
          </p:nvCxnSpPr>
          <p:spPr>
            <a:xfrm>
              <a:off x="5761260" y="4766040"/>
              <a:ext cx="0" cy="298080"/>
            </a:xfrm>
            <a:prstGeom prst="straightConnector1">
              <a:avLst/>
            </a:prstGeom>
            <a:ln w="12700">
              <a:solidFill>
                <a:srgbClr val="B39A60"/>
              </a:solidFill>
              <a:round/>
              <a:tailEnd type="triangle" w="sm" len="sm"/>
            </a:ln>
          </p:spPr>
        </p:cxnSp>
        <p:cxnSp>
          <p:nvCxnSpPr>
            <p:cNvPr id="321" name="box_out_6__0"/>
            <p:cNvCxnSpPr>
              <a:cxnSpLocks/>
              <a:stCxn id="157" idx="3"/>
              <a:endCxn id="356" idx="1"/>
            </p:cNvCxnSpPr>
            <p:nvPr/>
          </p:nvCxnSpPr>
          <p:spPr>
            <a:xfrm flipV="1">
              <a:off x="6094800" y="5154327"/>
              <a:ext cx="252483" cy="2313"/>
            </a:xfrm>
            <a:prstGeom prst="straightConnector1">
              <a:avLst/>
            </a:prstGeom>
            <a:ln w="12700">
              <a:solidFill>
                <a:srgbClr val="BC8282"/>
              </a:solidFill>
              <a:round/>
              <a:tailEnd type="triangle" w="sm" len="sm"/>
            </a:ln>
          </p:spPr>
        </p:cxnSp>
        <p:cxnSp>
          <p:nvCxnSpPr>
            <p:cNvPr id="322" name="reference_decoder_6__0"/>
            <p:cNvCxnSpPr>
              <a:cxnSpLocks/>
            </p:cNvCxnSpPr>
            <p:nvPr/>
          </p:nvCxnSpPr>
          <p:spPr>
            <a:xfrm>
              <a:off x="1371960" y="5158080"/>
              <a:ext cx="194400" cy="0"/>
            </a:xfrm>
            <a:prstGeom prst="straightConnector1">
              <a:avLst/>
            </a:prstGeom>
            <a:ln w="12700">
              <a:solidFill>
                <a:srgbClr val="687681"/>
              </a:solidFill>
              <a:round/>
              <a:tailEnd type="triangle" w="sm" len="sm"/>
            </a:ln>
          </p:spPr>
        </p:cxnSp>
        <p:cxnSp>
          <p:nvCxnSpPr>
            <p:cNvPr id="323" name="decoder_feature_6__0"/>
            <p:cNvCxnSpPr>
              <a:cxnSpLocks/>
            </p:cNvCxnSpPr>
            <p:nvPr/>
          </p:nvCxnSpPr>
          <p:spPr>
            <a:xfrm flipV="1">
              <a:off x="1817460" y="5504040"/>
              <a:ext cx="192060" cy="0"/>
            </a:xfrm>
            <a:prstGeom prst="straightConnector1">
              <a:avLst/>
            </a:prstGeom>
            <a:ln w="12700">
              <a:solidFill>
                <a:srgbClr val="84966B"/>
              </a:solidFill>
              <a:round/>
              <a:tailEnd type="triangle" w="sm" len="sm"/>
            </a:ln>
          </p:spPr>
        </p:cxnSp>
        <p:cxnSp>
          <p:nvCxnSpPr>
            <p:cNvPr id="324" name="decoder6_feature_stem__0"/>
            <p:cNvCxnSpPr>
              <a:cxnSpLocks/>
            </p:cNvCxnSpPr>
            <p:nvPr/>
          </p:nvCxnSpPr>
          <p:spPr>
            <a:xfrm>
              <a:off x="1817460" y="5269320"/>
              <a:ext cx="0" cy="234720"/>
            </a:xfrm>
            <a:prstGeom prst="straightConnector1">
              <a:avLst/>
            </a:prstGeom>
            <a:ln w="12700">
              <a:solidFill>
                <a:srgbClr val="687681"/>
              </a:solidFill>
              <a:round/>
            </a:ln>
          </p:spPr>
        </p:cxnSp>
        <p:cxnSp>
          <p:nvCxnSpPr>
            <p:cNvPr id="325" name="query_1_2__0"/>
            <p:cNvCxnSpPr>
              <a:cxnSpLocks/>
            </p:cNvCxnSpPr>
            <p:nvPr/>
          </p:nvCxnSpPr>
          <p:spPr>
            <a:xfrm>
              <a:off x="1816380" y="1576080"/>
              <a:ext cx="0" cy="959400"/>
            </a:xfrm>
            <a:prstGeom prst="straightConnector1">
              <a:avLst/>
            </a:prstGeom>
            <a:ln w="12700">
              <a:solidFill>
                <a:srgbClr val="687681"/>
              </a:solidFill>
              <a:round/>
              <a:tailEnd type="triangle" w="sm" len="sm"/>
            </a:ln>
          </p:spPr>
        </p:cxnSp>
        <p:cxnSp>
          <p:nvCxnSpPr>
            <p:cNvPr id="326" name="residual_1_2__0"/>
            <p:cNvCxnSpPr>
              <a:cxnSpLocks/>
            </p:cNvCxnSpPr>
            <p:nvPr/>
          </p:nvCxnSpPr>
          <p:spPr>
            <a:xfrm flipH="1">
              <a:off x="2311380" y="1576080"/>
              <a:ext cx="0" cy="959400"/>
            </a:xfrm>
            <a:prstGeom prst="straightConnector1">
              <a:avLst/>
            </a:prstGeom>
            <a:ln w="12700">
              <a:solidFill>
                <a:srgbClr val="687681"/>
              </a:solidFill>
              <a:round/>
              <a:tailEnd type="triangle" w="sm" len="sm"/>
            </a:ln>
          </p:spPr>
        </p:cxnSp>
        <p:cxnSp>
          <p:nvCxnSpPr>
            <p:cNvPr id="327" name="clc_student_1__0"/>
            <p:cNvCxnSpPr>
              <a:cxnSpLocks/>
            </p:cNvCxnSpPr>
            <p:nvPr/>
          </p:nvCxnSpPr>
          <p:spPr>
            <a:xfrm flipH="1">
              <a:off x="3190860" y="1697459"/>
              <a:ext cx="0" cy="244440"/>
            </a:xfrm>
            <a:prstGeom prst="straightConnector1">
              <a:avLst/>
            </a:prstGeom>
            <a:ln w="12700">
              <a:solidFill>
                <a:srgbClr val="7098B7"/>
              </a:solidFill>
              <a:prstDash val="sysDot"/>
              <a:round/>
              <a:tailEnd type="triangle" w="sm" len="sm"/>
            </a:ln>
          </p:spPr>
        </p:cxnSp>
        <p:cxnSp>
          <p:nvCxnSpPr>
            <p:cNvPr id="328" name="clc_teacher_2__0"/>
            <p:cNvCxnSpPr>
              <a:cxnSpLocks/>
            </p:cNvCxnSpPr>
            <p:nvPr/>
          </p:nvCxnSpPr>
          <p:spPr>
            <a:xfrm flipH="1" flipV="1">
              <a:off x="3190860" y="2155145"/>
              <a:ext cx="0" cy="245520"/>
            </a:xfrm>
            <a:prstGeom prst="straightConnector1">
              <a:avLst/>
            </a:prstGeom>
            <a:ln w="12700">
              <a:solidFill>
                <a:srgbClr val="7098B7"/>
              </a:solidFill>
              <a:prstDash val="sysDot"/>
              <a:round/>
              <a:tailEnd type="triangle" w="sm" len="sm"/>
            </a:ln>
          </p:spPr>
        </p:cxnSp>
        <p:cxnSp>
          <p:nvCxnSpPr>
            <p:cNvPr id="329" name="query_2_3__0"/>
            <p:cNvCxnSpPr>
              <a:cxnSpLocks/>
            </p:cNvCxnSpPr>
            <p:nvPr/>
          </p:nvCxnSpPr>
          <p:spPr>
            <a:xfrm>
              <a:off x="1816380" y="2757960"/>
              <a:ext cx="0" cy="959400"/>
            </a:xfrm>
            <a:prstGeom prst="straightConnector1">
              <a:avLst/>
            </a:prstGeom>
            <a:ln w="12700">
              <a:solidFill>
                <a:srgbClr val="687681"/>
              </a:solidFill>
              <a:round/>
              <a:tailEnd type="triangle" w="sm" len="sm"/>
            </a:ln>
          </p:spPr>
        </p:cxnSp>
        <p:cxnSp>
          <p:nvCxnSpPr>
            <p:cNvPr id="330" name="residual_2_3__0"/>
            <p:cNvCxnSpPr>
              <a:cxnSpLocks/>
            </p:cNvCxnSpPr>
            <p:nvPr/>
          </p:nvCxnSpPr>
          <p:spPr>
            <a:xfrm flipH="1">
              <a:off x="2311380" y="2757960"/>
              <a:ext cx="0" cy="959400"/>
            </a:xfrm>
            <a:prstGeom prst="straightConnector1">
              <a:avLst/>
            </a:prstGeom>
            <a:ln w="12700">
              <a:solidFill>
                <a:srgbClr val="687681"/>
              </a:solidFill>
              <a:round/>
              <a:tailEnd type="triangle" w="sm" len="sm"/>
            </a:ln>
          </p:spPr>
        </p:cxnSp>
        <p:cxnSp>
          <p:nvCxnSpPr>
            <p:cNvPr id="331" name="clc_student_2__0"/>
            <p:cNvCxnSpPr>
              <a:cxnSpLocks/>
            </p:cNvCxnSpPr>
            <p:nvPr/>
          </p:nvCxnSpPr>
          <p:spPr>
            <a:xfrm flipH="1">
              <a:off x="3190860" y="2888412"/>
              <a:ext cx="0" cy="244440"/>
            </a:xfrm>
            <a:prstGeom prst="straightConnector1">
              <a:avLst/>
            </a:prstGeom>
            <a:ln w="12700">
              <a:solidFill>
                <a:srgbClr val="7098B7"/>
              </a:solidFill>
              <a:prstDash val="sysDot"/>
              <a:round/>
              <a:tailEnd type="triangle" w="sm" len="sm"/>
            </a:ln>
          </p:spPr>
        </p:cxnSp>
        <p:cxnSp>
          <p:nvCxnSpPr>
            <p:cNvPr id="332" name="clc_teacher_3__0"/>
            <p:cNvCxnSpPr>
              <a:cxnSpLocks/>
            </p:cNvCxnSpPr>
            <p:nvPr/>
          </p:nvCxnSpPr>
          <p:spPr>
            <a:xfrm flipH="1" flipV="1">
              <a:off x="3190860" y="3347912"/>
              <a:ext cx="0" cy="245520"/>
            </a:xfrm>
            <a:prstGeom prst="straightConnector1">
              <a:avLst/>
            </a:prstGeom>
            <a:ln w="12700">
              <a:solidFill>
                <a:srgbClr val="7098B7"/>
              </a:solidFill>
              <a:prstDash val="sysDot"/>
              <a:round/>
              <a:tailEnd type="triangle" w="sm" len="sm"/>
            </a:ln>
          </p:spPr>
        </p:cxnSp>
        <p:cxnSp>
          <p:nvCxnSpPr>
            <p:cNvPr id="333" name="query_3_omitted__0"/>
            <p:cNvCxnSpPr>
              <a:cxnSpLocks/>
            </p:cNvCxnSpPr>
            <p:nvPr/>
          </p:nvCxnSpPr>
          <p:spPr>
            <a:xfrm>
              <a:off x="1817460" y="3939840"/>
              <a:ext cx="0" cy="481680"/>
            </a:xfrm>
            <a:prstGeom prst="straightConnector1">
              <a:avLst/>
            </a:prstGeom>
            <a:ln w="12700">
              <a:solidFill>
                <a:srgbClr val="687681"/>
              </a:solidFill>
              <a:round/>
            </a:ln>
          </p:spPr>
        </p:cxnSp>
        <p:cxnSp>
          <p:nvCxnSpPr>
            <p:cNvPr id="334" name="query_omitted_6__0"/>
            <p:cNvCxnSpPr>
              <a:cxnSpLocks/>
            </p:cNvCxnSpPr>
            <p:nvPr/>
          </p:nvCxnSpPr>
          <p:spPr>
            <a:xfrm flipH="1">
              <a:off x="1817100" y="4714920"/>
              <a:ext cx="0" cy="331920"/>
            </a:xfrm>
            <a:prstGeom prst="straightConnector1">
              <a:avLst/>
            </a:prstGeom>
            <a:ln w="12700">
              <a:solidFill>
                <a:srgbClr val="687681"/>
              </a:solidFill>
              <a:round/>
              <a:tailEnd type="triangle" w="sm" len="sm"/>
            </a:ln>
          </p:spPr>
        </p:cxnSp>
        <p:cxnSp>
          <p:nvCxnSpPr>
            <p:cNvPr id="335" name="residual_3_omitted__0"/>
            <p:cNvCxnSpPr>
              <a:cxnSpLocks/>
            </p:cNvCxnSpPr>
            <p:nvPr/>
          </p:nvCxnSpPr>
          <p:spPr>
            <a:xfrm>
              <a:off x="2312460" y="3939840"/>
              <a:ext cx="0" cy="481680"/>
            </a:xfrm>
            <a:prstGeom prst="straightConnector1">
              <a:avLst/>
            </a:prstGeom>
            <a:ln w="12700">
              <a:solidFill>
                <a:srgbClr val="687681"/>
              </a:solidFill>
              <a:round/>
            </a:ln>
          </p:spPr>
        </p:cxnSp>
        <p:cxnSp>
          <p:nvCxnSpPr>
            <p:cNvPr id="336" name="residual_omitted_6__0"/>
            <p:cNvCxnSpPr>
              <a:cxnSpLocks/>
            </p:cNvCxnSpPr>
            <p:nvPr/>
          </p:nvCxnSpPr>
          <p:spPr>
            <a:xfrm flipH="1">
              <a:off x="2312280" y="4714920"/>
              <a:ext cx="0" cy="331920"/>
            </a:xfrm>
            <a:prstGeom prst="straightConnector1">
              <a:avLst/>
            </a:prstGeom>
            <a:ln w="12700">
              <a:solidFill>
                <a:srgbClr val="687681"/>
              </a:solidFill>
              <a:round/>
              <a:tailEnd type="triangle" w="sm" len="sm"/>
            </a:ln>
          </p:spPr>
        </p:cxnSp>
        <p:cxnSp>
          <p:nvCxnSpPr>
            <p:cNvPr id="337" name="distributions_frd__0"/>
            <p:cNvCxnSpPr>
              <a:cxnSpLocks/>
            </p:cNvCxnSpPr>
            <p:nvPr/>
          </p:nvCxnSpPr>
          <p:spPr>
            <a:xfrm>
              <a:off x="3189060" y="5495127"/>
              <a:ext cx="0" cy="321120"/>
            </a:xfrm>
            <a:prstGeom prst="straightConnector1">
              <a:avLst/>
            </a:prstGeom>
            <a:ln w="19050">
              <a:solidFill>
                <a:srgbClr val="9683AB"/>
              </a:solidFill>
              <a:prstDash val="sysDash"/>
              <a:round/>
              <a:tailEnd type="triangle" w="sm" len="sm"/>
            </a:ln>
          </p:spPr>
        </p:cxnSp>
        <p:cxnSp>
          <p:nvCxnSpPr>
            <p:cNvPr id="338" name="gt_frd__0"/>
            <p:cNvCxnSpPr>
              <a:cxnSpLocks/>
              <a:stCxn id="196" idx="3"/>
              <a:endCxn id="186" idx="1"/>
            </p:cNvCxnSpPr>
            <p:nvPr/>
          </p:nvCxnSpPr>
          <p:spPr>
            <a:xfrm>
              <a:off x="1653687" y="5974608"/>
              <a:ext cx="506265" cy="37"/>
            </a:xfrm>
            <a:prstGeom prst="straightConnector1">
              <a:avLst/>
            </a:prstGeom>
            <a:ln w="12700">
              <a:solidFill>
                <a:srgbClr val="9683AB"/>
              </a:solidFill>
              <a:prstDash val="dash"/>
              <a:round/>
              <a:tailEnd type="triangle" w="sm" len="sm"/>
            </a:ln>
          </p:spPr>
        </p:cxnSp>
        <p:cxnSp>
          <p:nvCxnSpPr>
            <p:cNvPr id="339" name="legend_forward__0"/>
            <p:cNvCxnSpPr>
              <a:cxnSpLocks/>
            </p:cNvCxnSpPr>
            <p:nvPr/>
          </p:nvCxnSpPr>
          <p:spPr>
            <a:xfrm>
              <a:off x="4391797" y="5900844"/>
              <a:ext cx="545956" cy="1080"/>
            </a:xfrm>
            <a:prstGeom prst="straightConnector1">
              <a:avLst/>
            </a:prstGeom>
            <a:ln w="19050">
              <a:solidFill>
                <a:srgbClr val="687681"/>
              </a:solidFill>
              <a:round/>
              <a:tailEnd type="triangle" w="sm" len="sm"/>
            </a:ln>
          </p:spPr>
        </p:cxnSp>
        <p:cxnSp>
          <p:nvCxnSpPr>
            <p:cNvPr id="340" name="legend_training__0"/>
            <p:cNvCxnSpPr>
              <a:cxnSpLocks/>
            </p:cNvCxnSpPr>
            <p:nvPr/>
          </p:nvCxnSpPr>
          <p:spPr>
            <a:xfrm flipV="1">
              <a:off x="4399055" y="6064284"/>
              <a:ext cx="545956" cy="8460"/>
            </a:xfrm>
            <a:prstGeom prst="straightConnector1">
              <a:avLst/>
            </a:prstGeom>
            <a:ln w="12700">
              <a:solidFill>
                <a:srgbClr val="687681"/>
              </a:solidFill>
              <a:prstDash val="sysDot"/>
              <a:round/>
              <a:tailEnd type="triangle" w="sm" len="sm"/>
            </a:ln>
          </p:spPr>
        </p:cxnSp>
        <p:cxnSp>
          <p:nvCxnSpPr>
            <p:cNvPr id="341" name="clc_3_omitted__0"/>
            <p:cNvCxnSpPr>
              <a:cxnSpLocks/>
            </p:cNvCxnSpPr>
            <p:nvPr/>
          </p:nvCxnSpPr>
          <p:spPr>
            <a:xfrm flipH="1">
              <a:off x="3188880" y="4065301"/>
              <a:ext cx="2520" cy="280440"/>
            </a:xfrm>
            <a:prstGeom prst="straightConnector1">
              <a:avLst/>
            </a:prstGeom>
            <a:ln w="12700">
              <a:solidFill>
                <a:srgbClr val="7098B7"/>
              </a:solidFill>
              <a:prstDash val="sysDot"/>
              <a:round/>
              <a:tailEnd type="triangle" w="sm" len="sm"/>
            </a:ln>
          </p:spPr>
        </p:cxnSp>
        <p:cxnSp>
          <p:nvCxnSpPr>
            <p:cNvPr id="342" name="clc_omitted_6__0"/>
            <p:cNvCxnSpPr>
              <a:cxnSpLocks/>
            </p:cNvCxnSpPr>
            <p:nvPr/>
          </p:nvCxnSpPr>
          <p:spPr>
            <a:xfrm flipV="1">
              <a:off x="3189060" y="4671332"/>
              <a:ext cx="0" cy="254873"/>
            </a:xfrm>
            <a:prstGeom prst="straightConnector1">
              <a:avLst/>
            </a:prstGeom>
            <a:ln w="12700">
              <a:solidFill>
                <a:srgbClr val="7098B7"/>
              </a:solidFill>
              <a:prstDash val="sysDot"/>
              <a:round/>
              <a:tailEnd type="triangle" w="sm" len="sm"/>
            </a:ln>
          </p:spPr>
        </p:cxnSp>
        <p:grpSp>
          <p:nvGrpSpPr>
            <p:cNvPr id="21" name="组合 20">
              <a:extLst>
                <a:ext uri="{FF2B5EF4-FFF2-40B4-BE49-F238E27FC236}">
                  <a16:creationId xmlns:a16="http://schemas.microsoft.com/office/drawing/2014/main" id="{3169F160-573D-6731-885A-F672A8500A62}"/>
                </a:ext>
              </a:extLst>
            </p:cNvPr>
            <p:cNvGrpSpPr/>
            <p:nvPr/>
          </p:nvGrpSpPr>
          <p:grpSpPr>
            <a:xfrm>
              <a:off x="4782240" y="1413360"/>
              <a:ext cx="654120" cy="104760"/>
              <a:chOff x="4782240" y="1413360"/>
              <a:chExt cx="654120" cy="104760"/>
            </a:xfrm>
          </p:grpSpPr>
          <p:sp>
            <p:nvSpPr>
              <p:cNvPr id="208" name="edge_offsets_1"/>
              <p:cNvSpPr/>
              <p:nvPr/>
            </p:nvSpPr>
            <p:spPr>
              <a:xfrm>
                <a:off x="4869360" y="1413360"/>
                <a:ext cx="479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Edge </a:t>
                </a:r>
              </a:p>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offsets</a:t>
                </a:r>
              </a:p>
            </p:txBody>
          </p:sp>
          <p:cxnSp>
            <p:nvCxnSpPr>
              <p:cNvPr id="343" name="integral_offsets_1__0"/>
              <p:cNvCxnSpPr>
                <a:cxnSpLocks/>
              </p:cNvCxnSpPr>
              <p:nvPr/>
            </p:nvCxnSpPr>
            <p:spPr>
              <a:xfrm>
                <a:off x="4782240" y="1465560"/>
                <a:ext cx="162720" cy="180"/>
              </a:xfrm>
              <a:prstGeom prst="straightConnector1">
                <a:avLst/>
              </a:prstGeom>
              <a:ln w="12700">
                <a:solidFill>
                  <a:srgbClr val="687681"/>
                </a:solidFill>
                <a:round/>
              </a:ln>
            </p:spPr>
          </p:cxnSp>
          <p:cxnSp>
            <p:nvCxnSpPr>
              <p:cNvPr id="344" name="offsets_box_1__0"/>
              <p:cNvCxnSpPr>
                <a:cxnSpLocks/>
              </p:cNvCxnSpPr>
              <p:nvPr/>
            </p:nvCxnSpPr>
            <p:spPr>
              <a:xfrm flipV="1">
                <a:off x="5260521" y="1464840"/>
                <a:ext cx="175839" cy="900"/>
              </a:xfrm>
              <a:prstGeom prst="straightConnector1">
                <a:avLst/>
              </a:prstGeom>
              <a:ln w="12700">
                <a:solidFill>
                  <a:srgbClr val="687681"/>
                </a:solidFill>
                <a:round/>
                <a:tailEnd type="triangle" w="sm" len="sm"/>
              </a:ln>
            </p:spPr>
          </p:cxnSp>
        </p:grpSp>
        <p:pic>
          <p:nvPicPr>
            <p:cNvPr id="351" name="input_picture" descr="Source: B_rank11/panels/original.jpg"/>
            <p:cNvPicPr/>
            <p:nvPr/>
          </p:nvPicPr>
          <p:blipFill>
            <a:blip r:embed="rId3"/>
            <a:stretch/>
          </p:blipFill>
          <p:spPr>
            <a:xfrm>
              <a:off x="736468" y="447960"/>
              <a:ext cx="882258" cy="511070"/>
            </a:xfrm>
            <a:prstGeom prst="rect">
              <a:avLst/>
            </a:prstGeom>
            <a:noFill/>
            <a:ln w="9525">
              <a:noFill/>
            </a:ln>
          </p:spPr>
        </p:pic>
        <p:pic>
          <p:nvPicPr>
            <p:cNvPr id="352" name="output_b0" descr="Source: B_rank11/panels/c_zoom_b0.png"/>
            <p:cNvPicPr/>
            <p:nvPr/>
          </p:nvPicPr>
          <p:blipFill>
            <a:blip r:embed="rId4"/>
            <a:srcRect l="3106" t="11189" r="2763" b="2920"/>
            <a:stretch/>
          </p:blipFill>
          <p:spPr>
            <a:xfrm>
              <a:off x="6353037" y="303480"/>
              <a:ext cx="615960" cy="597600"/>
            </a:xfrm>
            <a:prstGeom prst="rect">
              <a:avLst/>
            </a:prstGeom>
            <a:noFill/>
            <a:ln w="9525">
              <a:solidFill>
                <a:srgbClr val="B39A60"/>
              </a:solidFill>
              <a:round/>
            </a:ln>
          </p:spPr>
        </p:pic>
        <p:pic>
          <p:nvPicPr>
            <p:cNvPr id="353" name="output_b1" descr="Source: B_rank11/panels/c_zoom_b1.png"/>
            <p:cNvPicPr/>
            <p:nvPr/>
          </p:nvPicPr>
          <p:blipFill>
            <a:blip r:embed="rId5"/>
            <a:srcRect l="3106" t="11324" r="2763" b="2915"/>
            <a:stretch/>
          </p:blipFill>
          <p:spPr>
            <a:xfrm>
              <a:off x="6355945" y="1165961"/>
              <a:ext cx="615960" cy="597600"/>
            </a:xfrm>
            <a:prstGeom prst="rect">
              <a:avLst/>
            </a:prstGeom>
            <a:noFill/>
            <a:ln w="9525">
              <a:solidFill>
                <a:srgbClr val="887399"/>
              </a:solidFill>
              <a:round/>
            </a:ln>
          </p:spPr>
        </p:pic>
        <p:pic>
          <p:nvPicPr>
            <p:cNvPr id="354" name="output_b2" descr="Source: B_rank11/panels/c_zoom_b2.png"/>
            <p:cNvPicPr/>
            <p:nvPr/>
          </p:nvPicPr>
          <p:blipFill>
            <a:blip r:embed="rId6"/>
            <a:srcRect l="3106" t="11324" r="2763" b="2915"/>
            <a:stretch/>
          </p:blipFill>
          <p:spPr>
            <a:xfrm>
              <a:off x="6361757" y="2346480"/>
              <a:ext cx="615960" cy="597600"/>
            </a:xfrm>
            <a:prstGeom prst="rect">
              <a:avLst/>
            </a:prstGeom>
            <a:noFill/>
            <a:ln w="9525">
              <a:solidFill>
                <a:srgbClr val="668EAA"/>
              </a:solidFill>
              <a:round/>
            </a:ln>
          </p:spPr>
        </p:pic>
        <p:pic>
          <p:nvPicPr>
            <p:cNvPr id="355" name="output_b3" descr="Source: B_rank11/panels/c_zoom_b3.png"/>
            <p:cNvPicPr/>
            <p:nvPr/>
          </p:nvPicPr>
          <p:blipFill>
            <a:blip r:embed="rId7"/>
            <a:srcRect l="3106" t="11189" r="2763" b="2920"/>
            <a:stretch/>
          </p:blipFill>
          <p:spPr>
            <a:xfrm>
              <a:off x="6383277" y="3525120"/>
              <a:ext cx="615960" cy="597600"/>
            </a:xfrm>
            <a:prstGeom prst="rect">
              <a:avLst/>
            </a:prstGeom>
            <a:noFill/>
            <a:ln w="9525">
              <a:solidFill>
                <a:srgbClr val="84966B"/>
              </a:solidFill>
              <a:round/>
            </a:ln>
          </p:spPr>
        </p:pic>
        <p:pic>
          <p:nvPicPr>
            <p:cNvPr id="356" name="output_b6" descr="Source: B_rank11/panels/c_zoom_b6.png"/>
            <p:cNvPicPr/>
            <p:nvPr/>
          </p:nvPicPr>
          <p:blipFill>
            <a:blip r:embed="rId8"/>
            <a:srcRect l="3106" t="11189" r="2763" b="2920"/>
            <a:stretch/>
          </p:blipFill>
          <p:spPr>
            <a:xfrm>
              <a:off x="6347283" y="4845807"/>
              <a:ext cx="636274" cy="617040"/>
            </a:xfrm>
            <a:prstGeom prst="rect">
              <a:avLst/>
            </a:prstGeom>
            <a:noFill/>
            <a:ln w="9525">
              <a:solidFill>
                <a:srgbClr val="BC8282"/>
              </a:solidFill>
              <a:round/>
            </a:ln>
          </p:spPr>
        </p:pic>
        <p:sp>
          <p:nvSpPr>
            <p:cNvPr id="357" name="output_b0_label"/>
            <p:cNvSpPr/>
            <p:nvPr/>
          </p:nvSpPr>
          <p:spPr>
            <a:xfrm>
              <a:off x="6708739" y="158875"/>
              <a:ext cx="313692" cy="115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1000" b="1" i="1" u="none" strike="noStrike" dirty="0">
                  <a:effectLst/>
                  <a:uFillTx/>
                  <a:latin typeface="Times New Roman" panose="02020603050405020304" pitchFamily="18" charset="0"/>
                  <a:cs typeface="Times New Roman" panose="02020603050405020304" pitchFamily="18" charset="0"/>
                </a:rPr>
                <a:t>b</a:t>
              </a:r>
              <a:r>
                <a:rPr lang="en-US" sz="1000" b="1" i="1" u="none" strike="noStrike" baseline="-25000" dirty="0">
                  <a:effectLst/>
                  <a:uFillTx/>
                  <a:latin typeface="Times New Roman" panose="02020603050405020304" pitchFamily="18" charset="0"/>
                  <a:cs typeface="Times New Roman" panose="02020603050405020304" pitchFamily="18" charset="0"/>
                </a:rPr>
                <a:t>0</a:t>
              </a:r>
              <a:endParaRPr lang="en-US" sz="1000" b="1" u="none" strike="noStrike" dirty="0">
                <a:effectLst/>
                <a:uFillTx/>
                <a:latin typeface="Times New Roman" panose="02020603050405020304" pitchFamily="18" charset="0"/>
                <a:cs typeface="Times New Roman" panose="02020603050405020304" pitchFamily="18" charset="0"/>
              </a:endParaRPr>
            </a:p>
          </p:txBody>
        </p:sp>
        <p:sp>
          <p:nvSpPr>
            <p:cNvPr id="358" name="output_b1_label"/>
            <p:cNvSpPr/>
            <p:nvPr/>
          </p:nvSpPr>
          <p:spPr>
            <a:xfrm>
              <a:off x="6376307" y="1028880"/>
              <a:ext cx="627289" cy="113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1</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359" name="output_b2_label"/>
            <p:cNvSpPr/>
            <p:nvPr/>
          </p:nvSpPr>
          <p:spPr>
            <a:xfrm>
              <a:off x="6366490" y="2210393"/>
              <a:ext cx="615960" cy="113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2</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360" name="output_b3_label"/>
            <p:cNvSpPr/>
            <p:nvPr/>
          </p:nvSpPr>
          <p:spPr>
            <a:xfrm>
              <a:off x="6413760" y="3370942"/>
              <a:ext cx="582126" cy="130629"/>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3</a:t>
              </a:r>
              <a:endParaRPr lang="en-US" sz="900" b="1" u="none" strike="noStrike" dirty="0">
                <a:effectLst/>
                <a:uFillTx/>
                <a:latin typeface="Times New Roman" panose="02020603050405020304" pitchFamily="18" charset="0"/>
                <a:cs typeface="Times New Roman" panose="02020603050405020304" pitchFamily="18" charset="0"/>
              </a:endParaRPr>
            </a:p>
          </p:txBody>
        </p:sp>
        <p:sp>
          <p:nvSpPr>
            <p:cNvPr id="361" name="output_b6_label"/>
            <p:cNvSpPr/>
            <p:nvPr/>
          </p:nvSpPr>
          <p:spPr>
            <a:xfrm>
              <a:off x="6345184" y="4704445"/>
              <a:ext cx="615960" cy="113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900" b="1" i="1" u="none" strike="noStrike" dirty="0">
                  <a:effectLst/>
                  <a:uFillTx/>
                  <a:latin typeface="Times New Roman" panose="02020603050405020304" pitchFamily="18" charset="0"/>
                  <a:cs typeface="Times New Roman" panose="02020603050405020304" pitchFamily="18" charset="0"/>
                </a:rPr>
                <a:t>b</a:t>
              </a:r>
              <a:r>
                <a:rPr lang="en-US" sz="900" b="1" i="1" u="none" strike="noStrike" baseline="-25000" dirty="0">
                  <a:effectLst/>
                  <a:uFillTx/>
                  <a:latin typeface="Times New Roman" panose="02020603050405020304" pitchFamily="18" charset="0"/>
                  <a:cs typeface="Times New Roman" panose="02020603050405020304" pitchFamily="18" charset="0"/>
                </a:rPr>
                <a:t>6</a:t>
              </a:r>
              <a:endParaRPr lang="en-US" sz="900" b="1" u="none" strike="noStrike" dirty="0">
                <a:effectLst/>
                <a:uFillTx/>
                <a:latin typeface="Times New Roman" panose="02020603050405020304" pitchFamily="18" charset="0"/>
                <a:cs typeface="Times New Roman" panose="02020603050405020304" pitchFamily="18" charset="0"/>
              </a:endParaRPr>
            </a:p>
          </p:txBody>
        </p:sp>
        <p:pic>
          <p:nvPicPr>
            <p:cNvPr id="362" name="left_refined_layer_1" descr="PDF excerpt: B_rank11/overview_4edges_x_6layers.pdf, Left, Layer 1"/>
            <p:cNvPicPr/>
            <p:nvPr/>
          </p:nvPicPr>
          <p:blipFill>
            <a:blip r:embed="rId9"/>
            <a:stretch/>
          </p:blipFill>
          <p:spPr>
            <a:xfrm>
              <a:off x="2777400" y="1226160"/>
              <a:ext cx="823320" cy="474480"/>
            </a:xfrm>
            <a:prstGeom prst="rect">
              <a:avLst/>
            </a:prstGeom>
            <a:noFill/>
            <a:ln w="0">
              <a:noFill/>
            </a:ln>
          </p:spPr>
        </p:pic>
        <p:sp>
          <p:nvSpPr>
            <p:cNvPr id="363" name="left_layer1_probability_white_mask"/>
            <p:cNvSpPr/>
            <p:nvPr/>
          </p:nvSpPr>
          <p:spPr>
            <a:xfrm>
              <a:off x="2789640" y="1338840"/>
              <a:ext cx="27360" cy="16524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p:style>
          <p:txBody>
            <a:bodyPr lIns="13680" tIns="45000" rIns="1368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pic>
          <p:nvPicPr>
            <p:cNvPr id="364" name="left_refined_layer_2" descr="PDF excerpt: B_rank11/overview_4edges_x_6layers.pdf, Left, Layer 2"/>
            <p:cNvPicPr/>
            <p:nvPr/>
          </p:nvPicPr>
          <p:blipFill>
            <a:blip r:embed="rId10"/>
            <a:stretch/>
          </p:blipFill>
          <p:spPr>
            <a:xfrm>
              <a:off x="2777400" y="2408040"/>
              <a:ext cx="823320" cy="474480"/>
            </a:xfrm>
            <a:prstGeom prst="rect">
              <a:avLst/>
            </a:prstGeom>
            <a:noFill/>
            <a:ln w="0">
              <a:noFill/>
            </a:ln>
          </p:spPr>
        </p:pic>
        <p:pic>
          <p:nvPicPr>
            <p:cNvPr id="365" name="left_refined_layer_3" descr="PDF excerpt: B_rank11/overview_4edges_x_6layers.pdf, Left, Layer 3"/>
            <p:cNvPicPr/>
            <p:nvPr/>
          </p:nvPicPr>
          <p:blipFill>
            <a:blip r:embed="rId11"/>
            <a:stretch/>
          </p:blipFill>
          <p:spPr>
            <a:xfrm>
              <a:off x="2777400" y="3589920"/>
              <a:ext cx="823320" cy="474480"/>
            </a:xfrm>
            <a:prstGeom prst="rect">
              <a:avLst/>
            </a:prstGeom>
            <a:noFill/>
            <a:ln w="0">
              <a:noFill/>
            </a:ln>
          </p:spPr>
        </p:pic>
        <p:pic>
          <p:nvPicPr>
            <p:cNvPr id="366" name="left_refined_layer_6" descr="PDF excerpt: B_rank11/overview_4edges_x_6layers.pdf, Left, Layer 6"/>
            <p:cNvPicPr/>
            <p:nvPr/>
          </p:nvPicPr>
          <p:blipFill>
            <a:blip r:embed="rId12"/>
            <a:stretch/>
          </p:blipFill>
          <p:spPr>
            <a:xfrm>
              <a:off x="2777400" y="4919400"/>
              <a:ext cx="823320" cy="474480"/>
            </a:xfrm>
            <a:prstGeom prst="rect">
              <a:avLst/>
            </a:prstGeom>
            <a:noFill/>
            <a:ln w="0">
              <a:noFill/>
            </a:ln>
          </p:spPr>
        </p:pic>
        <p:pic>
          <p:nvPicPr>
            <p:cNvPr id="3" name="图片 2">
              <a:extLst>
                <a:ext uri="{FF2B5EF4-FFF2-40B4-BE49-F238E27FC236}">
                  <a16:creationId xmlns:a16="http://schemas.microsoft.com/office/drawing/2014/main" id="{480E8BFD-61CD-D4E1-20FB-3F5A997F0986}"/>
                </a:ext>
              </a:extLst>
            </p:cNvPr>
            <p:cNvPicPr>
              <a:picLocks noChangeAspect="1"/>
            </p:cNvPicPr>
            <p:nvPr/>
          </p:nvPicPr>
          <p:blipFill>
            <a:blip r:embed="rId13"/>
            <a:stretch>
              <a:fillRect/>
            </a:stretch>
          </p:blipFill>
          <p:spPr>
            <a:xfrm>
              <a:off x="6447064" y="1838247"/>
              <a:ext cx="481496" cy="308158"/>
            </a:xfrm>
            <a:prstGeom prst="rect">
              <a:avLst/>
            </a:prstGeom>
          </p:spPr>
        </p:pic>
        <p:pic>
          <p:nvPicPr>
            <p:cNvPr id="5" name="图片 4">
              <a:extLst>
                <a:ext uri="{FF2B5EF4-FFF2-40B4-BE49-F238E27FC236}">
                  <a16:creationId xmlns:a16="http://schemas.microsoft.com/office/drawing/2014/main" id="{73F3CEB6-FD99-7EA4-EFE9-D0B154EBC110}"/>
                </a:ext>
              </a:extLst>
            </p:cNvPr>
            <p:cNvPicPr>
              <a:picLocks noChangeAspect="1"/>
            </p:cNvPicPr>
            <p:nvPr/>
          </p:nvPicPr>
          <p:blipFill>
            <a:blip r:embed="rId14"/>
            <a:stretch>
              <a:fillRect/>
            </a:stretch>
          </p:blipFill>
          <p:spPr>
            <a:xfrm>
              <a:off x="6463391" y="3015103"/>
              <a:ext cx="433663" cy="297977"/>
            </a:xfrm>
            <a:prstGeom prst="rect">
              <a:avLst/>
            </a:prstGeom>
          </p:spPr>
        </p:pic>
        <p:pic>
          <p:nvPicPr>
            <p:cNvPr id="7" name="图片 6">
              <a:extLst>
                <a:ext uri="{FF2B5EF4-FFF2-40B4-BE49-F238E27FC236}">
                  <a16:creationId xmlns:a16="http://schemas.microsoft.com/office/drawing/2014/main" id="{425DF64F-7646-EFB2-994C-D0C766BC7601}"/>
                </a:ext>
              </a:extLst>
            </p:cNvPr>
            <p:cNvPicPr>
              <a:picLocks noChangeAspect="1"/>
            </p:cNvPicPr>
            <p:nvPr/>
          </p:nvPicPr>
          <p:blipFill>
            <a:blip r:embed="rId15"/>
            <a:stretch>
              <a:fillRect/>
            </a:stretch>
          </p:blipFill>
          <p:spPr>
            <a:xfrm>
              <a:off x="6517334" y="4219563"/>
              <a:ext cx="411423" cy="287997"/>
            </a:xfrm>
            <a:prstGeom prst="rect">
              <a:avLst/>
            </a:prstGeom>
          </p:spPr>
        </p:pic>
        <p:pic>
          <p:nvPicPr>
            <p:cNvPr id="9" name="图片 8">
              <a:extLst>
                <a:ext uri="{FF2B5EF4-FFF2-40B4-BE49-F238E27FC236}">
                  <a16:creationId xmlns:a16="http://schemas.microsoft.com/office/drawing/2014/main" id="{4A24B1FA-F805-D2AF-2D01-BE6FEFC67748}"/>
                </a:ext>
              </a:extLst>
            </p:cNvPr>
            <p:cNvPicPr>
              <a:picLocks noChangeAspect="1"/>
            </p:cNvPicPr>
            <p:nvPr/>
          </p:nvPicPr>
          <p:blipFill>
            <a:blip r:embed="rId16"/>
            <a:stretch>
              <a:fillRect/>
            </a:stretch>
          </p:blipFill>
          <p:spPr>
            <a:xfrm>
              <a:off x="6446297" y="5605574"/>
              <a:ext cx="435013" cy="348010"/>
            </a:xfrm>
            <a:prstGeom prst="rect">
              <a:avLst/>
            </a:prstGeom>
          </p:spPr>
        </p:pic>
        <p:sp>
          <p:nvSpPr>
            <p:cNvPr id="16" name="encoder_title">
              <a:extLst>
                <a:ext uri="{FF2B5EF4-FFF2-40B4-BE49-F238E27FC236}">
                  <a16:creationId xmlns:a16="http://schemas.microsoft.com/office/drawing/2014/main" id="{E2F5D8AB-1FC6-9D77-38CC-45B7557A0ED5}"/>
                </a:ext>
              </a:extLst>
            </p:cNvPr>
            <p:cNvSpPr/>
            <p:nvPr/>
          </p:nvSpPr>
          <p:spPr>
            <a:xfrm>
              <a:off x="893873" y="1118132"/>
              <a:ext cx="424440" cy="162777"/>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spc="-45" dirty="0">
                  <a:effectLst/>
                  <a:uFillTx/>
                  <a:latin typeface="Times New Roman" panose="02020603050405020304" pitchFamily="18" charset="0"/>
                  <a:cs typeface="Times New Roman" panose="02020603050405020304" pitchFamily="18" charset="0"/>
                </a:rPr>
                <a:t>Backbone</a:t>
              </a:r>
              <a:endParaRPr lang="en-US" sz="700" b="1" u="none" strike="noStrike" dirty="0">
                <a:effectLst/>
                <a:uFillTx/>
                <a:latin typeface="Times New Roman" panose="02020603050405020304" pitchFamily="18" charset="0"/>
                <a:cs typeface="Times New Roman" panose="02020603050405020304" pitchFamily="18" charset="0"/>
              </a:endParaRPr>
            </a:p>
          </p:txBody>
        </p:sp>
        <p:grpSp>
          <p:nvGrpSpPr>
            <p:cNvPr id="22" name="组合 21">
              <a:extLst>
                <a:ext uri="{FF2B5EF4-FFF2-40B4-BE49-F238E27FC236}">
                  <a16:creationId xmlns:a16="http://schemas.microsoft.com/office/drawing/2014/main" id="{91814209-0C6E-F2DC-E64F-D5C0C7CC3F5B}"/>
                </a:ext>
              </a:extLst>
            </p:cNvPr>
            <p:cNvGrpSpPr/>
            <p:nvPr/>
          </p:nvGrpSpPr>
          <p:grpSpPr>
            <a:xfrm>
              <a:off x="4779641" y="2587320"/>
              <a:ext cx="654120" cy="104760"/>
              <a:chOff x="4782240" y="1413360"/>
              <a:chExt cx="654120" cy="104760"/>
            </a:xfrm>
          </p:grpSpPr>
          <p:sp>
            <p:nvSpPr>
              <p:cNvPr id="23" name="edge_offsets_1">
                <a:extLst>
                  <a:ext uri="{FF2B5EF4-FFF2-40B4-BE49-F238E27FC236}">
                    <a16:creationId xmlns:a16="http://schemas.microsoft.com/office/drawing/2014/main" id="{489E984B-2EFB-BDA3-CEAF-393F4A24B70F}"/>
                  </a:ext>
                </a:extLst>
              </p:cNvPr>
              <p:cNvSpPr/>
              <p:nvPr/>
            </p:nvSpPr>
            <p:spPr>
              <a:xfrm>
                <a:off x="4869360" y="1413360"/>
                <a:ext cx="479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Edge </a:t>
                </a:r>
              </a:p>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offsets</a:t>
                </a:r>
              </a:p>
            </p:txBody>
          </p:sp>
          <p:cxnSp>
            <p:nvCxnSpPr>
              <p:cNvPr id="24" name="integral_offsets_1__0">
                <a:extLst>
                  <a:ext uri="{FF2B5EF4-FFF2-40B4-BE49-F238E27FC236}">
                    <a16:creationId xmlns:a16="http://schemas.microsoft.com/office/drawing/2014/main" id="{E7485BCA-55CE-7914-75F8-3C319137B195}"/>
                  </a:ext>
                </a:extLst>
              </p:cNvPr>
              <p:cNvCxnSpPr>
                <a:cxnSpLocks/>
              </p:cNvCxnSpPr>
              <p:nvPr/>
            </p:nvCxnSpPr>
            <p:spPr>
              <a:xfrm>
                <a:off x="4782240" y="1465560"/>
                <a:ext cx="162720" cy="180"/>
              </a:xfrm>
              <a:prstGeom prst="straightConnector1">
                <a:avLst/>
              </a:prstGeom>
              <a:ln w="12700">
                <a:solidFill>
                  <a:srgbClr val="687681"/>
                </a:solidFill>
                <a:round/>
              </a:ln>
            </p:spPr>
          </p:cxnSp>
          <p:cxnSp>
            <p:nvCxnSpPr>
              <p:cNvPr id="25" name="offsets_box_1__0">
                <a:extLst>
                  <a:ext uri="{FF2B5EF4-FFF2-40B4-BE49-F238E27FC236}">
                    <a16:creationId xmlns:a16="http://schemas.microsoft.com/office/drawing/2014/main" id="{3661C235-B704-A0A5-8AB7-F2C8A7BC668B}"/>
                  </a:ext>
                </a:extLst>
              </p:cNvPr>
              <p:cNvCxnSpPr>
                <a:cxnSpLocks/>
              </p:cNvCxnSpPr>
              <p:nvPr/>
            </p:nvCxnSpPr>
            <p:spPr>
              <a:xfrm flipV="1">
                <a:off x="5260521" y="1464840"/>
                <a:ext cx="175839" cy="900"/>
              </a:xfrm>
              <a:prstGeom prst="straightConnector1">
                <a:avLst/>
              </a:prstGeom>
              <a:ln w="12700">
                <a:solidFill>
                  <a:srgbClr val="687681"/>
                </a:solidFill>
                <a:round/>
                <a:tailEnd type="triangle" w="sm" len="sm"/>
              </a:ln>
            </p:spPr>
          </p:cxnSp>
        </p:grpSp>
        <p:grpSp>
          <p:nvGrpSpPr>
            <p:cNvPr id="26" name="组合 25">
              <a:extLst>
                <a:ext uri="{FF2B5EF4-FFF2-40B4-BE49-F238E27FC236}">
                  <a16:creationId xmlns:a16="http://schemas.microsoft.com/office/drawing/2014/main" id="{383CCA9E-DB8D-802C-AB4B-A548CEC94F4E}"/>
                </a:ext>
              </a:extLst>
            </p:cNvPr>
            <p:cNvGrpSpPr/>
            <p:nvPr/>
          </p:nvGrpSpPr>
          <p:grpSpPr>
            <a:xfrm>
              <a:off x="4782240" y="3773862"/>
              <a:ext cx="654120" cy="104760"/>
              <a:chOff x="4782240" y="1413360"/>
              <a:chExt cx="654120" cy="104760"/>
            </a:xfrm>
          </p:grpSpPr>
          <p:sp>
            <p:nvSpPr>
              <p:cNvPr id="27" name="edge_offsets_1">
                <a:extLst>
                  <a:ext uri="{FF2B5EF4-FFF2-40B4-BE49-F238E27FC236}">
                    <a16:creationId xmlns:a16="http://schemas.microsoft.com/office/drawing/2014/main" id="{7DD40321-1AF7-C327-81E3-6031BDEB1CB4}"/>
                  </a:ext>
                </a:extLst>
              </p:cNvPr>
              <p:cNvSpPr/>
              <p:nvPr/>
            </p:nvSpPr>
            <p:spPr>
              <a:xfrm>
                <a:off x="4869360" y="1413360"/>
                <a:ext cx="479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Edge </a:t>
                </a:r>
              </a:p>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offsets</a:t>
                </a:r>
              </a:p>
            </p:txBody>
          </p:sp>
          <p:cxnSp>
            <p:nvCxnSpPr>
              <p:cNvPr id="28" name="integral_offsets_1__0">
                <a:extLst>
                  <a:ext uri="{FF2B5EF4-FFF2-40B4-BE49-F238E27FC236}">
                    <a16:creationId xmlns:a16="http://schemas.microsoft.com/office/drawing/2014/main" id="{B34F9021-7CC2-D189-5DE2-E0C80A6F5235}"/>
                  </a:ext>
                </a:extLst>
              </p:cNvPr>
              <p:cNvCxnSpPr>
                <a:cxnSpLocks/>
              </p:cNvCxnSpPr>
              <p:nvPr/>
            </p:nvCxnSpPr>
            <p:spPr>
              <a:xfrm>
                <a:off x="4782240" y="1465560"/>
                <a:ext cx="162720" cy="180"/>
              </a:xfrm>
              <a:prstGeom prst="straightConnector1">
                <a:avLst/>
              </a:prstGeom>
              <a:ln w="12700">
                <a:solidFill>
                  <a:srgbClr val="687681"/>
                </a:solidFill>
                <a:round/>
              </a:ln>
            </p:spPr>
          </p:cxnSp>
          <p:cxnSp>
            <p:nvCxnSpPr>
              <p:cNvPr id="29" name="offsets_box_1__0">
                <a:extLst>
                  <a:ext uri="{FF2B5EF4-FFF2-40B4-BE49-F238E27FC236}">
                    <a16:creationId xmlns:a16="http://schemas.microsoft.com/office/drawing/2014/main" id="{A24F1AC9-7B07-F7F3-FFD1-02446E80330F}"/>
                  </a:ext>
                </a:extLst>
              </p:cNvPr>
              <p:cNvCxnSpPr>
                <a:cxnSpLocks/>
              </p:cNvCxnSpPr>
              <p:nvPr/>
            </p:nvCxnSpPr>
            <p:spPr>
              <a:xfrm flipV="1">
                <a:off x="5260521" y="1464840"/>
                <a:ext cx="175839" cy="900"/>
              </a:xfrm>
              <a:prstGeom prst="straightConnector1">
                <a:avLst/>
              </a:prstGeom>
              <a:ln w="12700">
                <a:solidFill>
                  <a:srgbClr val="687681"/>
                </a:solidFill>
                <a:round/>
                <a:tailEnd type="triangle" w="sm" len="sm"/>
              </a:ln>
            </p:spPr>
          </p:cxnSp>
        </p:grpSp>
        <p:grpSp>
          <p:nvGrpSpPr>
            <p:cNvPr id="30" name="组合 29">
              <a:extLst>
                <a:ext uri="{FF2B5EF4-FFF2-40B4-BE49-F238E27FC236}">
                  <a16:creationId xmlns:a16="http://schemas.microsoft.com/office/drawing/2014/main" id="{356FE99D-BDBF-3F69-836F-77E8FF1B6B84}"/>
                </a:ext>
              </a:extLst>
            </p:cNvPr>
            <p:cNvGrpSpPr/>
            <p:nvPr/>
          </p:nvGrpSpPr>
          <p:grpSpPr>
            <a:xfrm>
              <a:off x="4782239" y="5092740"/>
              <a:ext cx="654120" cy="104760"/>
              <a:chOff x="4782240" y="1413360"/>
              <a:chExt cx="654120" cy="104760"/>
            </a:xfrm>
          </p:grpSpPr>
          <p:sp>
            <p:nvSpPr>
              <p:cNvPr id="31" name="edge_offsets_1">
                <a:extLst>
                  <a:ext uri="{FF2B5EF4-FFF2-40B4-BE49-F238E27FC236}">
                    <a16:creationId xmlns:a16="http://schemas.microsoft.com/office/drawing/2014/main" id="{82B98A17-B725-E103-AF2E-F281937B0F8F}"/>
                  </a:ext>
                </a:extLst>
              </p:cNvPr>
              <p:cNvSpPr/>
              <p:nvPr/>
            </p:nvSpPr>
            <p:spPr>
              <a:xfrm>
                <a:off x="4869360" y="1413360"/>
                <a:ext cx="479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Edge </a:t>
                </a:r>
              </a:p>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offsets</a:t>
                </a:r>
              </a:p>
            </p:txBody>
          </p:sp>
          <p:cxnSp>
            <p:nvCxnSpPr>
              <p:cNvPr id="32" name="integral_offsets_1__0">
                <a:extLst>
                  <a:ext uri="{FF2B5EF4-FFF2-40B4-BE49-F238E27FC236}">
                    <a16:creationId xmlns:a16="http://schemas.microsoft.com/office/drawing/2014/main" id="{8F02C18B-97E4-E6E5-0352-975B24D259E5}"/>
                  </a:ext>
                </a:extLst>
              </p:cNvPr>
              <p:cNvCxnSpPr>
                <a:cxnSpLocks/>
              </p:cNvCxnSpPr>
              <p:nvPr/>
            </p:nvCxnSpPr>
            <p:spPr>
              <a:xfrm>
                <a:off x="4782240" y="1465560"/>
                <a:ext cx="162720" cy="180"/>
              </a:xfrm>
              <a:prstGeom prst="straightConnector1">
                <a:avLst/>
              </a:prstGeom>
              <a:ln w="12700">
                <a:solidFill>
                  <a:srgbClr val="687681"/>
                </a:solidFill>
                <a:round/>
              </a:ln>
            </p:spPr>
          </p:cxnSp>
          <p:cxnSp>
            <p:nvCxnSpPr>
              <p:cNvPr id="33" name="offsets_box_1__0">
                <a:extLst>
                  <a:ext uri="{FF2B5EF4-FFF2-40B4-BE49-F238E27FC236}">
                    <a16:creationId xmlns:a16="http://schemas.microsoft.com/office/drawing/2014/main" id="{24AEED87-C07E-BFF1-B034-16AE5CCFA3DE}"/>
                  </a:ext>
                </a:extLst>
              </p:cNvPr>
              <p:cNvCxnSpPr>
                <a:cxnSpLocks/>
              </p:cNvCxnSpPr>
              <p:nvPr/>
            </p:nvCxnSpPr>
            <p:spPr>
              <a:xfrm flipV="1">
                <a:off x="5260521" y="1464840"/>
                <a:ext cx="175839" cy="900"/>
              </a:xfrm>
              <a:prstGeom prst="straightConnector1">
                <a:avLst/>
              </a:prstGeom>
              <a:ln w="12700">
                <a:solidFill>
                  <a:srgbClr val="687681"/>
                </a:solidFill>
                <a:round/>
                <a:tailEnd type="triangle" w="sm" len="sm"/>
              </a:ln>
            </p:spPr>
          </p:cxnSp>
        </p:grpSp>
        <p:sp>
          <p:nvSpPr>
            <p:cNvPr id="35" name="omitted_layers">
              <a:extLst>
                <a:ext uri="{FF2B5EF4-FFF2-40B4-BE49-F238E27FC236}">
                  <a16:creationId xmlns:a16="http://schemas.microsoft.com/office/drawing/2014/main" id="{028DFA5B-033F-5047-92B4-2D1E21C22772}"/>
                </a:ext>
              </a:extLst>
            </p:cNvPr>
            <p:cNvSpPr/>
            <p:nvPr/>
          </p:nvSpPr>
          <p:spPr>
            <a:xfrm>
              <a:off x="1525511" y="4524386"/>
              <a:ext cx="1122634" cy="212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Layer</a:t>
              </a:r>
              <a:r>
                <a:rPr lang="en-US" sz="650" b="1" dirty="0">
                  <a:latin typeface="Times New Roman" panose="02020603050405020304" pitchFamily="18" charset="0"/>
                  <a:cs typeface="Times New Roman" panose="02020603050405020304" pitchFamily="18" charset="0"/>
                </a:rPr>
                <a:t> </a:t>
              </a:r>
              <a:r>
                <a:rPr lang="en-US" sz="650" b="1" u="none" strike="noStrike" dirty="0">
                  <a:effectLst/>
                  <a:uFillTx/>
                  <a:latin typeface="Times New Roman" panose="02020603050405020304" pitchFamily="18" charset="0"/>
                  <a:cs typeface="Times New Roman" panose="02020603050405020304" pitchFamily="18" charset="0"/>
                </a:rPr>
                <a:t>5</a:t>
              </a:r>
            </a:p>
          </p:txBody>
        </p:sp>
        <p:pic>
          <p:nvPicPr>
            <p:cNvPr id="50" name="图片 49">
              <a:extLst>
                <a:ext uri="{FF2B5EF4-FFF2-40B4-BE49-F238E27FC236}">
                  <a16:creationId xmlns:a16="http://schemas.microsoft.com/office/drawing/2014/main" id="{8D0BBFA0-4F80-0BE0-4242-8D45772F8E7E}"/>
                </a:ext>
              </a:extLst>
            </p:cNvPr>
            <p:cNvPicPr>
              <a:picLocks noChangeAspect="1"/>
            </p:cNvPicPr>
            <p:nvPr/>
          </p:nvPicPr>
          <p:blipFill>
            <a:blip r:embed="rId17"/>
            <a:stretch>
              <a:fillRect/>
            </a:stretch>
          </p:blipFill>
          <p:spPr>
            <a:xfrm>
              <a:off x="3297011" y="1251856"/>
              <a:ext cx="266327" cy="177551"/>
            </a:xfrm>
            <a:prstGeom prst="rect">
              <a:avLst/>
            </a:prstGeom>
          </p:spPr>
        </p:pic>
        <p:pic>
          <p:nvPicPr>
            <p:cNvPr id="52" name="图片 51">
              <a:extLst>
                <a:ext uri="{FF2B5EF4-FFF2-40B4-BE49-F238E27FC236}">
                  <a16:creationId xmlns:a16="http://schemas.microsoft.com/office/drawing/2014/main" id="{383DC019-F80E-D230-CD3E-548D49C7A35F}"/>
                </a:ext>
              </a:extLst>
            </p:cNvPr>
            <p:cNvPicPr>
              <a:picLocks noChangeAspect="1"/>
            </p:cNvPicPr>
            <p:nvPr/>
          </p:nvPicPr>
          <p:blipFill>
            <a:blip r:embed="rId18"/>
            <a:stretch>
              <a:fillRect/>
            </a:stretch>
          </p:blipFill>
          <p:spPr>
            <a:xfrm>
              <a:off x="3265987" y="2440393"/>
              <a:ext cx="306328" cy="154847"/>
            </a:xfrm>
            <a:prstGeom prst="rect">
              <a:avLst/>
            </a:prstGeom>
          </p:spPr>
        </p:pic>
        <p:pic>
          <p:nvPicPr>
            <p:cNvPr id="54" name="图片 53">
              <a:extLst>
                <a:ext uri="{FF2B5EF4-FFF2-40B4-BE49-F238E27FC236}">
                  <a16:creationId xmlns:a16="http://schemas.microsoft.com/office/drawing/2014/main" id="{681D0687-0238-685C-F7E4-D34DD9A77EB4}"/>
                </a:ext>
              </a:extLst>
            </p:cNvPr>
            <p:cNvPicPr>
              <a:picLocks noChangeAspect="1"/>
            </p:cNvPicPr>
            <p:nvPr/>
          </p:nvPicPr>
          <p:blipFill>
            <a:blip r:embed="rId19"/>
            <a:stretch>
              <a:fillRect/>
            </a:stretch>
          </p:blipFill>
          <p:spPr>
            <a:xfrm>
              <a:off x="3207445" y="3621378"/>
              <a:ext cx="349592" cy="131471"/>
            </a:xfrm>
            <a:prstGeom prst="rect">
              <a:avLst/>
            </a:prstGeom>
          </p:spPr>
        </p:pic>
        <p:pic>
          <p:nvPicPr>
            <p:cNvPr id="56" name="图片 55">
              <a:extLst>
                <a:ext uri="{FF2B5EF4-FFF2-40B4-BE49-F238E27FC236}">
                  <a16:creationId xmlns:a16="http://schemas.microsoft.com/office/drawing/2014/main" id="{7407EC13-55F1-0916-EFA0-F0384127F676}"/>
                </a:ext>
              </a:extLst>
            </p:cNvPr>
            <p:cNvPicPr>
              <a:picLocks noChangeAspect="1"/>
            </p:cNvPicPr>
            <p:nvPr/>
          </p:nvPicPr>
          <p:blipFill>
            <a:blip r:embed="rId20"/>
            <a:stretch>
              <a:fillRect/>
            </a:stretch>
          </p:blipFill>
          <p:spPr>
            <a:xfrm>
              <a:off x="2896701" y="1270589"/>
              <a:ext cx="292761" cy="105094"/>
            </a:xfrm>
            <a:prstGeom prst="rect">
              <a:avLst/>
            </a:prstGeom>
          </p:spPr>
        </p:pic>
        <p:pic>
          <p:nvPicPr>
            <p:cNvPr id="58" name="图片 57">
              <a:extLst>
                <a:ext uri="{FF2B5EF4-FFF2-40B4-BE49-F238E27FC236}">
                  <a16:creationId xmlns:a16="http://schemas.microsoft.com/office/drawing/2014/main" id="{11C83E5B-37BE-3D3D-D84D-582AA77D360A}"/>
                </a:ext>
              </a:extLst>
            </p:cNvPr>
            <p:cNvPicPr>
              <a:picLocks noChangeAspect="1"/>
            </p:cNvPicPr>
            <p:nvPr/>
          </p:nvPicPr>
          <p:blipFill>
            <a:blip r:embed="rId21"/>
            <a:stretch>
              <a:fillRect/>
            </a:stretch>
          </p:blipFill>
          <p:spPr>
            <a:xfrm>
              <a:off x="2898387" y="2449709"/>
              <a:ext cx="322593" cy="108434"/>
            </a:xfrm>
            <a:prstGeom prst="rect">
              <a:avLst/>
            </a:prstGeom>
          </p:spPr>
        </p:pic>
        <p:pic>
          <p:nvPicPr>
            <p:cNvPr id="60" name="图片 59">
              <a:extLst>
                <a:ext uri="{FF2B5EF4-FFF2-40B4-BE49-F238E27FC236}">
                  <a16:creationId xmlns:a16="http://schemas.microsoft.com/office/drawing/2014/main" id="{F0F78D67-1A66-6016-FD7A-FAFC0425584A}"/>
                </a:ext>
              </a:extLst>
            </p:cNvPr>
            <p:cNvPicPr>
              <a:picLocks noChangeAspect="1"/>
            </p:cNvPicPr>
            <p:nvPr/>
          </p:nvPicPr>
          <p:blipFill>
            <a:blip r:embed="rId22"/>
            <a:stretch>
              <a:fillRect/>
            </a:stretch>
          </p:blipFill>
          <p:spPr>
            <a:xfrm>
              <a:off x="2896019" y="3634441"/>
              <a:ext cx="286703" cy="115687"/>
            </a:xfrm>
            <a:prstGeom prst="rect">
              <a:avLst/>
            </a:prstGeom>
          </p:spPr>
        </p:pic>
        <p:pic>
          <p:nvPicPr>
            <p:cNvPr id="62" name="图片 61">
              <a:extLst>
                <a:ext uri="{FF2B5EF4-FFF2-40B4-BE49-F238E27FC236}">
                  <a16:creationId xmlns:a16="http://schemas.microsoft.com/office/drawing/2014/main" id="{EDBE4D91-0EAB-A27C-6304-9F581EC20A63}"/>
                </a:ext>
              </a:extLst>
            </p:cNvPr>
            <p:cNvPicPr>
              <a:picLocks noChangeAspect="1"/>
            </p:cNvPicPr>
            <p:nvPr/>
          </p:nvPicPr>
          <p:blipFill>
            <a:blip r:embed="rId23"/>
            <a:stretch>
              <a:fillRect/>
            </a:stretch>
          </p:blipFill>
          <p:spPr>
            <a:xfrm>
              <a:off x="2902129" y="4956997"/>
              <a:ext cx="306097" cy="130787"/>
            </a:xfrm>
            <a:prstGeom prst="rect">
              <a:avLst/>
            </a:prstGeom>
          </p:spPr>
        </p:pic>
        <p:pic>
          <p:nvPicPr>
            <p:cNvPr id="64" name="图片 63">
              <a:extLst>
                <a:ext uri="{FF2B5EF4-FFF2-40B4-BE49-F238E27FC236}">
                  <a16:creationId xmlns:a16="http://schemas.microsoft.com/office/drawing/2014/main" id="{47E14EBE-E13A-D0B9-0300-029378E4773B}"/>
                </a:ext>
              </a:extLst>
            </p:cNvPr>
            <p:cNvPicPr>
              <a:picLocks noChangeAspect="1"/>
            </p:cNvPicPr>
            <p:nvPr/>
          </p:nvPicPr>
          <p:blipFill>
            <a:blip r:embed="rId24"/>
            <a:stretch>
              <a:fillRect/>
            </a:stretch>
          </p:blipFill>
          <p:spPr>
            <a:xfrm>
              <a:off x="3203102" y="4942518"/>
              <a:ext cx="353692" cy="145266"/>
            </a:xfrm>
            <a:prstGeom prst="rect">
              <a:avLst/>
            </a:prstGeom>
          </p:spPr>
        </p:pic>
        <p:cxnSp>
          <p:nvCxnSpPr>
            <p:cNvPr id="377" name="直接连接符 376">
              <a:extLst>
                <a:ext uri="{FF2B5EF4-FFF2-40B4-BE49-F238E27FC236}">
                  <a16:creationId xmlns:a16="http://schemas.microsoft.com/office/drawing/2014/main" id="{00CB20AB-1D81-73DC-B704-52486ADCCDF2}"/>
                </a:ext>
              </a:extLst>
            </p:cNvPr>
            <p:cNvCxnSpPr>
              <a:cxnSpLocks/>
            </p:cNvCxnSpPr>
            <p:nvPr/>
          </p:nvCxnSpPr>
          <p:spPr>
            <a:xfrm flipH="1">
              <a:off x="6448425" y="1518557"/>
              <a:ext cx="126546" cy="339043"/>
            </a:xfrm>
            <a:prstGeom prst="line">
              <a:avLst/>
            </a:prstGeom>
            <a:ln w="19050">
              <a:solidFill>
                <a:srgbClr val="9683AB"/>
              </a:solidFill>
              <a:prstDash val="sysDot"/>
            </a:ln>
          </p:spPr>
          <p:style>
            <a:lnRef idx="1">
              <a:schemeClr val="accent1"/>
            </a:lnRef>
            <a:fillRef idx="0">
              <a:schemeClr val="accent1"/>
            </a:fillRef>
            <a:effectRef idx="0">
              <a:schemeClr val="accent1"/>
            </a:effectRef>
            <a:fontRef idx="minor">
              <a:schemeClr val="tx1"/>
            </a:fontRef>
          </p:style>
        </p:cxnSp>
        <p:cxnSp>
          <p:nvCxnSpPr>
            <p:cNvPr id="380" name="直接连接符 379">
              <a:extLst>
                <a:ext uri="{FF2B5EF4-FFF2-40B4-BE49-F238E27FC236}">
                  <a16:creationId xmlns:a16="http://schemas.microsoft.com/office/drawing/2014/main" id="{D7F924B5-A595-46F3-5267-0C7A26DAED7C}"/>
                </a:ext>
              </a:extLst>
            </p:cNvPr>
            <p:cNvCxnSpPr>
              <a:cxnSpLocks/>
            </p:cNvCxnSpPr>
            <p:nvPr/>
          </p:nvCxnSpPr>
          <p:spPr>
            <a:xfrm>
              <a:off x="6753789" y="1510393"/>
              <a:ext cx="172247" cy="333375"/>
            </a:xfrm>
            <a:prstGeom prst="line">
              <a:avLst/>
            </a:prstGeom>
            <a:ln w="19050">
              <a:solidFill>
                <a:srgbClr val="9683AB"/>
              </a:solidFill>
              <a:prstDash val="sysDot"/>
            </a:ln>
          </p:spPr>
          <p:style>
            <a:lnRef idx="1">
              <a:schemeClr val="accent1"/>
            </a:lnRef>
            <a:fillRef idx="0">
              <a:schemeClr val="accent1"/>
            </a:fillRef>
            <a:effectRef idx="0">
              <a:schemeClr val="accent1"/>
            </a:effectRef>
            <a:fontRef idx="minor">
              <a:schemeClr val="tx1"/>
            </a:fontRef>
          </p:style>
        </p:cxnSp>
        <p:cxnSp>
          <p:nvCxnSpPr>
            <p:cNvPr id="387" name="直接连接符 386">
              <a:extLst>
                <a:ext uri="{FF2B5EF4-FFF2-40B4-BE49-F238E27FC236}">
                  <a16:creationId xmlns:a16="http://schemas.microsoft.com/office/drawing/2014/main" id="{B5F1E127-291A-36D4-5E4A-5B1459AB6ED2}"/>
                </a:ext>
              </a:extLst>
            </p:cNvPr>
            <p:cNvCxnSpPr>
              <a:cxnSpLocks/>
            </p:cNvCxnSpPr>
            <p:nvPr/>
          </p:nvCxnSpPr>
          <p:spPr>
            <a:xfrm flipH="1">
              <a:off x="6462032" y="2700000"/>
              <a:ext cx="131989" cy="319425"/>
            </a:xfrm>
            <a:prstGeom prst="line">
              <a:avLst/>
            </a:prstGeom>
            <a:ln w="19050">
              <a:solidFill>
                <a:srgbClr val="7098B7"/>
              </a:solidFill>
              <a:prstDash val="sysDot"/>
            </a:ln>
          </p:spPr>
          <p:style>
            <a:lnRef idx="1">
              <a:schemeClr val="accent1"/>
            </a:lnRef>
            <a:fillRef idx="0">
              <a:schemeClr val="accent1"/>
            </a:fillRef>
            <a:effectRef idx="0">
              <a:schemeClr val="accent1"/>
            </a:effectRef>
            <a:fontRef idx="minor">
              <a:schemeClr val="tx1"/>
            </a:fontRef>
          </p:style>
        </p:cxnSp>
        <p:cxnSp>
          <p:nvCxnSpPr>
            <p:cNvPr id="388" name="直接连接符 387">
              <a:extLst>
                <a:ext uri="{FF2B5EF4-FFF2-40B4-BE49-F238E27FC236}">
                  <a16:creationId xmlns:a16="http://schemas.microsoft.com/office/drawing/2014/main" id="{BEA4149D-541C-DEB8-0B5E-44898C35CC2A}"/>
                </a:ext>
              </a:extLst>
            </p:cNvPr>
            <p:cNvCxnSpPr>
              <a:cxnSpLocks/>
            </p:cNvCxnSpPr>
            <p:nvPr/>
          </p:nvCxnSpPr>
          <p:spPr>
            <a:xfrm>
              <a:off x="6745061" y="2693520"/>
              <a:ext cx="148318" cy="327266"/>
            </a:xfrm>
            <a:prstGeom prst="line">
              <a:avLst/>
            </a:prstGeom>
            <a:ln w="19050">
              <a:solidFill>
                <a:srgbClr val="7098B7"/>
              </a:solidFill>
              <a:prstDash val="sysDot"/>
            </a:ln>
          </p:spPr>
          <p:style>
            <a:lnRef idx="1">
              <a:schemeClr val="accent1"/>
            </a:lnRef>
            <a:fillRef idx="0">
              <a:schemeClr val="accent1"/>
            </a:fillRef>
            <a:effectRef idx="0">
              <a:schemeClr val="accent1"/>
            </a:effectRef>
            <a:fontRef idx="minor">
              <a:schemeClr val="tx1"/>
            </a:fontRef>
          </p:style>
        </p:cxnSp>
        <p:cxnSp>
          <p:nvCxnSpPr>
            <p:cNvPr id="391" name="box_out_3__0">
              <a:extLst>
                <a:ext uri="{FF2B5EF4-FFF2-40B4-BE49-F238E27FC236}">
                  <a16:creationId xmlns:a16="http://schemas.microsoft.com/office/drawing/2014/main" id="{4F63A2BF-1E3A-3BD2-76DC-EE8C05DE26A9}"/>
                </a:ext>
              </a:extLst>
            </p:cNvPr>
            <p:cNvCxnSpPr>
              <a:cxnSpLocks/>
            </p:cNvCxnSpPr>
            <p:nvPr/>
          </p:nvCxnSpPr>
          <p:spPr>
            <a:xfrm flipH="1">
              <a:off x="6525986" y="3864429"/>
              <a:ext cx="111578" cy="356571"/>
            </a:xfrm>
            <a:prstGeom prst="straightConnector1">
              <a:avLst/>
            </a:prstGeom>
            <a:ln w="19050">
              <a:solidFill>
                <a:srgbClr val="84966B"/>
              </a:solidFill>
              <a:prstDash val="sysDot"/>
              <a:round/>
              <a:headEnd type="none" w="med" len="med"/>
              <a:tailEnd type="none" w="med" len="med"/>
            </a:ln>
          </p:spPr>
        </p:cxnSp>
        <p:cxnSp>
          <p:nvCxnSpPr>
            <p:cNvPr id="402" name="box_out_3__0">
              <a:extLst>
                <a:ext uri="{FF2B5EF4-FFF2-40B4-BE49-F238E27FC236}">
                  <a16:creationId xmlns:a16="http://schemas.microsoft.com/office/drawing/2014/main" id="{EDAB8C3D-F172-30A5-5020-92D88ADFFD3A}"/>
                </a:ext>
              </a:extLst>
            </p:cNvPr>
            <p:cNvCxnSpPr>
              <a:cxnSpLocks/>
            </p:cNvCxnSpPr>
            <p:nvPr/>
          </p:nvCxnSpPr>
          <p:spPr>
            <a:xfrm>
              <a:off x="6762750" y="3858986"/>
              <a:ext cx="153761" cy="368494"/>
            </a:xfrm>
            <a:prstGeom prst="straightConnector1">
              <a:avLst/>
            </a:prstGeom>
            <a:ln w="19050">
              <a:solidFill>
                <a:srgbClr val="84966B"/>
              </a:solidFill>
              <a:prstDash val="sysDot"/>
              <a:round/>
              <a:headEnd type="none" w="med" len="med"/>
              <a:tailEnd type="none" w="med" len="med"/>
            </a:ln>
          </p:spPr>
        </p:cxnSp>
        <p:cxnSp>
          <p:nvCxnSpPr>
            <p:cNvPr id="405" name="box_out_3__0">
              <a:extLst>
                <a:ext uri="{FF2B5EF4-FFF2-40B4-BE49-F238E27FC236}">
                  <a16:creationId xmlns:a16="http://schemas.microsoft.com/office/drawing/2014/main" id="{7CB13930-0001-A7B8-32F7-C2C614DABF7E}"/>
                </a:ext>
              </a:extLst>
            </p:cNvPr>
            <p:cNvCxnSpPr>
              <a:cxnSpLocks/>
            </p:cNvCxnSpPr>
            <p:nvPr/>
          </p:nvCxnSpPr>
          <p:spPr>
            <a:xfrm flipH="1">
              <a:off x="6462382" y="5187043"/>
              <a:ext cx="147968" cy="425675"/>
            </a:xfrm>
            <a:prstGeom prst="straightConnector1">
              <a:avLst/>
            </a:prstGeom>
            <a:ln w="19050">
              <a:solidFill>
                <a:srgbClr val="BC8282"/>
              </a:solidFill>
              <a:prstDash val="sysDot"/>
              <a:round/>
              <a:headEnd type="none" w="med" len="med"/>
              <a:tailEnd type="none" w="med" len="med"/>
            </a:ln>
          </p:spPr>
        </p:cxnSp>
        <p:cxnSp>
          <p:nvCxnSpPr>
            <p:cNvPr id="407" name="box_out_3__0">
              <a:extLst>
                <a:ext uri="{FF2B5EF4-FFF2-40B4-BE49-F238E27FC236}">
                  <a16:creationId xmlns:a16="http://schemas.microsoft.com/office/drawing/2014/main" id="{94D81ADD-3232-88D8-8A6E-4DA21048ABB7}"/>
                </a:ext>
              </a:extLst>
            </p:cNvPr>
            <p:cNvCxnSpPr>
              <a:cxnSpLocks/>
            </p:cNvCxnSpPr>
            <p:nvPr/>
          </p:nvCxnSpPr>
          <p:spPr>
            <a:xfrm>
              <a:off x="6743700" y="5193846"/>
              <a:ext cx="125460" cy="427809"/>
            </a:xfrm>
            <a:prstGeom prst="straightConnector1">
              <a:avLst/>
            </a:prstGeom>
            <a:ln w="19050">
              <a:solidFill>
                <a:srgbClr val="BC8282"/>
              </a:solidFill>
              <a:prstDash val="sysDot"/>
              <a:round/>
              <a:headEnd type="none" w="med" len="med"/>
              <a:tailEnd type="none" w="med" len="med"/>
            </a:ln>
          </p:spPr>
        </p:cxnSp>
        <p:sp>
          <p:nvSpPr>
            <p:cNvPr id="430" name="stage2_headfill">
              <a:extLst>
                <a:ext uri="{FF2B5EF4-FFF2-40B4-BE49-F238E27FC236}">
                  <a16:creationId xmlns:a16="http://schemas.microsoft.com/office/drawing/2014/main" id="{44250B6B-9BF8-564D-626F-3065E81DD466}"/>
                </a:ext>
              </a:extLst>
            </p:cNvPr>
            <p:cNvSpPr/>
            <p:nvPr/>
          </p:nvSpPr>
          <p:spPr>
            <a:xfrm>
              <a:off x="2071703" y="1355236"/>
              <a:ext cx="476114" cy="220680"/>
            </a:xfrm>
            <a:prstGeom prst="roundRect">
              <a:avLst>
                <a:gd name="adj" fmla="val 15000"/>
              </a:avLst>
            </a:prstGeom>
            <a:solidFill>
              <a:srgbClr val="DFECC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423" name="query_caption">
              <a:extLst>
                <a:ext uri="{FF2B5EF4-FFF2-40B4-BE49-F238E27FC236}">
                  <a16:creationId xmlns:a16="http://schemas.microsoft.com/office/drawing/2014/main" id="{8AEC1AD3-E32E-DD80-1CAF-6FF76EEEC123}"/>
                </a:ext>
              </a:extLst>
            </p:cNvPr>
            <p:cNvSpPr/>
            <p:nvPr/>
          </p:nvSpPr>
          <p:spPr>
            <a:xfrm rot="5400000">
              <a:off x="1606154" y="3150654"/>
              <a:ext cx="306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Queries</a:t>
              </a:r>
            </a:p>
          </p:txBody>
        </p:sp>
        <p:sp>
          <p:nvSpPr>
            <p:cNvPr id="425" name="query_caption">
              <a:extLst>
                <a:ext uri="{FF2B5EF4-FFF2-40B4-BE49-F238E27FC236}">
                  <a16:creationId xmlns:a16="http://schemas.microsoft.com/office/drawing/2014/main" id="{5DFE4B9E-F389-48DF-3521-7A064E2E5ECE}"/>
                </a:ext>
              </a:extLst>
            </p:cNvPr>
            <p:cNvSpPr/>
            <p:nvPr/>
          </p:nvSpPr>
          <p:spPr>
            <a:xfrm rot="5400000">
              <a:off x="1575547" y="4401917"/>
              <a:ext cx="30636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Queries</a:t>
              </a:r>
            </a:p>
          </p:txBody>
        </p:sp>
        <p:sp>
          <p:nvSpPr>
            <p:cNvPr id="432" name="stage2_headfill">
              <a:extLst>
                <a:ext uri="{FF2B5EF4-FFF2-40B4-BE49-F238E27FC236}">
                  <a16:creationId xmlns:a16="http://schemas.microsoft.com/office/drawing/2014/main" id="{686C000B-35D5-6328-4E5A-DA3BDAA95B52}"/>
                </a:ext>
              </a:extLst>
            </p:cNvPr>
            <p:cNvSpPr/>
            <p:nvPr/>
          </p:nvSpPr>
          <p:spPr>
            <a:xfrm>
              <a:off x="2066925" y="3713304"/>
              <a:ext cx="480892" cy="220680"/>
            </a:xfrm>
            <a:prstGeom prst="roundRect">
              <a:avLst>
                <a:gd name="adj" fmla="val 15000"/>
              </a:avLst>
            </a:prstGeom>
            <a:solidFill>
              <a:srgbClr val="DFECC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434" name="stage1_htext">
              <a:extLst>
                <a:ext uri="{FF2B5EF4-FFF2-40B4-BE49-F238E27FC236}">
                  <a16:creationId xmlns:a16="http://schemas.microsoft.com/office/drawing/2014/main" id="{A1E78174-7FDC-7C0F-33EE-2EB23C93566F}"/>
                </a:ext>
              </a:extLst>
            </p:cNvPr>
            <p:cNvSpPr/>
            <p:nvPr/>
          </p:nvSpPr>
          <p:spPr>
            <a:xfrm>
              <a:off x="2091960" y="1368635"/>
              <a:ext cx="448200" cy="191160"/>
            </a:xfrm>
            <a:prstGeom prst="rect">
              <a:avLst/>
            </a:prstGeom>
            <a:solidFill>
              <a:srgbClr val="DFECC0"/>
            </a:solid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FDR Head</a:t>
              </a:r>
            </a:p>
          </p:txBody>
        </p:sp>
        <p:sp>
          <p:nvSpPr>
            <p:cNvPr id="436" name="stage3_htext">
              <a:extLst>
                <a:ext uri="{FF2B5EF4-FFF2-40B4-BE49-F238E27FC236}">
                  <a16:creationId xmlns:a16="http://schemas.microsoft.com/office/drawing/2014/main" id="{97C2EEBE-9C0F-7454-49DA-C3B33B901C33}"/>
                </a:ext>
              </a:extLst>
            </p:cNvPr>
            <p:cNvSpPr/>
            <p:nvPr/>
          </p:nvSpPr>
          <p:spPr>
            <a:xfrm>
              <a:off x="2093683" y="3722397"/>
              <a:ext cx="448200" cy="191160"/>
            </a:xfrm>
            <a:prstGeom prst="rect">
              <a:avLst/>
            </a:prstGeom>
            <a:solidFill>
              <a:srgbClr val="DFECC0"/>
            </a:solid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FDR Head</a:t>
              </a:r>
            </a:p>
          </p:txBody>
        </p:sp>
        <p:sp>
          <p:nvSpPr>
            <p:cNvPr id="438" name="stage2_headfill">
              <a:extLst>
                <a:ext uri="{FF2B5EF4-FFF2-40B4-BE49-F238E27FC236}">
                  <a16:creationId xmlns:a16="http://schemas.microsoft.com/office/drawing/2014/main" id="{37A26D70-B88B-F867-60F6-290563FEF564}"/>
                </a:ext>
              </a:extLst>
            </p:cNvPr>
            <p:cNvSpPr/>
            <p:nvPr/>
          </p:nvSpPr>
          <p:spPr>
            <a:xfrm>
              <a:off x="2069314" y="5049000"/>
              <a:ext cx="480892" cy="221046"/>
            </a:xfrm>
            <a:prstGeom prst="roundRect">
              <a:avLst>
                <a:gd name="adj" fmla="val 15000"/>
              </a:avLst>
            </a:prstGeom>
            <a:solidFill>
              <a:srgbClr val="DFECC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endParaRPr lang="en-US" sz="1800" b="1" u="none" strike="noStrike">
                <a:effectLst/>
                <a:uFillTx/>
                <a:latin typeface="Times New Roman" panose="02020603050405020304" pitchFamily="18" charset="0"/>
                <a:cs typeface="Times New Roman" panose="02020603050405020304" pitchFamily="18" charset="0"/>
              </a:endParaRPr>
            </a:p>
          </p:txBody>
        </p:sp>
        <p:sp>
          <p:nvSpPr>
            <p:cNvPr id="440" name="stage6_htext">
              <a:extLst>
                <a:ext uri="{FF2B5EF4-FFF2-40B4-BE49-F238E27FC236}">
                  <a16:creationId xmlns:a16="http://schemas.microsoft.com/office/drawing/2014/main" id="{B3881531-5174-8CD4-00BA-37E1392B8C12}"/>
                </a:ext>
              </a:extLst>
            </p:cNvPr>
            <p:cNvSpPr/>
            <p:nvPr/>
          </p:nvSpPr>
          <p:spPr>
            <a:xfrm>
              <a:off x="2093683" y="5065665"/>
              <a:ext cx="448200" cy="191160"/>
            </a:xfrm>
            <a:prstGeom prst="rect">
              <a:avLst/>
            </a:prstGeom>
            <a:solidFill>
              <a:srgbClr val="DFECC0"/>
            </a:solid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700" b="1" u="none" strike="noStrike" dirty="0">
                  <a:effectLst/>
                  <a:uFillTx/>
                  <a:latin typeface="Times New Roman" panose="02020603050405020304" pitchFamily="18" charset="0"/>
                  <a:cs typeface="Times New Roman" panose="02020603050405020304" pitchFamily="18" charset="0"/>
                </a:rPr>
                <a:t>FDR Head</a:t>
              </a:r>
            </a:p>
          </p:txBody>
        </p:sp>
        <p:sp>
          <p:nvSpPr>
            <p:cNvPr id="442" name="residual_caption">
              <a:extLst>
                <a:ext uri="{FF2B5EF4-FFF2-40B4-BE49-F238E27FC236}">
                  <a16:creationId xmlns:a16="http://schemas.microsoft.com/office/drawing/2014/main" id="{5D0DB1B9-F81E-EC19-59A7-51F1A670D156}"/>
                </a:ext>
              </a:extLst>
            </p:cNvPr>
            <p:cNvSpPr/>
            <p:nvPr/>
          </p:nvSpPr>
          <p:spPr>
            <a:xfrm rot="5400000">
              <a:off x="2070593" y="3080885"/>
              <a:ext cx="639275" cy="133909"/>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Logit </a:t>
              </a:r>
              <a:r>
                <a:rPr lang="en-US" altLang="zh-CN" sz="650" b="1" dirty="0">
                  <a:latin typeface="Times New Roman" panose="02020603050405020304" pitchFamily="18" charset="0"/>
                  <a:cs typeface="Times New Roman" panose="02020603050405020304" pitchFamily="18" charset="0"/>
                </a:rPr>
                <a:t>Residual</a:t>
              </a:r>
            </a:p>
          </p:txBody>
        </p:sp>
        <p:sp>
          <p:nvSpPr>
            <p:cNvPr id="444" name="residual_caption">
              <a:extLst>
                <a:ext uri="{FF2B5EF4-FFF2-40B4-BE49-F238E27FC236}">
                  <a16:creationId xmlns:a16="http://schemas.microsoft.com/office/drawing/2014/main" id="{65BA90F3-4B6F-4E94-24D5-8D0A857F76B9}"/>
                </a:ext>
              </a:extLst>
            </p:cNvPr>
            <p:cNvSpPr/>
            <p:nvPr/>
          </p:nvSpPr>
          <p:spPr>
            <a:xfrm rot="5400000">
              <a:off x="2103711" y="4422957"/>
              <a:ext cx="639275" cy="133909"/>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a:r>
                <a:rPr lang="en-US" sz="650" b="1" u="none" strike="noStrike" dirty="0">
                  <a:effectLst/>
                  <a:uFillTx/>
                  <a:latin typeface="Times New Roman" panose="02020603050405020304" pitchFamily="18" charset="0"/>
                  <a:cs typeface="Times New Roman" panose="02020603050405020304" pitchFamily="18" charset="0"/>
                </a:rPr>
                <a:t>Logit </a:t>
              </a:r>
              <a:r>
                <a:rPr lang="en-US" altLang="zh-CN" sz="650" b="1" dirty="0">
                  <a:latin typeface="Times New Roman" panose="02020603050405020304" pitchFamily="18" charset="0"/>
                  <a:cs typeface="Times New Roman" panose="02020603050405020304" pitchFamily="18" charset="0"/>
                </a:rPr>
                <a:t>Residual</a:t>
              </a:r>
            </a:p>
          </p:txBody>
        </p:sp>
        <p:sp>
          <p:nvSpPr>
            <p:cNvPr id="458" name="weight_1_text">
              <a:extLst>
                <a:ext uri="{FF2B5EF4-FFF2-40B4-BE49-F238E27FC236}">
                  <a16:creationId xmlns:a16="http://schemas.microsoft.com/office/drawing/2014/main" id="{7CCF4651-587E-C126-E035-BD68FA44AE01}"/>
                </a:ext>
              </a:extLst>
            </p:cNvPr>
            <p:cNvSpPr/>
            <p:nvPr/>
          </p:nvSpPr>
          <p:spPr>
            <a:xfrm>
              <a:off x="4306398" y="2791890"/>
              <a:ext cx="911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Adaptive </a:t>
              </a:r>
              <a:r>
                <a:rPr lang="en-US" sz="650" b="1" i="1" u="none" strike="noStrike" dirty="0">
                  <a:effectLst/>
                  <a:uFillTx/>
                  <a:latin typeface="Times New Roman" panose="02020603050405020304" pitchFamily="18" charset="0"/>
                  <a:cs typeface="Times New Roman" panose="02020603050405020304" pitchFamily="18" charset="0"/>
                </a:rPr>
                <a:t>W</a:t>
              </a:r>
              <a:r>
                <a:rPr lang="en-US" sz="650" b="1" u="none" strike="noStrike" dirty="0">
                  <a:effectLst/>
                  <a:uFillTx/>
                  <a:latin typeface="Times New Roman" panose="02020603050405020304" pitchFamily="18" charset="0"/>
                  <a:cs typeface="Times New Roman" panose="02020603050405020304" pitchFamily="18" charset="0"/>
                </a:rPr>
                <a:t>(</a:t>
              </a:r>
              <a:r>
                <a:rPr lang="en-US" sz="650" b="1" i="1" u="none" strike="noStrike" dirty="0">
                  <a:effectLst/>
                  <a:uFillTx/>
                  <a:latin typeface="Times New Roman" panose="02020603050405020304" pitchFamily="18" charset="0"/>
                  <a:cs typeface="Times New Roman" panose="02020603050405020304" pitchFamily="18" charset="0"/>
                </a:rPr>
                <a:t>n</a:t>
              </a:r>
              <a:r>
                <a:rPr lang="en-US" sz="650" b="1" u="none" strike="noStrike" dirty="0">
                  <a:effectLst/>
                  <a:uFillTx/>
                  <a:latin typeface="Times New Roman" panose="02020603050405020304" pitchFamily="18" charset="0"/>
                  <a:cs typeface="Times New Roman" panose="02020603050405020304" pitchFamily="18" charset="0"/>
                </a:rPr>
                <a:t>)</a:t>
              </a:r>
            </a:p>
          </p:txBody>
        </p:sp>
        <p:sp>
          <p:nvSpPr>
            <p:cNvPr id="459" name="box_b0_1_text">
              <a:extLst>
                <a:ext uri="{FF2B5EF4-FFF2-40B4-BE49-F238E27FC236}">
                  <a16:creationId xmlns:a16="http://schemas.microsoft.com/office/drawing/2014/main" id="{F82121A8-EE3C-FDC3-AAE0-614CDE593C17}"/>
                </a:ext>
              </a:extLst>
            </p:cNvPr>
            <p:cNvSpPr/>
            <p:nvPr/>
          </p:nvSpPr>
          <p:spPr>
            <a:xfrm>
              <a:off x="5471018" y="2781359"/>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i="1" u="none" strike="noStrike" dirty="0">
                  <a:effectLst/>
                  <a:uFillTx/>
                  <a:latin typeface="Times New Roman" panose="02020603050405020304" pitchFamily="18" charset="0"/>
                  <a:cs typeface="Times New Roman" panose="02020603050405020304" pitchFamily="18" charset="0"/>
                </a:rPr>
                <a:t>b</a:t>
              </a:r>
              <a:r>
                <a:rPr lang="en-US" sz="650" b="1" i="1" u="none" strike="noStrike" baseline="-25000" dirty="0">
                  <a:effectLst/>
                  <a:uFillTx/>
                  <a:latin typeface="Times New Roman" panose="02020603050405020304" pitchFamily="18" charset="0"/>
                  <a:cs typeface="Times New Roman" panose="02020603050405020304" pitchFamily="18" charset="0"/>
                </a:rPr>
                <a:t>0</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470" name="weight_1_text">
              <a:extLst>
                <a:ext uri="{FF2B5EF4-FFF2-40B4-BE49-F238E27FC236}">
                  <a16:creationId xmlns:a16="http://schemas.microsoft.com/office/drawing/2014/main" id="{B7BD58E9-FA8B-D234-1ABF-25F964B808E7}"/>
                </a:ext>
              </a:extLst>
            </p:cNvPr>
            <p:cNvSpPr/>
            <p:nvPr/>
          </p:nvSpPr>
          <p:spPr>
            <a:xfrm>
              <a:off x="4380105" y="3974609"/>
              <a:ext cx="911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Adaptive </a:t>
              </a:r>
              <a:r>
                <a:rPr lang="en-US" sz="650" b="1" i="1" u="none" strike="noStrike" dirty="0">
                  <a:effectLst/>
                  <a:uFillTx/>
                  <a:latin typeface="Times New Roman" panose="02020603050405020304" pitchFamily="18" charset="0"/>
                  <a:cs typeface="Times New Roman" panose="02020603050405020304" pitchFamily="18" charset="0"/>
                </a:rPr>
                <a:t>W</a:t>
              </a:r>
              <a:r>
                <a:rPr lang="en-US" sz="650" b="1" u="none" strike="noStrike" dirty="0">
                  <a:effectLst/>
                  <a:uFillTx/>
                  <a:latin typeface="Times New Roman" panose="02020603050405020304" pitchFamily="18" charset="0"/>
                  <a:cs typeface="Times New Roman" panose="02020603050405020304" pitchFamily="18" charset="0"/>
                </a:rPr>
                <a:t>(</a:t>
              </a:r>
              <a:r>
                <a:rPr lang="en-US" sz="650" b="1" i="1" u="none" strike="noStrike" dirty="0">
                  <a:effectLst/>
                  <a:uFillTx/>
                  <a:latin typeface="Times New Roman" panose="02020603050405020304" pitchFamily="18" charset="0"/>
                  <a:cs typeface="Times New Roman" panose="02020603050405020304" pitchFamily="18" charset="0"/>
                </a:rPr>
                <a:t>n</a:t>
              </a:r>
              <a:r>
                <a:rPr lang="en-US" sz="650" b="1" u="none" strike="noStrike" dirty="0">
                  <a:effectLst/>
                  <a:uFillTx/>
                  <a:latin typeface="Times New Roman" panose="02020603050405020304" pitchFamily="18" charset="0"/>
                  <a:cs typeface="Times New Roman" panose="02020603050405020304" pitchFamily="18" charset="0"/>
                </a:rPr>
                <a:t>)</a:t>
              </a:r>
            </a:p>
          </p:txBody>
        </p:sp>
        <p:sp>
          <p:nvSpPr>
            <p:cNvPr id="471" name="box_b0_1_text">
              <a:extLst>
                <a:ext uri="{FF2B5EF4-FFF2-40B4-BE49-F238E27FC236}">
                  <a16:creationId xmlns:a16="http://schemas.microsoft.com/office/drawing/2014/main" id="{B0956684-686C-066A-B5BE-0A06CF485E33}"/>
                </a:ext>
              </a:extLst>
            </p:cNvPr>
            <p:cNvSpPr/>
            <p:nvPr/>
          </p:nvSpPr>
          <p:spPr>
            <a:xfrm>
              <a:off x="5469769" y="3951044"/>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i="1" u="none" strike="noStrike" dirty="0">
                  <a:effectLst/>
                  <a:uFillTx/>
                  <a:latin typeface="Times New Roman" panose="02020603050405020304" pitchFamily="18" charset="0"/>
                  <a:cs typeface="Times New Roman" panose="02020603050405020304" pitchFamily="18" charset="0"/>
                </a:rPr>
                <a:t>b</a:t>
              </a:r>
              <a:r>
                <a:rPr lang="en-US" sz="650" b="1" i="1" u="none" strike="noStrike" baseline="-25000" dirty="0">
                  <a:effectLst/>
                  <a:uFillTx/>
                  <a:latin typeface="Times New Roman" panose="02020603050405020304" pitchFamily="18" charset="0"/>
                  <a:cs typeface="Times New Roman" panose="02020603050405020304" pitchFamily="18" charset="0"/>
                </a:rPr>
                <a:t>0</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474" name="weight_1_text">
              <a:extLst>
                <a:ext uri="{FF2B5EF4-FFF2-40B4-BE49-F238E27FC236}">
                  <a16:creationId xmlns:a16="http://schemas.microsoft.com/office/drawing/2014/main" id="{FCC115FA-F6F7-C279-8C29-FC58E2F34375}"/>
                </a:ext>
              </a:extLst>
            </p:cNvPr>
            <p:cNvSpPr/>
            <p:nvPr/>
          </p:nvSpPr>
          <p:spPr>
            <a:xfrm>
              <a:off x="4430896" y="5302673"/>
              <a:ext cx="91188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u="none" strike="noStrike" dirty="0">
                  <a:effectLst/>
                  <a:uFillTx/>
                  <a:latin typeface="Times New Roman" panose="02020603050405020304" pitchFamily="18" charset="0"/>
                  <a:cs typeface="Times New Roman" panose="02020603050405020304" pitchFamily="18" charset="0"/>
                </a:rPr>
                <a:t>Adaptive </a:t>
              </a:r>
              <a:r>
                <a:rPr lang="en-US" sz="650" b="1" i="1" u="none" strike="noStrike" dirty="0">
                  <a:effectLst/>
                  <a:uFillTx/>
                  <a:latin typeface="Times New Roman" panose="02020603050405020304" pitchFamily="18" charset="0"/>
                  <a:cs typeface="Times New Roman" panose="02020603050405020304" pitchFamily="18" charset="0"/>
                </a:rPr>
                <a:t>W</a:t>
              </a:r>
              <a:r>
                <a:rPr lang="en-US" sz="650" b="1" u="none" strike="noStrike" dirty="0">
                  <a:effectLst/>
                  <a:uFillTx/>
                  <a:latin typeface="Times New Roman" panose="02020603050405020304" pitchFamily="18" charset="0"/>
                  <a:cs typeface="Times New Roman" panose="02020603050405020304" pitchFamily="18" charset="0"/>
                </a:rPr>
                <a:t>(</a:t>
              </a:r>
              <a:r>
                <a:rPr lang="en-US" sz="650" b="1" i="1" u="none" strike="noStrike" dirty="0">
                  <a:effectLst/>
                  <a:uFillTx/>
                  <a:latin typeface="Times New Roman" panose="02020603050405020304" pitchFamily="18" charset="0"/>
                  <a:cs typeface="Times New Roman" panose="02020603050405020304" pitchFamily="18" charset="0"/>
                </a:rPr>
                <a:t>n</a:t>
              </a:r>
              <a:r>
                <a:rPr lang="en-US" sz="650" b="1" u="none" strike="noStrike" dirty="0">
                  <a:effectLst/>
                  <a:uFillTx/>
                  <a:latin typeface="Times New Roman" panose="02020603050405020304" pitchFamily="18" charset="0"/>
                  <a:cs typeface="Times New Roman" panose="02020603050405020304" pitchFamily="18" charset="0"/>
                </a:rPr>
                <a:t>)</a:t>
              </a:r>
            </a:p>
          </p:txBody>
        </p:sp>
        <p:sp>
          <p:nvSpPr>
            <p:cNvPr id="475" name="box_b0_1_text">
              <a:extLst>
                <a:ext uri="{FF2B5EF4-FFF2-40B4-BE49-F238E27FC236}">
                  <a16:creationId xmlns:a16="http://schemas.microsoft.com/office/drawing/2014/main" id="{E68C7EFD-8CF0-FB99-B209-B3AF43EA9A61}"/>
                </a:ext>
              </a:extLst>
            </p:cNvPr>
            <p:cNvSpPr/>
            <p:nvPr/>
          </p:nvSpPr>
          <p:spPr>
            <a:xfrm>
              <a:off x="5489783" y="5277573"/>
              <a:ext cx="143640" cy="1047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914400">
                <a:lnSpc>
                  <a:spcPct val="100000"/>
                </a:lnSpc>
              </a:pPr>
              <a:r>
                <a:rPr lang="en-US" sz="650" b="1" i="1" u="none" strike="noStrike" dirty="0">
                  <a:effectLst/>
                  <a:uFillTx/>
                  <a:latin typeface="Times New Roman" panose="02020603050405020304" pitchFamily="18" charset="0"/>
                  <a:cs typeface="Times New Roman" panose="02020603050405020304" pitchFamily="18" charset="0"/>
                </a:rPr>
                <a:t>b</a:t>
              </a:r>
              <a:r>
                <a:rPr lang="en-US" sz="650" b="1" i="1" u="none" strike="noStrike" baseline="-25000" dirty="0">
                  <a:effectLst/>
                  <a:uFillTx/>
                  <a:latin typeface="Times New Roman" panose="02020603050405020304" pitchFamily="18" charset="0"/>
                  <a:cs typeface="Times New Roman" panose="02020603050405020304" pitchFamily="18" charset="0"/>
                </a:rPr>
                <a:t>0</a:t>
              </a:r>
              <a:endParaRPr lang="en-US" sz="650" b="1" u="none" strike="noStrike" dirty="0">
                <a:effectLst/>
                <a:uFillTx/>
                <a:latin typeface="Times New Roman" panose="02020603050405020304" pitchFamily="18" charset="0"/>
                <a:cs typeface="Times New Roman" panose="02020603050405020304" pitchFamily="18" charset="0"/>
              </a:endParaRPr>
            </a:p>
          </p:txBody>
        </p:sp>
        <p:sp>
          <p:nvSpPr>
            <p:cNvPr id="489" name="弧形 488">
              <a:extLst>
                <a:ext uri="{FF2B5EF4-FFF2-40B4-BE49-F238E27FC236}">
                  <a16:creationId xmlns:a16="http://schemas.microsoft.com/office/drawing/2014/main" id="{97160514-943A-1E97-0265-FB188672C195}"/>
                </a:ext>
              </a:extLst>
            </p:cNvPr>
            <p:cNvSpPr/>
            <p:nvPr/>
          </p:nvSpPr>
          <p:spPr>
            <a:xfrm rot="21253483">
              <a:off x="4196358" y="865497"/>
              <a:ext cx="252222" cy="208756"/>
            </a:xfrm>
            <a:prstGeom prst="arc">
              <a:avLst>
                <a:gd name="adj1" fmla="val 16200000"/>
                <a:gd name="adj2" fmla="val 507128"/>
              </a:avLst>
            </a:prstGeom>
            <a:ln w="9525">
              <a:solidFill>
                <a:srgbClr val="B39A60"/>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99" name="弧形 498">
              <a:extLst>
                <a:ext uri="{FF2B5EF4-FFF2-40B4-BE49-F238E27FC236}">
                  <a16:creationId xmlns:a16="http://schemas.microsoft.com/office/drawing/2014/main" id="{E738EA42-C6B0-C487-E322-04DC4530D3F0}"/>
                </a:ext>
              </a:extLst>
            </p:cNvPr>
            <p:cNvSpPr/>
            <p:nvPr/>
          </p:nvSpPr>
          <p:spPr>
            <a:xfrm rot="21253483">
              <a:off x="4249795" y="4565908"/>
              <a:ext cx="252222" cy="208756"/>
            </a:xfrm>
            <a:prstGeom prst="arc">
              <a:avLst>
                <a:gd name="adj1" fmla="val 16200000"/>
                <a:gd name="adj2" fmla="val 507128"/>
              </a:avLst>
            </a:prstGeom>
            <a:ln w="9525">
              <a:solidFill>
                <a:srgbClr val="B39A60"/>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01" name="弧形 500">
              <a:extLst>
                <a:ext uri="{FF2B5EF4-FFF2-40B4-BE49-F238E27FC236}">
                  <a16:creationId xmlns:a16="http://schemas.microsoft.com/office/drawing/2014/main" id="{5F1D3CE8-E1DB-C006-D432-56CA19689DE7}"/>
                </a:ext>
              </a:extLst>
            </p:cNvPr>
            <p:cNvSpPr/>
            <p:nvPr/>
          </p:nvSpPr>
          <p:spPr>
            <a:xfrm rot="21253483">
              <a:off x="4166000" y="2036043"/>
              <a:ext cx="252222" cy="208756"/>
            </a:xfrm>
            <a:prstGeom prst="arc">
              <a:avLst>
                <a:gd name="adj1" fmla="val 16200000"/>
                <a:gd name="adj2" fmla="val 507128"/>
              </a:avLst>
            </a:prstGeom>
            <a:ln w="9525">
              <a:solidFill>
                <a:srgbClr val="B39A60"/>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03" name="弧形 502">
              <a:extLst>
                <a:ext uri="{FF2B5EF4-FFF2-40B4-BE49-F238E27FC236}">
                  <a16:creationId xmlns:a16="http://schemas.microsoft.com/office/drawing/2014/main" id="{D00F6ADB-ED27-06BE-1A73-7F42F0240A7B}"/>
                </a:ext>
              </a:extLst>
            </p:cNvPr>
            <p:cNvSpPr/>
            <p:nvPr/>
          </p:nvSpPr>
          <p:spPr>
            <a:xfrm rot="21253483">
              <a:off x="4245941" y="3226993"/>
              <a:ext cx="252222" cy="208756"/>
            </a:xfrm>
            <a:prstGeom prst="arc">
              <a:avLst>
                <a:gd name="adj1" fmla="val 16200000"/>
                <a:gd name="adj2" fmla="val 507128"/>
              </a:avLst>
            </a:prstGeom>
            <a:ln w="9525">
              <a:solidFill>
                <a:srgbClr val="B39A60"/>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1" name="弧形 550">
              <a:extLst>
                <a:ext uri="{FF2B5EF4-FFF2-40B4-BE49-F238E27FC236}">
                  <a16:creationId xmlns:a16="http://schemas.microsoft.com/office/drawing/2014/main" id="{8420A0EF-0574-262F-EC8C-25683BB60A97}"/>
                </a:ext>
              </a:extLst>
            </p:cNvPr>
            <p:cNvSpPr/>
            <p:nvPr/>
          </p:nvSpPr>
          <p:spPr>
            <a:xfrm rot="13316655" flipH="1">
              <a:off x="5533408" y="3585583"/>
              <a:ext cx="197144" cy="592593"/>
            </a:xfrm>
            <a:prstGeom prst="arc">
              <a:avLst>
                <a:gd name="adj1" fmla="val 18039984"/>
                <a:gd name="adj2" fmla="val 1060055"/>
              </a:avLst>
            </a:prstGeom>
            <a:ln w="9525">
              <a:solidFill>
                <a:srgbClr val="B39A60"/>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3" name="弧形 552">
              <a:extLst>
                <a:ext uri="{FF2B5EF4-FFF2-40B4-BE49-F238E27FC236}">
                  <a16:creationId xmlns:a16="http://schemas.microsoft.com/office/drawing/2014/main" id="{7324535B-3F3D-43AC-507A-FD14FF8CFE53}"/>
                </a:ext>
              </a:extLst>
            </p:cNvPr>
            <p:cNvSpPr/>
            <p:nvPr/>
          </p:nvSpPr>
          <p:spPr>
            <a:xfrm rot="13316655" flipH="1">
              <a:off x="5540287" y="2403858"/>
              <a:ext cx="197144" cy="592593"/>
            </a:xfrm>
            <a:prstGeom prst="arc">
              <a:avLst>
                <a:gd name="adj1" fmla="val 18039984"/>
                <a:gd name="adj2" fmla="val 1060055"/>
              </a:avLst>
            </a:prstGeom>
            <a:ln w="9525">
              <a:solidFill>
                <a:srgbClr val="B39A60"/>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5" name="弧形 554">
              <a:extLst>
                <a:ext uri="{FF2B5EF4-FFF2-40B4-BE49-F238E27FC236}">
                  <a16:creationId xmlns:a16="http://schemas.microsoft.com/office/drawing/2014/main" id="{A5DF4043-525E-F6AE-5C51-BCF97021A91E}"/>
                </a:ext>
              </a:extLst>
            </p:cNvPr>
            <p:cNvSpPr/>
            <p:nvPr/>
          </p:nvSpPr>
          <p:spPr>
            <a:xfrm rot="13316655" flipH="1">
              <a:off x="5557702" y="1216481"/>
              <a:ext cx="197144" cy="592593"/>
            </a:xfrm>
            <a:prstGeom prst="arc">
              <a:avLst>
                <a:gd name="adj1" fmla="val 18039984"/>
                <a:gd name="adj2" fmla="val 1060055"/>
              </a:avLst>
            </a:prstGeom>
            <a:ln w="9525">
              <a:solidFill>
                <a:srgbClr val="B39A60"/>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7" name="弧形 556">
              <a:extLst>
                <a:ext uri="{FF2B5EF4-FFF2-40B4-BE49-F238E27FC236}">
                  <a16:creationId xmlns:a16="http://schemas.microsoft.com/office/drawing/2014/main" id="{C5488FCA-C69B-6477-C2C5-8A7BD06F7114}"/>
                </a:ext>
              </a:extLst>
            </p:cNvPr>
            <p:cNvSpPr/>
            <p:nvPr/>
          </p:nvSpPr>
          <p:spPr>
            <a:xfrm rot="13316655" flipH="1">
              <a:off x="5556803" y="4912559"/>
              <a:ext cx="197144" cy="592593"/>
            </a:xfrm>
            <a:prstGeom prst="arc">
              <a:avLst>
                <a:gd name="adj1" fmla="val 18039984"/>
                <a:gd name="adj2" fmla="val 1060055"/>
              </a:avLst>
            </a:prstGeom>
            <a:ln w="9525">
              <a:solidFill>
                <a:srgbClr val="B39A60"/>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9" name="弧形 558">
              <a:extLst>
                <a:ext uri="{FF2B5EF4-FFF2-40B4-BE49-F238E27FC236}">
                  <a16:creationId xmlns:a16="http://schemas.microsoft.com/office/drawing/2014/main" id="{0E47D1BF-C7E9-E120-9662-F858A8104755}"/>
                </a:ext>
              </a:extLst>
            </p:cNvPr>
            <p:cNvSpPr/>
            <p:nvPr/>
          </p:nvSpPr>
          <p:spPr>
            <a:xfrm rot="18268839" flipH="1" flipV="1">
              <a:off x="4430627" y="3619667"/>
              <a:ext cx="393507" cy="472990"/>
            </a:xfrm>
            <a:prstGeom prst="arc">
              <a:avLst>
                <a:gd name="adj1" fmla="val 20598308"/>
                <a:gd name="adj2" fmla="val 2363014"/>
              </a:avLst>
            </a:prstGeom>
            <a:ln w="9525">
              <a:solidFill>
                <a:schemeClr val="tx2">
                  <a:lumMod val="75000"/>
                  <a:lumOff val="25000"/>
                </a:schemeClr>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61" name="弧形 560">
              <a:extLst>
                <a:ext uri="{FF2B5EF4-FFF2-40B4-BE49-F238E27FC236}">
                  <a16:creationId xmlns:a16="http://schemas.microsoft.com/office/drawing/2014/main" id="{1780C031-255E-0A5A-2123-36E95D2A7B3A}"/>
                </a:ext>
              </a:extLst>
            </p:cNvPr>
            <p:cNvSpPr/>
            <p:nvPr/>
          </p:nvSpPr>
          <p:spPr>
            <a:xfrm rot="18268839" flipH="1" flipV="1">
              <a:off x="4483686" y="4954563"/>
              <a:ext cx="393507" cy="472990"/>
            </a:xfrm>
            <a:prstGeom prst="arc">
              <a:avLst>
                <a:gd name="adj1" fmla="val 20598308"/>
                <a:gd name="adj2" fmla="val 2363014"/>
              </a:avLst>
            </a:prstGeom>
            <a:ln w="9525">
              <a:solidFill>
                <a:schemeClr val="tx2">
                  <a:lumMod val="75000"/>
                  <a:lumOff val="25000"/>
                </a:schemeClr>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63" name="弧形 562">
              <a:extLst>
                <a:ext uri="{FF2B5EF4-FFF2-40B4-BE49-F238E27FC236}">
                  <a16:creationId xmlns:a16="http://schemas.microsoft.com/office/drawing/2014/main" id="{769A6920-8223-1DA6-FC32-D285E5231351}"/>
                </a:ext>
              </a:extLst>
            </p:cNvPr>
            <p:cNvSpPr/>
            <p:nvPr/>
          </p:nvSpPr>
          <p:spPr>
            <a:xfrm rot="18268839" flipH="1" flipV="1">
              <a:off x="4365160" y="2441572"/>
              <a:ext cx="393507" cy="472990"/>
            </a:xfrm>
            <a:prstGeom prst="arc">
              <a:avLst>
                <a:gd name="adj1" fmla="val 20598308"/>
                <a:gd name="adj2" fmla="val 2363014"/>
              </a:avLst>
            </a:prstGeom>
            <a:ln w="9525">
              <a:solidFill>
                <a:schemeClr val="tx2">
                  <a:lumMod val="75000"/>
                  <a:lumOff val="25000"/>
                </a:schemeClr>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65" name="弧形 564">
              <a:extLst>
                <a:ext uri="{FF2B5EF4-FFF2-40B4-BE49-F238E27FC236}">
                  <a16:creationId xmlns:a16="http://schemas.microsoft.com/office/drawing/2014/main" id="{C8B65AD5-FEF9-A1DA-5733-893DC77EBD4C}"/>
                </a:ext>
              </a:extLst>
            </p:cNvPr>
            <p:cNvSpPr/>
            <p:nvPr/>
          </p:nvSpPr>
          <p:spPr>
            <a:xfrm rot="18268839" flipH="1" flipV="1">
              <a:off x="4379745" y="1248826"/>
              <a:ext cx="393507" cy="472990"/>
            </a:xfrm>
            <a:prstGeom prst="arc">
              <a:avLst>
                <a:gd name="adj1" fmla="val 20598308"/>
                <a:gd name="adj2" fmla="val 2363014"/>
              </a:avLst>
            </a:prstGeom>
            <a:ln w="9525">
              <a:solidFill>
                <a:schemeClr val="tx2">
                  <a:lumMod val="75000"/>
                  <a:lumOff val="25000"/>
                </a:schemeClr>
              </a:solidFill>
              <a:headEnd type="none" w="sm" len="sm"/>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78FF8F72-8E76-F309-97B0-AFD7EE8F89A7}"/>
              </a:ext>
            </a:extLst>
          </p:cNvPr>
          <p:cNvGrpSpPr/>
          <p:nvPr/>
        </p:nvGrpSpPr>
        <p:grpSpPr>
          <a:xfrm>
            <a:off x="486000" y="1055520"/>
            <a:ext cx="6440400" cy="3992400"/>
            <a:chOff x="486000" y="1055520"/>
            <a:chExt cx="6440400" cy="3992400"/>
          </a:xfrm>
        </p:grpSpPr>
        <p:sp>
          <p:nvSpPr>
            <p:cNvPr id="367" name="title"/>
            <p:cNvSpPr/>
            <p:nvPr/>
          </p:nvSpPr>
          <p:spPr>
            <a:xfrm>
              <a:off x="522000" y="1055520"/>
              <a:ext cx="4604400" cy="23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1050" b="1" u="none" strike="noStrike" dirty="0">
                  <a:effectLst/>
                  <a:uFillTx/>
                  <a:latin typeface="Times New Roman" panose="02020603050405020304" pitchFamily="18" charset="0"/>
                  <a:cs typeface="Times New Roman" panose="02020603050405020304" pitchFamily="18" charset="0"/>
                </a:rPr>
                <a:t>Fisher–Rao Distribution Loss</a:t>
              </a:r>
              <a:endParaRPr lang="en-US" sz="1050" b="0" u="none" strike="noStrike" dirty="0">
                <a:effectLst/>
                <a:uFillTx/>
                <a:latin typeface="Times New Roman" panose="02020603050405020304" pitchFamily="18" charset="0"/>
                <a:cs typeface="Times New Roman" panose="02020603050405020304" pitchFamily="18" charset="0"/>
              </a:endParaRPr>
            </a:p>
          </p:txBody>
        </p:sp>
        <p:sp>
          <p:nvSpPr>
            <p:cNvPr id="368" name="panel_fgl"/>
            <p:cNvSpPr/>
            <p:nvPr/>
          </p:nvSpPr>
          <p:spPr>
            <a:xfrm>
              <a:off x="486000" y="1379520"/>
              <a:ext cx="6440400" cy="1724400"/>
            </a:xfrm>
            <a:prstGeom prst="roundRect">
              <a:avLst>
                <a:gd name="adj" fmla="val 4500"/>
              </a:avLst>
            </a:prstGeom>
            <a:solidFill>
              <a:srgbClr val="F3EFF6"/>
            </a:solidFill>
            <a:ln w="12700">
              <a:solidFill>
                <a:srgbClr val="9683AB"/>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69" name="fgl_heading"/>
            <p:cNvSpPr/>
            <p:nvPr/>
          </p:nvSpPr>
          <p:spPr>
            <a:xfrm>
              <a:off x="576000" y="1444320"/>
              <a:ext cx="2156400" cy="169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(a)  Fisher FGL</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370" name="fgl_scope"/>
            <p:cNvSpPr/>
            <p:nvPr/>
          </p:nvSpPr>
          <p:spPr>
            <a:xfrm>
              <a:off x="4374000" y="1467000"/>
              <a:ext cx="2408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GT supervision · layers 1–6</a:t>
              </a:r>
            </a:p>
          </p:txBody>
        </p:sp>
        <p:sp>
          <p:nvSpPr>
            <p:cNvPr id="371" name="gt"/>
            <p:cNvSpPr/>
            <p:nvPr/>
          </p:nvSpPr>
          <p:spPr>
            <a:xfrm>
              <a:off x="656280" y="1761480"/>
              <a:ext cx="621720" cy="348480"/>
            </a:xfrm>
            <a:prstGeom prst="roundRect">
              <a:avLst>
                <a:gd name="adj" fmla="val 15000"/>
              </a:avLst>
            </a:prstGeom>
            <a:solidFill>
              <a:schemeClr val="bg1"/>
            </a:solidFill>
            <a:ln w="5760">
              <a:solidFill>
                <a:srgbClr val="68768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72" name="gt_text"/>
            <p:cNvSpPr/>
            <p:nvPr/>
          </p:nvSpPr>
          <p:spPr>
            <a:xfrm>
              <a:off x="666000" y="1782720"/>
              <a:ext cx="572400" cy="30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GT box</a:t>
              </a: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 initial b</a:t>
              </a:r>
              <a:r>
                <a:rPr lang="en-US" sz="850" b="0" i="1" u="none" strike="noStrike" baseline="-25000">
                  <a:effectLst/>
                  <a:uFillTx/>
                  <a:latin typeface="Times New Roman" panose="02020603050405020304" pitchFamily="18" charset="0"/>
                  <a:cs typeface="Times New Roman" panose="02020603050405020304" pitchFamily="18" charset="0"/>
                </a:rPr>
                <a:t>0</a:t>
              </a:r>
              <a:endParaRPr lang="en-US" sz="850" b="0" u="none" strike="noStrike">
                <a:effectLst/>
                <a:uFillTx/>
                <a:latin typeface="Times New Roman" panose="02020603050405020304" pitchFamily="18" charset="0"/>
                <a:cs typeface="Times New Roman" panose="02020603050405020304" pitchFamily="18" charset="0"/>
              </a:endParaRPr>
            </a:p>
          </p:txBody>
        </p:sp>
        <p:sp>
          <p:nvSpPr>
            <p:cNvPr id="373" name="encode"/>
            <p:cNvSpPr/>
            <p:nvPr/>
          </p:nvSpPr>
          <p:spPr>
            <a:xfrm>
              <a:off x="1437480" y="1671480"/>
              <a:ext cx="1044360" cy="606240"/>
            </a:xfrm>
            <a:prstGeom prst="roundRect">
              <a:avLst>
                <a:gd name="adj" fmla="val 15000"/>
              </a:avLst>
            </a:prstGeom>
            <a:solidFill>
              <a:srgbClr val="FFFFFF"/>
            </a:solidFill>
            <a:ln w="5760">
              <a:solidFill>
                <a:srgbClr val="68768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74" name="encode_title"/>
            <p:cNvSpPr/>
            <p:nvPr/>
          </p:nvSpPr>
          <p:spPr>
            <a:xfrm>
              <a:off x="1519200" y="1715400"/>
              <a:ext cx="846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800" b="1" dirty="0">
                  <a:latin typeface="Times New Roman" panose="02020603050405020304" pitchFamily="18" charset="0"/>
                  <a:cs typeface="Times New Roman" panose="02020603050405020304" pitchFamily="18" charset="0"/>
                </a:rPr>
                <a:t>GT  Edge  Encoding</a:t>
              </a:r>
            </a:p>
          </p:txBody>
        </p:sp>
        <p:sp>
          <p:nvSpPr>
            <p:cNvPr id="375" name="encoding_left_point"/>
            <p:cNvSpPr>
              <a:spLocks/>
            </p:cNvSpPr>
            <p:nvPr/>
          </p:nvSpPr>
          <p:spPr>
            <a:xfrm>
              <a:off x="1591200" y="2040480"/>
              <a:ext cx="18000" cy="18000"/>
            </a:xfrm>
            <a:prstGeom prst="ellipse">
              <a:avLst/>
            </a:prstGeom>
            <a:solidFill>
              <a:srgbClr val="687681"/>
            </a:solidFill>
            <a:ln>
              <a:noFill/>
            </a:ln>
          </p:spPr>
          <p:style>
            <a:lnRef idx="2">
              <a:schemeClr val="accent1">
                <a:shade val="15000"/>
              </a:schemeClr>
            </a:lnRef>
            <a:fillRef idx="1">
              <a:schemeClr val="accent1"/>
            </a:fillRef>
            <a:effectRef idx="0">
              <a:schemeClr val="accent1"/>
            </a:effectRef>
            <a:fontRef idx="minor"/>
          </p:style>
          <p:txBody>
            <a:bodyPr lIns="9000" tIns="-32760" rIns="9000" bIns="-327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76" name="encoding_right_point"/>
            <p:cNvSpPr>
              <a:spLocks/>
            </p:cNvSpPr>
            <p:nvPr/>
          </p:nvSpPr>
          <p:spPr>
            <a:xfrm>
              <a:off x="2275200" y="2040480"/>
              <a:ext cx="18000" cy="18000"/>
            </a:xfrm>
            <a:prstGeom prst="ellipse">
              <a:avLst/>
            </a:prstGeom>
            <a:solidFill>
              <a:srgbClr val="687681"/>
            </a:solidFill>
            <a:ln>
              <a:noFill/>
            </a:ln>
          </p:spPr>
          <p:style>
            <a:lnRef idx="2">
              <a:schemeClr val="accent1">
                <a:shade val="15000"/>
              </a:schemeClr>
            </a:lnRef>
            <a:fillRef idx="1">
              <a:schemeClr val="accent1"/>
            </a:fillRef>
            <a:effectRef idx="0">
              <a:schemeClr val="accent1"/>
            </a:effectRef>
            <a:fontRef idx="minor"/>
          </p:style>
          <p:txBody>
            <a:bodyPr lIns="9000" tIns="-32760" rIns="9000" bIns="-327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77" name="encoding_gt_label"/>
                <p:cNvSpPr/>
                <p:nvPr/>
              </p:nvSpPr>
              <p:spPr>
                <a:xfrm>
                  <a:off x="1671830" y="1843561"/>
                  <a:ext cx="151939"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Para xmlns:m="http://schemas.openxmlformats.org/officeDocument/2006/math">
                      <m:oMath>
                        <m:sSub>
                          <m:sSubPr>
                            <m:ctrlPr>
                              <a:rPr lang="en-US" altLang="zh-CN" sz="700" b="0" i="1" u="none" strike="noStrike" smtClean="0">
                                <a:effectLst/>
                                <a:uFillTx/>
                                <a:latin typeface="Cambria Math" panose="02040503050406030204" pitchFamily="18" charset="0"/>
                                <a:cs typeface="Times New Roman" panose="02020603050405020304" pitchFamily="18" charset="0"/>
                              </a:rPr>
                            </m:ctrlPr>
                          </m:sSubPr>
                          <m:e>
                            <m:r>
                              <a:rPr lang="en-US" altLang="zh-CN" sz="700" b="0" i="1" u="none" strike="noStrike" smtClean="0">
                                <a:effectLst/>
                                <a:uFillTx/>
                                <a:latin typeface="Cambria Math" panose="02040503050406030204" pitchFamily="18" charset="0"/>
                                <a:cs typeface="Times New Roman" panose="02020603050405020304" pitchFamily="18" charset="0"/>
                              </a:rPr>
                              <m:t>𝑑</m:t>
                            </m:r>
                          </m:e>
                          <m:sub>
                            <m:r>
                              <a:rPr lang="en-US" altLang="zh-CN" sz="700" b="0" i="1" u="none" strike="noStrike" smtClean="0">
                                <a:effectLst/>
                                <a:uFillTx/>
                                <a:latin typeface="Cambria Math" panose="02040503050406030204" pitchFamily="18" charset="0"/>
                                <a:cs typeface="Times New Roman" panose="02020603050405020304" pitchFamily="18" charset="0"/>
                              </a:rPr>
                              <m:t>𝐺𝑇</m:t>
                            </m:r>
                          </m:sub>
                        </m:sSub>
                      </m:oMath>
                    </m:oMathPara>
                  </a14:m>
                  <a:endParaRPr lang="en-US" sz="7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377" name="encoding_gt_label"/>
                <p:cNvSpPr>
                  <a:spLocks noRot="1" noChangeAspect="1" noMove="1" noResize="1" noEditPoints="1" noAdjustHandles="1" noChangeArrowheads="1" noChangeShapeType="1" noTextEdit="1"/>
                </p:cNvSpPr>
                <p:nvPr/>
              </p:nvSpPr>
              <p:spPr>
                <a:xfrm>
                  <a:off x="1671830" y="1843561"/>
                  <a:ext cx="151939" cy="138240"/>
                </a:xfrm>
                <a:prstGeom prst="rect">
                  <a:avLst/>
                </a:prstGeom>
                <a:blipFill>
                  <a:blip r:embed="rId3"/>
                  <a:stretch>
                    <a:fillRect l="-24000" r="-8000" b="-4348"/>
                  </a:stretch>
                </a:blipFill>
                <a:ln w="0">
                  <a:noFill/>
                </a:ln>
              </p:spPr>
              <p:txBody>
                <a:bodyPr/>
                <a:lstStyle/>
                <a:p>
                  <a:r>
                    <a:rPr lang="zh-CN" altLang="en-US">
                      <a:noFill/>
                    </a:rPr>
                    <a:t> </a:t>
                  </a:r>
                </a:p>
              </p:txBody>
            </p:sp>
          </mc:Fallback>
        </mc:AlternateContent>
        <p:sp>
          <p:nvSpPr>
            <p:cNvPr id="378" name="encoding_left_label"/>
            <p:cNvSpPr/>
            <p:nvPr/>
          </p:nvSpPr>
          <p:spPr>
            <a:xfrm>
              <a:off x="1522800" y="2095200"/>
              <a:ext cx="356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W(n)</a:t>
              </a:r>
            </a:p>
          </p:txBody>
        </p:sp>
        <p:sp>
          <p:nvSpPr>
            <p:cNvPr id="379" name="encoding_right_label"/>
            <p:cNvSpPr/>
            <p:nvPr/>
          </p:nvSpPr>
          <p:spPr>
            <a:xfrm>
              <a:off x="1965600" y="2095200"/>
              <a:ext cx="41364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W(n+1)</a:t>
              </a:r>
            </a:p>
          </p:txBody>
        </p:sp>
        <p:sp>
          <p:nvSpPr>
            <p:cNvPr id="380" name="target"/>
            <p:cNvSpPr/>
            <p:nvPr/>
          </p:nvSpPr>
          <p:spPr>
            <a:xfrm>
              <a:off x="2657160" y="1655280"/>
              <a:ext cx="1010519" cy="669240"/>
            </a:xfrm>
            <a:prstGeom prst="roundRect">
              <a:avLst>
                <a:gd name="adj" fmla="val 15000"/>
              </a:avLst>
            </a:prstGeom>
            <a:solidFill>
              <a:srgbClr val="FFFFFF"/>
            </a:solidFill>
            <a:ln w="5760">
              <a:solidFill>
                <a:srgbClr val="68768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81" name="target_label"/>
            <p:cNvSpPr/>
            <p:nvPr/>
          </p:nvSpPr>
          <p:spPr>
            <a:xfrm>
              <a:off x="2624760" y="1699200"/>
              <a:ext cx="101052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800" b="1" u="none" strike="noStrike" dirty="0">
                  <a:effectLst/>
                  <a:uFillTx/>
                  <a:latin typeface="Times New Roman" panose="02020603050405020304" pitchFamily="18" charset="0"/>
                  <a:cs typeface="Times New Roman" panose="02020603050405020304" pitchFamily="18" charset="0"/>
                </a:rPr>
                <a:t>Two-bin GT target</a:t>
              </a:r>
            </a:p>
          </p:txBody>
        </p:sp>
        <p:sp>
          <p:nvSpPr>
            <p:cNvPr id="382" name="target_left"/>
            <p:cNvSpPr/>
            <p:nvPr/>
          </p:nvSpPr>
          <p:spPr>
            <a:xfrm>
              <a:off x="2847600" y="1984320"/>
              <a:ext cx="126000" cy="147600"/>
            </a:xfrm>
            <a:prstGeom prst="rect">
              <a:avLst/>
            </a:prstGeom>
            <a:solidFill>
              <a:srgbClr val="7098B7"/>
            </a:solidFill>
            <a:ln>
              <a:noFill/>
            </a:ln>
          </p:spPr>
          <p:style>
            <a:lnRef idx="2">
              <a:schemeClr val="accent1">
                <a:shade val="15000"/>
              </a:schemeClr>
            </a:lnRef>
            <a:fillRef idx="1">
              <a:schemeClr val="accent1"/>
            </a:fillRef>
            <a:effectRef idx="0">
              <a:schemeClr val="accent1"/>
            </a:effectRef>
            <a:fontRef idx="minor"/>
          </p:style>
          <p:txBody>
            <a:bodyPr lIns="63000" tIns="50040" rIns="6300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83" name="target_right"/>
            <p:cNvSpPr/>
            <p:nvPr/>
          </p:nvSpPr>
          <p:spPr>
            <a:xfrm>
              <a:off x="3243600" y="2070720"/>
              <a:ext cx="126000" cy="61200"/>
            </a:xfrm>
            <a:prstGeom prst="rect">
              <a:avLst/>
            </a:prstGeom>
            <a:solidFill>
              <a:srgbClr val="7098B7"/>
            </a:solidFill>
            <a:ln>
              <a:noFill/>
            </a:ln>
          </p:spPr>
          <p:style>
            <a:lnRef idx="2">
              <a:schemeClr val="accent1">
                <a:shade val="15000"/>
              </a:schemeClr>
            </a:lnRef>
            <a:fillRef idx="1">
              <a:schemeClr val="accent1"/>
            </a:fillRef>
            <a:effectRef idx="0">
              <a:schemeClr val="accent1"/>
            </a:effectRef>
            <a:fontRef idx="minor"/>
          </p:style>
          <p:txBody>
            <a:bodyPr lIns="63000" tIns="21960" rIns="63000" bIns="219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84" name="target_left_weight"/>
            <p:cNvSpPr/>
            <p:nvPr/>
          </p:nvSpPr>
          <p:spPr>
            <a:xfrm>
              <a:off x="2804400" y="1836000"/>
              <a:ext cx="212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t</a:t>
              </a:r>
              <a:r>
                <a:rPr lang="en-US" sz="850" b="0" i="1" u="none" strike="noStrike" baseline="-25000">
                  <a:effectLst/>
                  <a:uFillTx/>
                  <a:latin typeface="Times New Roman" panose="02020603050405020304" pitchFamily="18" charset="0"/>
                  <a:cs typeface="Times New Roman" panose="02020603050405020304" pitchFamily="18" charset="0"/>
                </a:rPr>
                <a:t>n</a:t>
              </a:r>
              <a:endParaRPr lang="en-US" sz="850" b="0" u="none" strike="noStrike">
                <a:effectLst/>
                <a:uFillTx/>
                <a:latin typeface="Times New Roman" panose="02020603050405020304" pitchFamily="18" charset="0"/>
                <a:cs typeface="Times New Roman" panose="02020603050405020304" pitchFamily="18" charset="0"/>
              </a:endParaRPr>
            </a:p>
          </p:txBody>
        </p:sp>
        <p:sp>
          <p:nvSpPr>
            <p:cNvPr id="385" name="target_right_weight"/>
            <p:cNvSpPr/>
            <p:nvPr/>
          </p:nvSpPr>
          <p:spPr>
            <a:xfrm>
              <a:off x="3186000" y="1929600"/>
              <a:ext cx="2772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t</a:t>
              </a:r>
              <a:r>
                <a:rPr lang="en-US" sz="850" b="0" i="1" u="none" strike="noStrike" baseline="-25000">
                  <a:effectLst/>
                  <a:uFillTx/>
                  <a:latin typeface="Times New Roman" panose="02020603050405020304" pitchFamily="18" charset="0"/>
                  <a:cs typeface="Times New Roman" panose="02020603050405020304" pitchFamily="18" charset="0"/>
                </a:rPr>
                <a:t>n+1</a:t>
              </a:r>
              <a:endParaRPr lang="en-US" sz="850" b="0" u="none" strike="noStrike">
                <a:effectLst/>
                <a:uFillTx/>
                <a:latin typeface="Times New Roman" panose="02020603050405020304" pitchFamily="18" charset="0"/>
                <a:cs typeface="Times New Roman" panose="02020603050405020304" pitchFamily="18" charset="0"/>
              </a:endParaRPr>
            </a:p>
          </p:txBody>
        </p:sp>
        <p:sp>
          <p:nvSpPr>
            <p:cNvPr id="386" name="target_left_bin"/>
            <p:cNvSpPr/>
            <p:nvPr/>
          </p:nvSpPr>
          <p:spPr>
            <a:xfrm>
              <a:off x="2804400" y="2142000"/>
              <a:ext cx="212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n</a:t>
              </a:r>
            </a:p>
          </p:txBody>
        </p:sp>
        <p:sp>
          <p:nvSpPr>
            <p:cNvPr id="387" name="target_right_bin"/>
            <p:cNvSpPr/>
            <p:nvPr/>
          </p:nvSpPr>
          <p:spPr>
            <a:xfrm>
              <a:off x="3168000" y="2142000"/>
              <a:ext cx="284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n+1</a:t>
              </a:r>
            </a:p>
          </p:txBody>
        </p:sp>
        <p:sp>
          <p:nvSpPr>
            <p:cNvPr id="388" name="target_interval"/>
            <p:cNvSpPr/>
            <p:nvPr/>
          </p:nvSpPr>
          <p:spPr>
            <a:xfrm>
              <a:off x="1494000" y="1473120"/>
              <a:ext cx="2156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pl-PL" sz="900" b="0" i="1" u="none" strike="noStrike" dirty="0">
                  <a:effectLst/>
                  <a:uFillTx/>
                  <a:latin typeface="Times New Roman" panose="02020603050405020304" pitchFamily="18" charset="0"/>
                  <a:cs typeface="Times New Roman" panose="02020603050405020304" pitchFamily="18" charset="0"/>
                </a:rPr>
                <a:t>W(n) ≤ d</a:t>
              </a:r>
              <a:r>
                <a:rPr lang="pl-PL" sz="850" b="0" i="1" u="none" strike="noStrike" baseline="-25000" dirty="0">
                  <a:effectLst/>
                  <a:uFillTx/>
                  <a:latin typeface="Times New Roman" panose="02020603050405020304" pitchFamily="18" charset="0"/>
                  <a:cs typeface="Times New Roman" panose="02020603050405020304" pitchFamily="18" charset="0"/>
                </a:rPr>
                <a:t>GT</a:t>
              </a:r>
              <a:r>
                <a:rPr lang="pl-PL" sz="900" b="0" i="1" u="none" strike="noStrike" dirty="0">
                  <a:effectLst/>
                  <a:uFillTx/>
                  <a:latin typeface="Times New Roman" panose="02020603050405020304" pitchFamily="18" charset="0"/>
                  <a:cs typeface="Times New Roman" panose="02020603050405020304" pitchFamily="18" charset="0"/>
                </a:rPr>
                <a:t> ≤ W(n+1)</a:t>
              </a:r>
              <a:endParaRPr lang="en-US" sz="900" b="0" i="1" u="none" strike="noStrike" dirty="0">
                <a:effectLst/>
                <a:uFillTx/>
                <a:latin typeface="Times New Roman" panose="02020603050405020304" pitchFamily="18" charset="0"/>
                <a:cs typeface="Times New Roman" panose="02020603050405020304" pitchFamily="18" charset="0"/>
              </a:endParaRPr>
            </a:p>
          </p:txBody>
        </p:sp>
        <p:sp>
          <p:nvSpPr>
            <p:cNvPr id="389" name="fgl"/>
            <p:cNvSpPr/>
            <p:nvPr/>
          </p:nvSpPr>
          <p:spPr>
            <a:xfrm>
              <a:off x="3946320" y="1761480"/>
              <a:ext cx="883440" cy="348480"/>
            </a:xfrm>
            <a:prstGeom prst="roundRect">
              <a:avLst>
                <a:gd name="adj" fmla="val 15000"/>
              </a:avLst>
            </a:prstGeom>
            <a:solidFill>
              <a:srgbClr val="FFFFFF"/>
            </a:solidFill>
            <a:ln w="5760">
              <a:solidFill>
                <a:srgbClr val="68768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90" name="fgl_text"/>
            <p:cNvSpPr/>
            <p:nvPr/>
          </p:nvSpPr>
          <p:spPr>
            <a:xfrm>
              <a:off x="3906000" y="1782720"/>
              <a:ext cx="932400" cy="30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Interpolated</a:t>
              </a: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cross-entropy</a:t>
              </a:r>
            </a:p>
          </p:txBody>
        </p:sp>
        <p:sp>
          <p:nvSpPr>
            <p:cNvPr id="391" name="fgl_multiply"/>
            <p:cNvSpPr/>
            <p:nvPr/>
          </p:nvSpPr>
          <p:spPr>
            <a:xfrm>
              <a:off x="5144741" y="1863478"/>
              <a:ext cx="208800" cy="176760"/>
            </a:xfrm>
            <a:prstGeom prst="ellipse">
              <a:avLst/>
            </a:prstGeom>
            <a:solidFill>
              <a:srgbClr val="FFFFFF"/>
            </a:solidFill>
            <a:ln w="5760">
              <a:solidFill>
                <a:srgbClr val="9683AB"/>
              </a:solidFill>
            </a:ln>
          </p:spPr>
          <p:style>
            <a:lnRef idx="2">
              <a:schemeClr val="accent1">
                <a:shade val="15000"/>
              </a:schemeClr>
            </a:lnRef>
            <a:fillRef idx="1">
              <a:schemeClr val="accent1"/>
            </a:fillRef>
            <a:effectRef idx="0">
              <a:schemeClr val="accent1"/>
            </a:effectRef>
            <a:fontRef idx="minor"/>
          </p:style>
          <p:txBody>
            <a:bodyPr lIns="85680" tIns="50040" rIns="856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92" name="fgl_multiply_symbol"/>
            <p:cNvSpPr/>
            <p:nvPr/>
          </p:nvSpPr>
          <p:spPr>
            <a:xfrm>
              <a:off x="5182610" y="1882631"/>
              <a:ext cx="126000" cy="147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a:t>
              </a:r>
            </a:p>
          </p:txBody>
        </p:sp>
        <p:sp>
          <p:nvSpPr>
            <p:cNvPr id="393" name="fgl_reduce"/>
            <p:cNvSpPr/>
            <p:nvPr/>
          </p:nvSpPr>
          <p:spPr>
            <a:xfrm>
              <a:off x="5598720" y="1693439"/>
              <a:ext cx="1248840" cy="989281"/>
            </a:xfrm>
            <a:prstGeom prst="roundRect">
              <a:avLst>
                <a:gd name="adj" fmla="val 15000"/>
              </a:avLst>
            </a:prstGeom>
            <a:solidFill>
              <a:schemeClr val="bg1"/>
            </a:solidFill>
            <a:ln w="5760">
              <a:solidFill>
                <a:srgbClr val="68768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94" name="fgl_reduce_title"/>
            <p:cNvSpPr/>
            <p:nvPr/>
          </p:nvSpPr>
          <p:spPr>
            <a:xfrm>
              <a:off x="5670000" y="1728720"/>
              <a:ext cx="1076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Weighted FGL</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396" name="fgl_reduce_label"/>
            <p:cNvSpPr/>
            <p:nvPr/>
          </p:nvSpPr>
          <p:spPr>
            <a:xfrm>
              <a:off x="5666040" y="2276093"/>
              <a:ext cx="1181520" cy="325801"/>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just" defTabSz="1018080">
                <a:lnSpc>
                  <a:spcPct val="100000"/>
                </a:lnSpc>
              </a:pPr>
              <a:r>
                <a:rPr lang="zh-CN" altLang="zh-CN" sz="900" dirty="0">
                  <a:latin typeface="Times New Roman" panose="02020603050405020304" pitchFamily="18" charset="0"/>
                  <a:cs typeface="Times New Roman" panose="02020603050405020304" pitchFamily="18" charset="0"/>
                </a:rPr>
                <a:t>Mean of the four-edge </a:t>
              </a:r>
              <a:endParaRPr lang="en-US" altLang="zh-CN" sz="900" dirty="0">
                <a:latin typeface="Times New Roman" panose="02020603050405020304" pitchFamily="18" charset="0"/>
                <a:cs typeface="Times New Roman" panose="02020603050405020304" pitchFamily="18" charset="0"/>
              </a:endParaRPr>
            </a:p>
            <a:p>
              <a:pPr algn="just" defTabSz="1018080">
                <a:lnSpc>
                  <a:spcPct val="100000"/>
                </a:lnSpc>
              </a:pPr>
              <a:r>
                <a:rPr lang="zh-CN" altLang="zh-CN" sz="900" dirty="0">
                  <a:latin typeface="Times New Roman" panose="02020603050405020304" pitchFamily="18" charset="0"/>
                  <a:cs typeface="Times New Roman" panose="02020603050405020304" pitchFamily="18" charset="0"/>
                </a:rPr>
                <a:t>loss over matched boxes</a:t>
              </a:r>
              <a:endParaRPr lang="en-US" sz="850" b="0" u="none" strike="noStrike" dirty="0">
                <a:effectLst/>
                <a:uFillTx/>
                <a:latin typeface="Times New Roman" panose="02020603050405020304" pitchFamily="18" charset="0"/>
                <a:cs typeface="Times New Roman" panose="02020603050405020304" pitchFamily="18" charset="0"/>
              </a:endParaRPr>
            </a:p>
          </p:txBody>
        </p:sp>
        <p:sp>
          <p:nvSpPr>
            <p:cNvPr id="397" name="fgl_logits"/>
            <p:cNvSpPr/>
            <p:nvPr/>
          </p:nvSpPr>
          <p:spPr>
            <a:xfrm>
              <a:off x="629280" y="2553480"/>
              <a:ext cx="675720" cy="348480"/>
            </a:xfrm>
            <a:prstGeom prst="roundRect">
              <a:avLst>
                <a:gd name="adj" fmla="val 15000"/>
              </a:avLst>
            </a:prstGeom>
            <a:solidFill>
              <a:schemeClr val="bg1"/>
            </a:solidFill>
            <a:ln w="5760">
              <a:solidFill>
                <a:srgbClr val="68768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398" name="fgl_logits_text"/>
            <p:cNvSpPr/>
            <p:nvPr/>
          </p:nvSpPr>
          <p:spPr>
            <a:xfrm>
              <a:off x="666000" y="2574720"/>
              <a:ext cx="572400" cy="30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Matched z</a:t>
              </a:r>
              <a:r>
                <a:rPr lang="en-US" sz="850" b="0" i="1" u="none" strike="noStrike" baseline="-25000">
                  <a:effectLst/>
                  <a:uFillTx/>
                  <a:latin typeface="Times New Roman" panose="02020603050405020304" pitchFamily="18" charset="0"/>
                  <a:cs typeface="Times New Roman" panose="02020603050405020304" pitchFamily="18" charset="0"/>
                </a:rPr>
                <a:t>i</a:t>
              </a:r>
              <a:endParaRPr lang="en-US" sz="850" b="0" u="none" strike="noStrike">
                <a:effectLst/>
                <a:uFillTx/>
                <a:latin typeface="Times New Roman" panose="02020603050405020304" pitchFamily="18" charset="0"/>
                <a:cs typeface="Times New Roman" panose="02020603050405020304" pitchFamily="18" charset="0"/>
              </a:endParaRP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i = 1, …, 6</a:t>
              </a:r>
            </a:p>
          </p:txBody>
        </p:sp>
        <p:sp>
          <p:nvSpPr>
            <p:cNvPr id="399" name="fgl_prediction"/>
            <p:cNvSpPr/>
            <p:nvPr/>
          </p:nvSpPr>
          <p:spPr>
            <a:xfrm>
              <a:off x="1468800" y="2508840"/>
              <a:ext cx="947160" cy="547920"/>
            </a:xfrm>
            <a:prstGeom prst="roundRect">
              <a:avLst>
                <a:gd name="adj" fmla="val 15000"/>
              </a:avLst>
            </a:prstGeom>
            <a:solidFill>
              <a:srgbClr val="FFFFFF"/>
            </a:solidFill>
            <a:ln w="7620">
              <a:solidFill>
                <a:srgbClr val="887399"/>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00" name="prediction_label"/>
                <p:cNvSpPr/>
                <p:nvPr/>
              </p:nvSpPr>
              <p:spPr>
                <a:xfrm>
                  <a:off x="1526400" y="2545200"/>
                  <a:ext cx="8316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i="1" dirty="0">
                              <a:latin typeface="Cambria Math" panose="02040503050406030204" pitchFamily="18" charset="0"/>
                              <a:cs typeface="Times New Roman" panose="02020603050405020304" pitchFamily="18" charset="0"/>
                            </a:rPr>
                          </m:ctrlPr>
                        </m:sSubPr>
                        <m:e>
                          <m:r>
                            <m:rPr>
                              <m:nor/>
                            </m:rPr>
                            <a:rPr lang="en-US" altLang="zh-CN" sz="900" i="1" dirty="0">
                              <a:latin typeface="Cambria Math" panose="02040503050406030204" pitchFamily="18" charset="0"/>
                              <a:cs typeface="Times New Roman" panose="02020603050405020304" pitchFamily="18" charset="0"/>
                            </a:rPr>
                            <m:t>p</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sz="900" b="0" i="1" u="none" strike="noStrike" dirty="0">
                      <a:effectLst/>
                      <a:uFillTx/>
                      <a:latin typeface="Times New Roman" panose="02020603050405020304" pitchFamily="18" charset="0"/>
                      <a:cs typeface="Times New Roman" panose="02020603050405020304" pitchFamily="18" charset="0"/>
                    </a:rPr>
                    <a:t> = </a:t>
                  </a:r>
                  <a:r>
                    <a:rPr lang="en-US" sz="900" b="0" i="1" u="none" strike="noStrike" dirty="0" err="1">
                      <a:effectLst/>
                      <a:uFillTx/>
                      <a:latin typeface="Times New Roman" panose="02020603050405020304" pitchFamily="18" charset="0"/>
                      <a:cs typeface="Times New Roman" panose="02020603050405020304" pitchFamily="18" charset="0"/>
                    </a:rPr>
                    <a:t>softmax</a:t>
                  </a:r>
                  <a:r>
                    <a:rPr lang="en-US" sz="900" b="0" i="1"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900" b="0" i="1" dirty="0" smtClean="0">
                              <a:latin typeface="Cambria Math" panose="02040503050406030204" pitchFamily="18" charset="0"/>
                              <a:cs typeface="Times New Roman" panose="02020603050405020304" pitchFamily="18" charset="0"/>
                            </a:rPr>
                          </m:ctrlPr>
                        </m:sSubPr>
                        <m:e>
                          <m:r>
                            <m:rPr>
                              <m:nor/>
                            </m:rPr>
                            <a:rPr lang="en-US" altLang="zh-CN" sz="900" b="0" i="1" dirty="0" smtClean="0">
                              <a:latin typeface="Cambria Math" panose="02040503050406030204" pitchFamily="18" charset="0"/>
                              <a:cs typeface="Times New Roman" panose="02020603050405020304" pitchFamily="18" charset="0"/>
                            </a:rPr>
                            <m:t>z</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sz="900" b="0" i="1" u="none" strike="noStrike" dirty="0">
                      <a:effectLst/>
                      <a:uFillTx/>
                      <a:latin typeface="Times New Roman" panose="02020603050405020304" pitchFamily="18" charset="0"/>
                      <a:cs typeface="Times New Roman" panose="02020603050405020304" pitchFamily="18" charset="0"/>
                    </a:rPr>
                    <a:t> )</a:t>
                  </a:r>
                </a:p>
              </p:txBody>
            </p:sp>
          </mc:Choice>
          <mc:Fallback xmlns="">
            <p:sp>
              <p:nvSpPr>
                <p:cNvPr id="400" name="prediction_label"/>
                <p:cNvSpPr>
                  <a:spLocks noRot="1" noChangeAspect="1" noMove="1" noResize="1" noEditPoints="1" noAdjustHandles="1" noChangeArrowheads="1" noChangeShapeType="1" noTextEdit="1"/>
                </p:cNvSpPr>
                <p:nvPr/>
              </p:nvSpPr>
              <p:spPr>
                <a:xfrm>
                  <a:off x="1526400" y="2545200"/>
                  <a:ext cx="831600" cy="138240"/>
                </a:xfrm>
                <a:prstGeom prst="rect">
                  <a:avLst/>
                </a:prstGeom>
                <a:blipFill>
                  <a:blip r:embed="rId4"/>
                  <a:stretch>
                    <a:fillRect l="-730" t="-36364" r="-5109" b="-54545"/>
                  </a:stretch>
                </a:blipFill>
                <a:ln w="0">
                  <a:noFill/>
                </a:ln>
              </p:spPr>
              <p:txBody>
                <a:bodyPr/>
                <a:lstStyle/>
                <a:p>
                  <a:r>
                    <a:rPr lang="zh-CN" altLang="en-US">
                      <a:noFill/>
                    </a:rPr>
                    <a:t> </a:t>
                  </a:r>
                </a:p>
              </p:txBody>
            </p:sp>
          </mc:Fallback>
        </mc:AlternateContent>
        <p:sp>
          <p:nvSpPr>
            <p:cNvPr id="401" name="fgl_entropy"/>
            <p:cNvSpPr/>
            <p:nvPr/>
          </p:nvSpPr>
          <p:spPr>
            <a:xfrm>
              <a:off x="2797200" y="2526840"/>
              <a:ext cx="1453680" cy="412920"/>
            </a:xfrm>
            <a:prstGeom prst="roundRect">
              <a:avLst>
                <a:gd name="adj" fmla="val 15000"/>
              </a:avLst>
            </a:prstGeom>
            <a:solidFill>
              <a:schemeClr val="bg1"/>
            </a:solidFill>
            <a:ln w="5760">
              <a:solidFill>
                <a:srgbClr val="756484"/>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02" name="fgl_entropy_title"/>
            <p:cNvSpPr/>
            <p:nvPr/>
          </p:nvSpPr>
          <p:spPr>
            <a:xfrm>
              <a:off x="2725200" y="2560320"/>
              <a:ext cx="1566000" cy="144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Entropy reweighting</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03" name="fgl_entropy_formula"/>
                <p:cNvSpPr/>
                <p:nvPr/>
              </p:nvSpPr>
              <p:spPr>
                <a:xfrm>
                  <a:off x="2725200" y="2754720"/>
                  <a:ext cx="15660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l-GR" altLang="zh-CN" sz="900" i="1" dirty="0">
                              <a:latin typeface="Times New Roman" panose="02020603050405020304" pitchFamily="18" charset="0"/>
                              <a:cs typeface="Times New Roman" panose="02020603050405020304" pitchFamily="18" charset="0"/>
                            </a:rPr>
                          </m:ctrlPr>
                        </m:sSubPr>
                        <m:e>
                          <m:r>
                            <m:rPr>
                              <m:nor/>
                            </m:rPr>
                            <a:rPr lang="el-GR" altLang="zh-CN" sz="900" i="1" dirty="0">
                              <a:latin typeface="Times New Roman" panose="02020603050405020304" pitchFamily="18" charset="0"/>
                              <a:cs typeface="Times New Roman" panose="02020603050405020304" pitchFamily="18" charset="0"/>
                            </a:rPr>
                            <m:t>η</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pt-BR" sz="900" b="0" i="1" u="none" strike="noStrike" dirty="0">
                      <a:effectLst/>
                      <a:uFillTx/>
                      <a:latin typeface="Times New Roman" panose="02020603050405020304" pitchFamily="18" charset="0"/>
                      <a:cs typeface="Times New Roman" panose="02020603050405020304" pitchFamily="18" charset="0"/>
                    </a:rPr>
                    <a:t> = </a:t>
                  </a:r>
                  <a:r>
                    <a:rPr lang="pt-BR" sz="900" b="0" u="none" strike="noStrike" dirty="0">
                      <a:effectLst/>
                      <a:uFillTx/>
                      <a:latin typeface="Times New Roman" panose="02020603050405020304" pitchFamily="18" charset="0"/>
                      <a:cs typeface="Times New Roman" panose="02020603050405020304" pitchFamily="18" charset="0"/>
                    </a:rPr>
                    <a:t>1 </a:t>
                  </a:r>
                  <a:r>
                    <a:rPr lang="pt-BR" sz="900" b="0" i="1" u="none" strike="noStrike" dirty="0">
                      <a:effectLst/>
                      <a:uFillTx/>
                      <a:latin typeface="Times New Roman" panose="02020603050405020304" pitchFamily="18" charset="0"/>
                      <a:cs typeface="Times New Roman" panose="02020603050405020304" pitchFamily="18" charset="0"/>
                    </a:rPr>
                    <a:t>+ </a:t>
                  </a:r>
                  <a:r>
                    <a:rPr lang="pt-BR" sz="900" b="0" u="none" strike="noStrike" dirty="0">
                      <a:effectLst/>
                      <a:uFillTx/>
                      <a:latin typeface="Times New Roman" panose="02020603050405020304" pitchFamily="18" charset="0"/>
                      <a:cs typeface="Times New Roman" panose="02020603050405020304" pitchFamily="18" charset="0"/>
                    </a:rPr>
                    <a:t>0.35</a:t>
                  </a:r>
                  <a:r>
                    <a:rPr lang="pt-BR" sz="900" b="0" i="1" u="none" strike="noStrike" dirty="0">
                      <a:effectLst/>
                      <a:uFillTx/>
                      <a:latin typeface="Times New Roman" panose="02020603050405020304" pitchFamily="18" charset="0"/>
                      <a:cs typeface="Times New Roman" panose="02020603050405020304" pitchFamily="18" charset="0"/>
                    </a:rPr>
                    <a:t> H(</a:t>
                  </a:r>
                  <a14:m>
                    <m:oMath xmlns:m="http://schemas.openxmlformats.org/officeDocument/2006/math">
                      <m:sSub>
                        <m:sSubPr>
                          <m:ctrlPr>
                            <a:rPr lang="en-US" altLang="zh-CN" sz="900" b="0" i="1" dirty="0" smtClean="0">
                              <a:latin typeface="Cambria Math" panose="02040503050406030204" pitchFamily="18" charset="0"/>
                              <a:cs typeface="Times New Roman" panose="02020603050405020304" pitchFamily="18" charset="0"/>
                            </a:rPr>
                          </m:ctrlPr>
                        </m:sSubPr>
                        <m:e>
                          <m:r>
                            <m:rPr>
                              <m:nor/>
                            </m:rPr>
                            <a:rPr lang="en-US" altLang="zh-CN" sz="900" b="0" i="1" dirty="0" smtClean="0">
                              <a:latin typeface="Cambria Math" panose="02040503050406030204" pitchFamily="18" charset="0"/>
                              <a:cs typeface="Times New Roman" panose="02020603050405020304" pitchFamily="18" charset="0"/>
                            </a:rPr>
                            <m:t>p</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pt-BR" sz="900" b="0" i="1" u="none" strike="noStrike" dirty="0">
                      <a:effectLst/>
                      <a:uFillTx/>
                      <a:latin typeface="Times New Roman" panose="02020603050405020304" pitchFamily="18" charset="0"/>
                      <a:cs typeface="Times New Roman" panose="02020603050405020304" pitchFamily="18" charset="0"/>
                    </a:rPr>
                    <a:t>) / log </a:t>
                  </a:r>
                  <a:r>
                    <a:rPr lang="pt-BR" sz="900" b="0" u="none" strike="noStrike" dirty="0">
                      <a:effectLst/>
                      <a:uFillTx/>
                      <a:latin typeface="Times New Roman" panose="02020603050405020304" pitchFamily="18" charset="0"/>
                      <a:cs typeface="Times New Roman" panose="02020603050405020304" pitchFamily="18" charset="0"/>
                    </a:rPr>
                    <a:t>33</a:t>
                  </a:r>
                  <a:endParaRPr lang="en-US" sz="90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03" name="fgl_entropy_formula"/>
                <p:cNvSpPr>
                  <a:spLocks noRot="1" noChangeAspect="1" noMove="1" noResize="1" noEditPoints="1" noAdjustHandles="1" noChangeArrowheads="1" noChangeShapeType="1" noTextEdit="1"/>
                </p:cNvSpPr>
                <p:nvPr/>
              </p:nvSpPr>
              <p:spPr>
                <a:xfrm>
                  <a:off x="2725200" y="2754720"/>
                  <a:ext cx="1566000" cy="158400"/>
                </a:xfrm>
                <a:prstGeom prst="rect">
                  <a:avLst/>
                </a:prstGeom>
                <a:blipFill>
                  <a:blip r:embed="rId5"/>
                  <a:stretch>
                    <a:fillRect t="-23077" b="-38462"/>
                  </a:stretch>
                </a:blipFill>
                <a:ln w="0">
                  <a:noFill/>
                </a:ln>
              </p:spPr>
              <p:txBody>
                <a:bodyPr/>
                <a:lstStyle/>
                <a:p>
                  <a:r>
                    <a:rPr lang="zh-CN" altLang="en-US">
                      <a:noFill/>
                    </a:rPr>
                    <a:t> </a:t>
                  </a:r>
                </a:p>
              </p:txBody>
            </p:sp>
          </mc:Fallback>
        </mc:AlternateContent>
        <p:sp>
          <p:nvSpPr>
            <p:cNvPr id="404" name="fgl_weight"/>
            <p:cNvSpPr/>
            <p:nvPr/>
          </p:nvSpPr>
          <p:spPr>
            <a:xfrm>
              <a:off x="4637620" y="2540153"/>
              <a:ext cx="788400" cy="380520"/>
            </a:xfrm>
            <a:prstGeom prst="roundRect">
              <a:avLst>
                <a:gd name="adj" fmla="val 15000"/>
              </a:avLst>
            </a:prstGeom>
            <a:solidFill>
              <a:srgbClr val="FFFFFF"/>
            </a:solidFill>
            <a:ln w="5760">
              <a:solidFill>
                <a:srgbClr val="68768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05" name="fgl_weight_product"/>
                <p:cNvSpPr/>
                <p:nvPr/>
              </p:nvSpPr>
              <p:spPr>
                <a:xfrm>
                  <a:off x="4590000" y="2577600"/>
                  <a:ext cx="824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l-GR" altLang="zh-CN" sz="900" i="1" dirty="0">
                              <a:latin typeface="Times New Roman" panose="02020603050405020304" pitchFamily="18" charset="0"/>
                              <a:cs typeface="Times New Roman" panose="02020603050405020304" pitchFamily="18" charset="0"/>
                            </a:rPr>
                          </m:ctrlPr>
                        </m:sSubPr>
                        <m:e>
                          <m:r>
                            <m:rPr>
                              <m:nor/>
                            </m:rPr>
                            <a:rPr lang="el-GR" altLang="zh-CN" sz="900" i="1" dirty="0">
                              <a:latin typeface="Times New Roman" panose="02020603050405020304" pitchFamily="18" charset="0"/>
                              <a:cs typeface="Times New Roman" panose="02020603050405020304" pitchFamily="18" charset="0"/>
                            </a:rPr>
                            <m:t>η</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b="0" i="1" dirty="0" smtClean="0">
                              <a:latin typeface="Cambria Math" panose="02040503050406030204" pitchFamily="18" charset="0"/>
                              <a:cs typeface="Times New Roman" panose="02020603050405020304" pitchFamily="18" charset="0"/>
                            </a:rPr>
                          </m:ctrlPr>
                        </m:sSubPr>
                        <m:e>
                          <m:r>
                            <m:rPr>
                              <m:nor/>
                            </m:rPr>
                            <a:rPr lang="en-US" altLang="zh-CN" sz="900" b="0" i="1" dirty="0" smtClean="0">
                              <a:latin typeface="Cambria Math" panose="02040503050406030204" pitchFamily="18" charset="0"/>
                              <a:cs typeface="Times New Roman" panose="02020603050405020304" pitchFamily="18" charset="0"/>
                            </a:rPr>
                            <m:t>IoU</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endParaRPr lang="en-US" sz="85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05" name="fgl_weight_product"/>
                <p:cNvSpPr>
                  <a:spLocks noRot="1" noChangeAspect="1" noMove="1" noResize="1" noEditPoints="1" noAdjustHandles="1" noChangeArrowheads="1" noChangeShapeType="1" noTextEdit="1"/>
                </p:cNvSpPr>
                <p:nvPr/>
              </p:nvSpPr>
              <p:spPr>
                <a:xfrm>
                  <a:off x="4590000" y="2577600"/>
                  <a:ext cx="824400" cy="138240"/>
                </a:xfrm>
                <a:prstGeom prst="rect">
                  <a:avLst/>
                </a:prstGeom>
                <a:blipFill>
                  <a:blip r:embed="rId6"/>
                  <a:stretch>
                    <a:fillRect t="-30435" b="-47826"/>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6" name="fgl_weight_iou"/>
                <p:cNvSpPr/>
                <p:nvPr/>
              </p:nvSpPr>
              <p:spPr>
                <a:xfrm>
                  <a:off x="4590000" y="2746800"/>
                  <a:ext cx="824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err="1">
                      <a:effectLst/>
                      <a:uFillTx/>
                      <a:latin typeface="Times New Roman" panose="02020603050405020304" pitchFamily="18" charset="0"/>
                      <a:cs typeface="Times New Roman" panose="02020603050405020304" pitchFamily="18" charset="0"/>
                    </a:rPr>
                    <a:t>IoU</a:t>
                  </a:r>
                  <a:r>
                    <a:rPr lang="en-US" sz="900" b="0" i="1"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900" b="0" i="1" u="none" strike="noStrike" smtClean="0">
                              <a:effectLst/>
                              <a:uFillTx/>
                              <a:latin typeface="Cambria Math" panose="02040503050406030204" pitchFamily="18" charset="0"/>
                              <a:cs typeface="Times New Roman" panose="02020603050405020304" pitchFamily="18" charset="0"/>
                            </a:rPr>
                          </m:ctrlPr>
                        </m:sSubPr>
                        <m:e>
                          <m:r>
                            <a:rPr lang="en-US" altLang="zh-CN" sz="900" b="0" i="1" u="none" strike="noStrike" smtClean="0">
                              <a:effectLst/>
                              <a:uFillTx/>
                              <a:latin typeface="Cambria Math" panose="02040503050406030204" pitchFamily="18" charset="0"/>
                              <a:cs typeface="Times New Roman" panose="02020603050405020304" pitchFamily="18" charset="0"/>
                            </a:rPr>
                            <m:t>𝑏</m:t>
                          </m:r>
                        </m:e>
                        <m:sub>
                          <m:r>
                            <a:rPr lang="en-US" altLang="zh-CN" sz="900" b="0" i="1" u="none" strike="noStrike" smtClean="0">
                              <a:effectLst/>
                              <a:uFillTx/>
                              <a:latin typeface="Cambria Math" panose="02040503050406030204" pitchFamily="18" charset="0"/>
                              <a:cs typeface="Times New Roman" panose="02020603050405020304" pitchFamily="18" charset="0"/>
                            </a:rPr>
                            <m:t>𝑖</m:t>
                          </m:r>
                        </m:sub>
                      </m:sSub>
                    </m:oMath>
                  </a14:m>
                  <a:r>
                    <a:rPr lang="en-US" sz="900" b="0" i="1" u="none" strike="noStrike" dirty="0">
                      <a:effectLst/>
                      <a:uFillTx/>
                      <a:latin typeface="Times New Roman" panose="02020603050405020304" pitchFamily="18" charset="0"/>
                      <a:cs typeface="Times New Roman" panose="02020603050405020304" pitchFamily="18" charset="0"/>
                    </a:rPr>
                    <a:t>,GT)</a:t>
                  </a:r>
                </a:p>
              </p:txBody>
            </p:sp>
          </mc:Choice>
          <mc:Fallback xmlns="">
            <p:sp>
              <p:nvSpPr>
                <p:cNvPr id="406" name="fgl_weight_iou"/>
                <p:cNvSpPr>
                  <a:spLocks noRot="1" noChangeAspect="1" noMove="1" noResize="1" noEditPoints="1" noAdjustHandles="1" noChangeArrowheads="1" noChangeShapeType="1" noTextEdit="1"/>
                </p:cNvSpPr>
                <p:nvPr/>
              </p:nvSpPr>
              <p:spPr>
                <a:xfrm>
                  <a:off x="4590000" y="2746800"/>
                  <a:ext cx="824400" cy="138240"/>
                </a:xfrm>
                <a:prstGeom prst="rect">
                  <a:avLst/>
                </a:prstGeom>
                <a:blipFill>
                  <a:blip r:embed="rId7"/>
                  <a:stretch>
                    <a:fillRect t="-36364" b="-54545"/>
                  </a:stretch>
                </a:blipFill>
                <a:ln w="0">
                  <a:noFill/>
                </a:ln>
              </p:spPr>
              <p:txBody>
                <a:bodyPr/>
                <a:lstStyle/>
                <a:p>
                  <a:r>
                    <a:rPr lang="zh-CN" altLang="en-US">
                      <a:noFill/>
                    </a:rPr>
                    <a:t> </a:t>
                  </a:r>
                </a:p>
              </p:txBody>
            </p:sp>
          </mc:Fallback>
        </mc:AlternateContent>
        <p:sp>
          <p:nvSpPr>
            <p:cNvPr id="407" name="panel_lsd"/>
            <p:cNvSpPr/>
            <p:nvPr/>
          </p:nvSpPr>
          <p:spPr>
            <a:xfrm>
              <a:off x="486000" y="3215520"/>
              <a:ext cx="6440400" cy="1832400"/>
            </a:xfrm>
            <a:prstGeom prst="roundRect">
              <a:avLst>
                <a:gd name="adj" fmla="val 4500"/>
              </a:avLst>
            </a:prstGeom>
            <a:solidFill>
              <a:srgbClr val="F3EFF6"/>
            </a:solidFill>
            <a:ln w="12700">
              <a:solidFill>
                <a:srgbClr val="9683AB"/>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08" name="lsd_heading"/>
            <p:cNvSpPr/>
            <p:nvPr/>
          </p:nvSpPr>
          <p:spPr>
            <a:xfrm>
              <a:off x="576000" y="3280320"/>
              <a:ext cx="2156400" cy="169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(b)  FR-LSD</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09" name="lsd_scope"/>
            <p:cNvSpPr/>
            <p:nvPr/>
          </p:nvSpPr>
          <p:spPr>
            <a:xfrm>
              <a:off x="4374000" y="3303000"/>
              <a:ext cx="2408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Layer 6 teaches layers 1–5</a:t>
              </a:r>
            </a:p>
          </p:txBody>
        </p:sp>
        <p:sp>
          <p:nvSpPr>
            <p:cNvPr id="410" name="student"/>
            <p:cNvSpPr/>
            <p:nvPr/>
          </p:nvSpPr>
          <p:spPr>
            <a:xfrm>
              <a:off x="695520" y="3658680"/>
              <a:ext cx="725040" cy="348480"/>
            </a:xfrm>
            <a:prstGeom prst="roundRect">
              <a:avLst>
                <a:gd name="adj" fmla="val 15000"/>
              </a:avLst>
            </a:prstGeom>
            <a:solidFill>
              <a:schemeClr val="bg1"/>
            </a:solidFill>
            <a:ln w="5760">
              <a:solidFill>
                <a:srgbClr val="68768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11" name="student_text"/>
                <p:cNvSpPr/>
                <p:nvPr/>
              </p:nvSpPr>
              <p:spPr>
                <a:xfrm>
                  <a:off x="666000" y="3679920"/>
                  <a:ext cx="752400" cy="30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Student </a:t>
                  </a:r>
                  <a14:m>
                    <m:oMath xmlns:m="http://schemas.openxmlformats.org/officeDocument/2006/math">
                      <m:sSub>
                        <m:sSubPr>
                          <m:ctrlPr>
                            <a:rPr lang="en-US" altLang="zh-CN" sz="900" i="1" dirty="0">
                              <a:latin typeface="Cambria Math" panose="02040503050406030204" pitchFamily="18" charset="0"/>
                              <a:cs typeface="Times New Roman" panose="02020603050405020304" pitchFamily="18" charset="0"/>
                            </a:rPr>
                          </m:ctrlPr>
                        </m:sSubPr>
                        <m:e>
                          <m:r>
                            <m:rPr>
                              <m:nor/>
                            </m:rPr>
                            <a:rPr lang="en-US" altLang="zh-CN" sz="900" i="1" dirty="0">
                              <a:latin typeface="Cambria Math" panose="02040503050406030204" pitchFamily="18" charset="0"/>
                              <a:cs typeface="Times New Roman" panose="02020603050405020304" pitchFamily="18" charset="0"/>
                            </a:rPr>
                            <m:t>z</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endParaRPr lang="en-US" sz="850" b="1" i="1" u="none" strike="noStrike" dirty="0">
                    <a:effectLst/>
                    <a:uFillTx/>
                    <a:latin typeface="Times New Roman" panose="02020603050405020304" pitchFamily="18" charset="0"/>
                    <a:cs typeface="Times New Roman" panose="02020603050405020304" pitchFamily="18" charset="0"/>
                  </a:endParaRPr>
                </a:p>
                <a:p>
                  <a:pPr algn="ctr" defTabSz="1018080">
                    <a:lnSpc>
                      <a:spcPct val="100000"/>
                    </a:lnSpc>
                  </a:pPr>
                  <a:r>
                    <a:rPr lang="en-US" sz="900" b="0" i="1" u="none" strike="noStrike" dirty="0" err="1">
                      <a:effectLst/>
                      <a:uFillTx/>
                      <a:latin typeface="Times New Roman" panose="02020603050405020304" pitchFamily="18" charset="0"/>
                      <a:cs typeface="Times New Roman" panose="02020603050405020304" pitchFamily="18" charset="0"/>
                    </a:rPr>
                    <a:t>i</a:t>
                  </a:r>
                  <a:r>
                    <a:rPr lang="en-US" sz="900" b="0" u="none" strike="noStrike" dirty="0">
                      <a:effectLst/>
                      <a:uFillTx/>
                      <a:latin typeface="Times New Roman" panose="02020603050405020304" pitchFamily="18" charset="0"/>
                      <a:cs typeface="Times New Roman" panose="02020603050405020304" pitchFamily="18" charset="0"/>
                    </a:rPr>
                    <a:t> = 1, …, 5</a:t>
                  </a:r>
                </a:p>
              </p:txBody>
            </p:sp>
          </mc:Choice>
          <mc:Fallback xmlns="">
            <p:sp>
              <p:nvSpPr>
                <p:cNvPr id="411" name="student_text"/>
                <p:cNvSpPr>
                  <a:spLocks noRot="1" noChangeAspect="1" noMove="1" noResize="1" noEditPoints="1" noAdjustHandles="1" noChangeArrowheads="1" noChangeShapeType="1" noTextEdit="1"/>
                </p:cNvSpPr>
                <p:nvPr/>
              </p:nvSpPr>
              <p:spPr>
                <a:xfrm>
                  <a:off x="666000" y="3679920"/>
                  <a:ext cx="752400" cy="306000"/>
                </a:xfrm>
                <a:prstGeom prst="rect">
                  <a:avLst/>
                </a:prstGeom>
                <a:blipFill>
                  <a:blip r:embed="rId8"/>
                  <a:stretch>
                    <a:fillRect t="-10000" b="-18000"/>
                  </a:stretch>
                </a:blipFill>
                <a:ln w="0">
                  <a:noFill/>
                </a:ln>
              </p:spPr>
              <p:txBody>
                <a:bodyPr/>
                <a:lstStyle/>
                <a:p>
                  <a:r>
                    <a:rPr lang="zh-CN" altLang="en-US">
                      <a:noFill/>
                    </a:rPr>
                    <a:t> </a:t>
                  </a:r>
                </a:p>
              </p:txBody>
            </p:sp>
          </mc:Fallback>
        </mc:AlternateContent>
        <p:sp>
          <p:nvSpPr>
            <p:cNvPr id="412" name="teacher"/>
            <p:cNvSpPr/>
            <p:nvPr/>
          </p:nvSpPr>
          <p:spPr>
            <a:xfrm>
              <a:off x="694800" y="4468680"/>
              <a:ext cx="725040" cy="348480"/>
            </a:xfrm>
            <a:prstGeom prst="roundRect">
              <a:avLst>
                <a:gd name="adj" fmla="val 15000"/>
              </a:avLst>
            </a:prstGeom>
            <a:solidFill>
              <a:schemeClr val="bg1"/>
            </a:solidFill>
            <a:ln w="5760">
              <a:solidFill>
                <a:srgbClr val="68768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13" name="teacher_text"/>
                <p:cNvSpPr/>
                <p:nvPr/>
              </p:nvSpPr>
              <p:spPr>
                <a:xfrm>
                  <a:off x="666000" y="4489920"/>
                  <a:ext cx="752400" cy="30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Teacher </a:t>
                  </a:r>
                  <a14:m>
                    <m:oMath xmlns:m="http://schemas.openxmlformats.org/officeDocument/2006/math">
                      <m:sSub>
                        <m:sSubPr>
                          <m:ctrlPr>
                            <a:rPr lang="en-US" altLang="zh-CN" sz="900" b="0" i="1" u="none" strike="noStrike" smtClean="0">
                              <a:effectLst/>
                              <a:uFillTx/>
                              <a:latin typeface="Cambria Math" panose="02040503050406030204" pitchFamily="18" charset="0"/>
                              <a:cs typeface="Times New Roman" panose="02020603050405020304" pitchFamily="18" charset="0"/>
                            </a:rPr>
                          </m:ctrlPr>
                        </m:sSubPr>
                        <m:e>
                          <m:r>
                            <a:rPr lang="en-US" altLang="zh-CN" sz="900" b="0" i="1" u="none" strike="noStrike" smtClean="0">
                              <a:effectLst/>
                              <a:uFillTx/>
                              <a:latin typeface="Cambria Math" panose="02040503050406030204" pitchFamily="18" charset="0"/>
                              <a:cs typeface="Times New Roman" panose="02020603050405020304" pitchFamily="18" charset="0"/>
                            </a:rPr>
                            <m:t>𝑧</m:t>
                          </m:r>
                        </m:e>
                        <m:sub>
                          <m:r>
                            <a:rPr lang="en-US" altLang="zh-CN" sz="900" b="0" i="1" u="none" strike="noStrike" smtClean="0">
                              <a:effectLst/>
                              <a:uFillTx/>
                              <a:latin typeface="Cambria Math" panose="02040503050406030204" pitchFamily="18" charset="0"/>
                              <a:cs typeface="Times New Roman" panose="02020603050405020304" pitchFamily="18" charset="0"/>
                            </a:rPr>
                            <m:t>6</m:t>
                          </m:r>
                        </m:sub>
                      </m:sSub>
                    </m:oMath>
                  </a14:m>
                  <a:endParaRPr lang="en-US" sz="800" b="1" i="1" u="none" strike="noStrike" dirty="0">
                    <a:effectLst/>
                    <a:uFillTx/>
                    <a:latin typeface="Times New Roman" panose="02020603050405020304" pitchFamily="18" charset="0"/>
                    <a:cs typeface="Times New Roman" panose="02020603050405020304" pitchFamily="18" charset="0"/>
                  </a:endParaRPr>
                </a:p>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Final layer</a:t>
                  </a:r>
                </a:p>
              </p:txBody>
            </p:sp>
          </mc:Choice>
          <mc:Fallback xmlns="">
            <p:sp>
              <p:nvSpPr>
                <p:cNvPr id="413" name="teacher_text"/>
                <p:cNvSpPr>
                  <a:spLocks noRot="1" noChangeAspect="1" noMove="1" noResize="1" noEditPoints="1" noAdjustHandles="1" noChangeArrowheads="1" noChangeShapeType="1" noTextEdit="1"/>
                </p:cNvSpPr>
                <p:nvPr/>
              </p:nvSpPr>
              <p:spPr>
                <a:xfrm>
                  <a:off x="666000" y="4489920"/>
                  <a:ext cx="752400" cy="306000"/>
                </a:xfrm>
                <a:prstGeom prst="rect">
                  <a:avLst/>
                </a:prstGeom>
                <a:blipFill>
                  <a:blip r:embed="rId9"/>
                  <a:stretch>
                    <a:fillRect t="-10000" b="-18000"/>
                  </a:stretch>
                </a:blipFill>
                <a:ln w="0">
                  <a:noFill/>
                </a:ln>
              </p:spPr>
              <p:txBody>
                <a:bodyPr/>
                <a:lstStyle/>
                <a:p>
                  <a:r>
                    <a:rPr lang="zh-CN" altLang="en-US">
                      <a:noFill/>
                    </a:rPr>
                    <a:t> </a:t>
                  </a:r>
                </a:p>
              </p:txBody>
            </p:sp>
          </mc:Fallback>
        </mc:AlternateContent>
        <p:sp>
          <p:nvSpPr>
            <p:cNvPr id="414" name="student_prob"/>
            <p:cNvSpPr/>
            <p:nvPr/>
          </p:nvSpPr>
          <p:spPr>
            <a:xfrm>
              <a:off x="1648800" y="3531239"/>
              <a:ext cx="1163160" cy="675633"/>
            </a:xfrm>
            <a:prstGeom prst="roundRect">
              <a:avLst>
                <a:gd name="adj" fmla="val 15000"/>
              </a:avLst>
            </a:prstGeom>
            <a:solidFill>
              <a:srgbClr val="FFFFFF"/>
            </a:solidFill>
            <a:ln w="7620">
              <a:solidFill>
                <a:srgbClr val="887399"/>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15" name="student_label"/>
                <p:cNvSpPr/>
                <p:nvPr/>
              </p:nvSpPr>
              <p:spPr>
                <a:xfrm>
                  <a:off x="1710000" y="3564720"/>
                  <a:ext cx="1040400" cy="144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Para xmlns:m="http://schemas.openxmlformats.org/officeDocument/2006/math">
                      <m:oMath>
                        <m:sSub>
                          <m:sSubPr>
                            <m:ctrlPr>
                              <a:rPr lang="en-US" altLang="zh-CN" sz="800" i="1">
                                <a:latin typeface="Cambria Math" panose="02040503050406030204" pitchFamily="18" charset="0"/>
                                <a:cs typeface="Times New Roman" panose="02020603050405020304" pitchFamily="18" charset="0"/>
                              </a:rPr>
                            </m:ctrlPr>
                          </m:sSubPr>
                          <m:e>
                            <m:sSubSup>
                              <m:sSubSupPr>
                                <m:ctrlPr>
                                  <a:rPr lang="en-US" altLang="zh-CN" sz="800" i="1">
                                    <a:latin typeface="Cambria Math" panose="02040503050406030204" pitchFamily="18" charset="0"/>
                                    <a:cs typeface="Times New Roman" panose="02020603050405020304" pitchFamily="18" charset="0"/>
                                  </a:rPr>
                                </m:ctrlPr>
                              </m:sSubSupPr>
                              <m:e>
                                <m:r>
                                  <a:rPr lang="en-US" altLang="zh-CN" sz="800" i="1">
                                    <a:latin typeface="Cambria Math" panose="02040503050406030204" pitchFamily="18" charset="0"/>
                                    <a:cs typeface="Times New Roman" panose="02020603050405020304" pitchFamily="18" charset="0"/>
                                  </a:rPr>
                                  <m:t>𝑝</m:t>
                                </m:r>
                              </m:e>
                              <m:sub>
                                <m:r>
                                  <a:rPr lang="en-US" altLang="zh-CN" sz="800" i="1">
                                    <a:latin typeface="Cambria Math" panose="02040503050406030204" pitchFamily="18" charset="0"/>
                                    <a:cs typeface="Times New Roman" panose="02020603050405020304" pitchFamily="18" charset="0"/>
                                  </a:rPr>
                                  <m:t>𝑖</m:t>
                                </m:r>
                                <m:r>
                                  <a:rPr lang="en-US" altLang="zh-CN" sz="800" i="1">
                                    <a:latin typeface="Cambria Math" panose="02040503050406030204" pitchFamily="18" charset="0"/>
                                    <a:cs typeface="Times New Roman" panose="02020603050405020304" pitchFamily="18" charset="0"/>
                                  </a:rPr>
                                  <m:t>,</m:t>
                                </m:r>
                                <m:r>
                                  <a:rPr lang="en-US" altLang="zh-CN" sz="800" i="1">
                                    <a:latin typeface="Cambria Math" panose="02040503050406030204" pitchFamily="18" charset="0"/>
                                    <a:cs typeface="Times New Roman" panose="02020603050405020304" pitchFamily="18" charset="0"/>
                                  </a:rPr>
                                  <m:t>𝑛</m:t>
                                </m:r>
                              </m:sub>
                              <m:sup>
                                <m:r>
                                  <a:rPr lang="en-US" altLang="zh-CN" sz="800" i="1">
                                    <a:latin typeface="Cambria Math" panose="02040503050406030204" pitchFamily="18" charset="0"/>
                                    <a:cs typeface="Times New Roman" panose="02020603050405020304" pitchFamily="18" charset="0"/>
                                  </a:rPr>
                                  <m:t>(</m:t>
                                </m:r>
                                <m:r>
                                  <a:rPr lang="en-US" altLang="zh-CN" sz="800" i="1">
                                    <a:latin typeface="Cambria Math" panose="02040503050406030204" pitchFamily="18" charset="0"/>
                                    <a:cs typeface="Times New Roman" panose="02020603050405020304" pitchFamily="18" charset="0"/>
                                  </a:rPr>
                                  <m:t>𝑇</m:t>
                                </m:r>
                                <m:r>
                                  <a:rPr lang="en-US" altLang="zh-CN" sz="800" i="1">
                                    <a:latin typeface="Cambria Math" panose="02040503050406030204" pitchFamily="18" charset="0"/>
                                    <a:cs typeface="Times New Roman" panose="02020603050405020304" pitchFamily="18" charset="0"/>
                                  </a:rPr>
                                  <m:t>)</m:t>
                                </m:r>
                              </m:sup>
                            </m:sSubSup>
                            <m:r>
                              <m:rPr>
                                <m:nor/>
                              </m:rPr>
                              <a:rPr lang="en-US" altLang="zh-CN" sz="800" i="1" dirty="0">
                                <a:latin typeface="Times New Roman" panose="02020603050405020304" pitchFamily="18" charset="0"/>
                                <a:cs typeface="Times New Roman" panose="02020603050405020304" pitchFamily="18" charset="0"/>
                              </a:rPr>
                              <m:t> = </m:t>
                            </m:r>
                            <m:r>
                              <m:rPr>
                                <m:nor/>
                              </m:rPr>
                              <a:rPr lang="en-US" altLang="zh-CN" sz="800" i="1" dirty="0" err="1">
                                <a:latin typeface="Times New Roman" panose="02020603050405020304" pitchFamily="18" charset="0"/>
                                <a:cs typeface="Times New Roman" panose="02020603050405020304" pitchFamily="18" charset="0"/>
                              </a:rPr>
                              <m:t>softmax</m:t>
                            </m:r>
                            <m:r>
                              <m:rPr>
                                <m:nor/>
                              </m:rPr>
                              <a:rPr lang="en-US" altLang="zh-CN" sz="800" i="1" dirty="0">
                                <a:latin typeface="Times New Roman" panose="02020603050405020304" pitchFamily="18" charset="0"/>
                                <a:cs typeface="Times New Roman" panose="02020603050405020304" pitchFamily="18" charset="0"/>
                              </a:rPr>
                              <m:t>(z</m:t>
                            </m:r>
                            <m:r>
                              <m:rPr>
                                <m:nor/>
                              </m:rPr>
                              <a:rPr lang="en-US" altLang="zh-CN" sz="800" i="1" baseline="-25000" dirty="0">
                                <a:latin typeface="Times New Roman" panose="02020603050405020304" pitchFamily="18" charset="0"/>
                                <a:cs typeface="Times New Roman" panose="02020603050405020304" pitchFamily="18" charset="0"/>
                              </a:rPr>
                              <m:t>i</m:t>
                            </m:r>
                            <m:r>
                              <m:rPr>
                                <m:nor/>
                              </m:rPr>
                              <a:rPr lang="en-US" altLang="zh-CN" sz="800" i="1" dirty="0">
                                <a:latin typeface="Times New Roman" panose="02020603050405020304" pitchFamily="18" charset="0"/>
                                <a:cs typeface="Times New Roman" panose="02020603050405020304" pitchFamily="18" charset="0"/>
                              </a:rPr>
                              <m:t> / T)</m:t>
                            </m:r>
                          </m:e>
                          <m:sub>
                            <m:r>
                              <a:rPr lang="en-US" altLang="zh-CN" sz="800" b="0" i="1" u="none" strike="noStrike" smtClean="0">
                                <a:effectLst/>
                                <a:uFillTx/>
                                <a:latin typeface="Cambria Math" panose="02040503050406030204" pitchFamily="18" charset="0"/>
                                <a:cs typeface="Times New Roman" panose="02020603050405020304" pitchFamily="18" charset="0"/>
                              </a:rPr>
                              <m:t>𝑛</m:t>
                            </m:r>
                          </m:sub>
                        </m:sSub>
                      </m:oMath>
                    </m:oMathPara>
                  </a14:m>
                  <a:endParaRPr lang="en-US" sz="8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15" name="student_label"/>
                <p:cNvSpPr>
                  <a:spLocks noRot="1" noChangeAspect="1" noMove="1" noResize="1" noEditPoints="1" noAdjustHandles="1" noChangeArrowheads="1" noChangeShapeType="1" noTextEdit="1"/>
                </p:cNvSpPr>
                <p:nvPr/>
              </p:nvSpPr>
              <p:spPr>
                <a:xfrm>
                  <a:off x="1710000" y="3564720"/>
                  <a:ext cx="1040400" cy="144000"/>
                </a:xfrm>
                <a:prstGeom prst="rect">
                  <a:avLst/>
                </a:prstGeom>
                <a:blipFill>
                  <a:blip r:embed="rId10"/>
                  <a:stretch>
                    <a:fillRect t="-8696" b="-34783"/>
                  </a:stretch>
                </a:blipFill>
                <a:ln w="0">
                  <a:noFill/>
                </a:ln>
              </p:spPr>
              <p:txBody>
                <a:bodyPr/>
                <a:lstStyle/>
                <a:p>
                  <a:r>
                    <a:rPr lang="zh-CN" altLang="en-US">
                      <a:noFill/>
                    </a:rPr>
                    <a:t> </a:t>
                  </a:r>
                </a:p>
              </p:txBody>
            </p:sp>
          </mc:Fallback>
        </mc:AlternateContent>
        <p:sp>
          <p:nvSpPr>
            <p:cNvPr id="416" name="teacher_prob"/>
            <p:cNvSpPr/>
            <p:nvPr/>
          </p:nvSpPr>
          <p:spPr>
            <a:xfrm>
              <a:off x="1648800" y="4341239"/>
              <a:ext cx="1163160" cy="651977"/>
            </a:xfrm>
            <a:prstGeom prst="roundRect">
              <a:avLst>
                <a:gd name="adj" fmla="val 15000"/>
              </a:avLst>
            </a:prstGeom>
            <a:solidFill>
              <a:srgbClr val="FFFFFF"/>
            </a:solidFill>
            <a:ln w="7620">
              <a:solidFill>
                <a:srgbClr val="BC8282"/>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18" name="softmax_temperature"/>
            <p:cNvSpPr/>
            <p:nvPr/>
          </p:nvSpPr>
          <p:spPr>
            <a:xfrm>
              <a:off x="1774800" y="4172400"/>
              <a:ext cx="9108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19" name="hellinger"/>
            <p:cNvSpPr/>
            <p:nvPr/>
          </p:nvSpPr>
          <p:spPr>
            <a:xfrm>
              <a:off x="3266640" y="3926880"/>
              <a:ext cx="1485360" cy="591120"/>
            </a:xfrm>
            <a:prstGeom prst="roundRect">
              <a:avLst>
                <a:gd name="adj" fmla="val 15000"/>
              </a:avLst>
            </a:prstGeom>
            <a:solidFill>
              <a:schemeClr val="bg1"/>
            </a:solidFill>
            <a:ln w="5760">
              <a:solidFill>
                <a:srgbClr val="756484"/>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20" name="hellinger_title"/>
            <p:cNvSpPr/>
            <p:nvPr/>
          </p:nvSpPr>
          <p:spPr>
            <a:xfrm>
              <a:off x="3193200" y="3957120"/>
              <a:ext cx="1602000" cy="288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Squared Hellinger</a:t>
              </a:r>
              <a:endParaRPr lang="en-US" sz="900" b="0" u="none" strike="noStrike" dirty="0">
                <a:effectLst/>
                <a:uFillTx/>
                <a:latin typeface="Times New Roman" panose="02020603050405020304" pitchFamily="18" charset="0"/>
                <a:cs typeface="Times New Roman" panose="02020603050405020304" pitchFamily="18" charset="0"/>
              </a:endParaRPr>
            </a:p>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distance</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21" name="hellinger_formula"/>
                <p:cNvSpPr/>
                <p:nvPr/>
              </p:nvSpPr>
              <p:spPr>
                <a:xfrm>
                  <a:off x="3248350" y="4290120"/>
                  <a:ext cx="1594800" cy="169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d</a:t>
                  </a:r>
                  <a:r>
                    <a:rPr lang="en-US" sz="850" b="0" i="1" u="none" strike="noStrike" baseline="-25000" dirty="0">
                      <a:effectLst/>
                      <a:uFillTx/>
                      <a:latin typeface="Times New Roman" panose="02020603050405020304" pitchFamily="18" charset="0"/>
                      <a:cs typeface="Times New Roman" panose="02020603050405020304" pitchFamily="18" charset="0"/>
                    </a:rPr>
                    <a:t>i</a:t>
                  </a:r>
                  <a:r>
                    <a:rPr lang="en-US" sz="900" b="0" i="1" u="none" strike="noStrike" dirty="0">
                      <a:effectLst/>
                      <a:uFillTx/>
                      <a:latin typeface="Times New Roman" panose="02020603050405020304" pitchFamily="18" charset="0"/>
                      <a:cs typeface="Times New Roman" panose="02020603050405020304" pitchFamily="18" charset="0"/>
                    </a:rPr>
                    <a:t>  = </a:t>
                  </a:r>
                  <a14:m>
                    <m:oMath xmlns:m="http://schemas.openxmlformats.org/officeDocument/2006/math">
                      <m:sSup>
                        <m:sSupPr>
                          <m:ctrlPr>
                            <a:rPr lang="el-GR" altLang="zh-CN" sz="900" i="1" dirty="0">
                              <a:latin typeface="Times New Roman" panose="02020603050405020304" pitchFamily="18" charset="0"/>
                              <a:cs typeface="Times New Roman" panose="02020603050405020304" pitchFamily="18" charset="0"/>
                            </a:rPr>
                          </m:ctrlPr>
                        </m:sSupPr>
                        <m:e>
                          <m:r>
                            <m:rPr>
                              <m:nor/>
                            </m:rPr>
                            <a:rPr lang="el-GR" altLang="zh-CN" sz="900" i="1" dirty="0">
                              <a:latin typeface="Times New Roman" panose="02020603050405020304" pitchFamily="18" charset="0"/>
                              <a:cs typeface="Times New Roman" panose="02020603050405020304" pitchFamily="18" charset="0"/>
                            </a:rPr>
                            <m:t>Σ</m:t>
                          </m:r>
                          <m:r>
                            <m:rPr>
                              <m:nor/>
                            </m:rPr>
                            <a:rPr lang="en-US" altLang="zh-CN" sz="850" i="1" baseline="-25000" dirty="0">
                              <a:latin typeface="Times New Roman" panose="02020603050405020304" pitchFamily="18" charset="0"/>
                              <a:cs typeface="Times New Roman" panose="02020603050405020304" pitchFamily="18" charset="0"/>
                            </a:rPr>
                            <m:t>n</m:t>
                          </m:r>
                          <m:r>
                            <m:rPr>
                              <m:nor/>
                            </m:rPr>
                            <a:rPr lang="en-US" altLang="zh-CN" sz="900" i="1" dirty="0" smtClean="0">
                              <a:latin typeface="Times New Roman" panose="02020603050405020304" pitchFamily="18" charset="0"/>
                              <a:cs typeface="Times New Roman" panose="02020603050405020304" pitchFamily="18" charset="0"/>
                            </a:rPr>
                            <m:t>(</m:t>
                          </m:r>
                          <m:rad>
                            <m:radPr>
                              <m:degHide m:val="on"/>
                              <m:ctrlPr>
                                <a:rPr lang="en-US" altLang="zh-CN" sz="900" i="1">
                                  <a:latin typeface="Cambria Math" panose="02040503050406030204" pitchFamily="18" charset="0"/>
                                  <a:cs typeface="Times New Roman" panose="02020603050405020304" pitchFamily="18" charset="0"/>
                                </a:rPr>
                              </m:ctrlPr>
                            </m:radPr>
                            <m:deg/>
                            <m:e>
                              <m:sSubSup>
                                <m:sSubSupPr>
                                  <m:ctrlPr>
                                    <a:rPr lang="en-US" altLang="zh-CN" sz="900" i="1">
                                      <a:latin typeface="Cambria Math" panose="02040503050406030204" pitchFamily="18" charset="0"/>
                                      <a:cs typeface="Times New Roman" panose="02020603050405020304" pitchFamily="18" charset="0"/>
                                    </a:rPr>
                                  </m:ctrlPr>
                                </m:sSubSupPr>
                                <m:e>
                                  <m:r>
                                    <a:rPr lang="en-US" altLang="zh-CN" sz="900" i="1">
                                      <a:latin typeface="Cambria Math" panose="02040503050406030204" pitchFamily="18" charset="0"/>
                                      <a:cs typeface="Times New Roman" panose="02020603050405020304" pitchFamily="18" charset="0"/>
                                    </a:rPr>
                                    <m:t>𝑝</m:t>
                                  </m:r>
                                </m:e>
                                <m:sub>
                                  <m:r>
                                    <a:rPr lang="en-US" altLang="zh-CN" sz="900" i="1">
                                      <a:latin typeface="Cambria Math" panose="02040503050406030204" pitchFamily="18" charset="0"/>
                                      <a:cs typeface="Times New Roman" panose="02020603050405020304" pitchFamily="18" charset="0"/>
                                    </a:rPr>
                                    <m:t>𝑖</m:t>
                                  </m:r>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𝑛</m:t>
                                  </m:r>
                                </m:sub>
                                <m:sup>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𝑇</m:t>
                                  </m:r>
                                  <m:r>
                                    <a:rPr lang="en-US" altLang="zh-CN" sz="900" i="1">
                                      <a:latin typeface="Cambria Math" panose="02040503050406030204" pitchFamily="18" charset="0"/>
                                      <a:cs typeface="Times New Roman" panose="02020603050405020304" pitchFamily="18" charset="0"/>
                                    </a:rPr>
                                    <m:t>)</m:t>
                                  </m:r>
                                </m:sup>
                              </m:sSubSup>
                            </m:e>
                          </m:rad>
                          <m:r>
                            <m:rPr>
                              <m:nor/>
                            </m:rPr>
                            <a:rPr lang="en-US" altLang="zh-CN" sz="900" i="1" dirty="0">
                              <a:latin typeface="Times New Roman" panose="02020603050405020304" pitchFamily="18" charset="0"/>
                              <a:cs typeface="Times New Roman" panose="02020603050405020304" pitchFamily="18" charset="0"/>
                            </a:rPr>
                            <m:t> −</m:t>
                          </m:r>
                          <m:rad>
                            <m:radPr>
                              <m:degHide m:val="on"/>
                              <m:ctrlPr>
                                <a:rPr lang="en-US" altLang="zh-CN" sz="900" i="1">
                                  <a:latin typeface="Cambria Math" panose="02040503050406030204" pitchFamily="18" charset="0"/>
                                  <a:cs typeface="Times New Roman" panose="02020603050405020304" pitchFamily="18" charset="0"/>
                                </a:rPr>
                              </m:ctrlPr>
                            </m:radPr>
                            <m:deg/>
                            <m:e>
                              <m:sSubSup>
                                <m:sSubSupPr>
                                  <m:ctrlPr>
                                    <a:rPr lang="en-US" altLang="zh-CN" sz="900" i="1">
                                      <a:latin typeface="Cambria Math" panose="02040503050406030204" pitchFamily="18" charset="0"/>
                                      <a:cs typeface="Times New Roman" panose="02020603050405020304" pitchFamily="18" charset="0"/>
                                    </a:rPr>
                                  </m:ctrlPr>
                                </m:sSubSupPr>
                                <m:e>
                                  <m:r>
                                    <a:rPr lang="en-US" altLang="zh-CN" sz="900" i="1">
                                      <a:latin typeface="Cambria Math" panose="02040503050406030204" pitchFamily="18" charset="0"/>
                                      <a:cs typeface="Times New Roman" panose="02020603050405020304" pitchFamily="18" charset="0"/>
                                    </a:rPr>
                                    <m:t>𝑝</m:t>
                                  </m:r>
                                </m:e>
                                <m:sub>
                                  <m:r>
                                    <m:rPr>
                                      <m:nor/>
                                    </m:rPr>
                                    <a:rPr lang="en-US" altLang="zh-CN" sz="900" i="1" baseline="-25000" dirty="0">
                                      <a:latin typeface="Times New Roman" panose="02020603050405020304" pitchFamily="18" charset="0"/>
                                      <a:cs typeface="Times New Roman" panose="02020603050405020304" pitchFamily="18" charset="0"/>
                                    </a:rPr>
                                    <m:t>6,n</m:t>
                                  </m:r>
                                </m:sub>
                                <m:sup>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𝑇</m:t>
                                  </m:r>
                                  <m:r>
                                    <a:rPr lang="en-US" altLang="zh-CN" sz="900" i="1">
                                      <a:latin typeface="Cambria Math" panose="02040503050406030204" pitchFamily="18" charset="0"/>
                                      <a:cs typeface="Times New Roman" panose="02020603050405020304" pitchFamily="18" charset="0"/>
                                    </a:rPr>
                                    <m:t>)</m:t>
                                  </m:r>
                                </m:sup>
                              </m:sSubSup>
                            </m:e>
                          </m:rad>
                          <m:r>
                            <a:rPr lang="en-US" altLang="zh-CN" sz="900" i="1">
                              <a:latin typeface="Cambria Math" panose="02040503050406030204" pitchFamily="18" charset="0"/>
                              <a:cs typeface="Times New Roman" panose="02020603050405020304" pitchFamily="18" charset="0"/>
                            </a:rPr>
                            <m:t> </m:t>
                          </m:r>
                          <m:r>
                            <a:rPr lang="en-US" altLang="zh-CN" sz="900" b="0" i="1" u="none" strike="noStrike" smtClean="0">
                              <a:effectLst/>
                              <a:uFillTx/>
                              <a:latin typeface="Cambria Math" panose="02040503050406030204" pitchFamily="18" charset="0"/>
                              <a:cs typeface="Times New Roman" panose="02020603050405020304" pitchFamily="18" charset="0"/>
                            </a:rPr>
                            <m:t>)</m:t>
                          </m:r>
                        </m:e>
                        <m:sup>
                          <m:r>
                            <a:rPr lang="en-US" altLang="zh-CN" sz="900" b="0" i="1" u="none" strike="noStrike" smtClean="0">
                              <a:effectLst/>
                              <a:uFillTx/>
                              <a:latin typeface="Cambria Math" panose="02040503050406030204" pitchFamily="18" charset="0"/>
                              <a:cs typeface="Times New Roman" panose="02020603050405020304" pitchFamily="18" charset="0"/>
                            </a:rPr>
                            <m:t>2</m:t>
                          </m:r>
                        </m:sup>
                      </m:sSup>
                    </m:oMath>
                  </a14:m>
                  <a:endParaRPr lang="en-US" sz="85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21" name="hellinger_formula"/>
                <p:cNvSpPr>
                  <a:spLocks noRot="1" noChangeAspect="1" noMove="1" noResize="1" noEditPoints="1" noAdjustHandles="1" noChangeArrowheads="1" noChangeShapeType="1" noTextEdit="1"/>
                </p:cNvSpPr>
                <p:nvPr/>
              </p:nvSpPr>
              <p:spPr>
                <a:xfrm>
                  <a:off x="3248350" y="4290120"/>
                  <a:ext cx="1594800" cy="169200"/>
                </a:xfrm>
                <a:prstGeom prst="rect">
                  <a:avLst/>
                </a:prstGeom>
                <a:blipFill>
                  <a:blip r:embed="rId11"/>
                  <a:stretch>
                    <a:fillRect t="-21429" b="-46429"/>
                  </a:stretch>
                </a:blipFill>
                <a:ln w="0">
                  <a:noFill/>
                </a:ln>
              </p:spPr>
              <p:txBody>
                <a:bodyPr/>
                <a:lstStyle/>
                <a:p>
                  <a:r>
                    <a:rPr lang="zh-CN" altLang="en-US">
                      <a:noFill/>
                    </a:rPr>
                    <a:t> </a:t>
                  </a:r>
                </a:p>
              </p:txBody>
            </p:sp>
          </mc:Fallback>
        </mc:AlternateContent>
        <p:sp>
          <p:nvSpPr>
            <p:cNvPr id="422" name="temperature"/>
            <p:cNvSpPr/>
            <p:nvPr/>
          </p:nvSpPr>
          <p:spPr>
            <a:xfrm>
              <a:off x="5058000" y="4061520"/>
              <a:ext cx="464400" cy="356400"/>
            </a:xfrm>
            <a:prstGeom prst="roundRect">
              <a:avLst>
                <a:gd name="adj" fmla="val 15000"/>
              </a:avLst>
            </a:prstGeom>
            <a:solidFill>
              <a:srgbClr val="FFFFFF"/>
            </a:solidFill>
            <a:ln w="5760">
              <a:solidFill>
                <a:srgbClr val="68768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23" name="temperature_scale"/>
                <p:cNvSpPr/>
                <p:nvPr/>
              </p:nvSpPr>
              <p:spPr>
                <a:xfrm>
                  <a:off x="5094000" y="4155120"/>
                  <a:ext cx="392400" cy="162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p>
                        <m:sSupPr>
                          <m:ctrlPr>
                            <a:rPr lang="en-US" altLang="zh-CN" sz="900" b="0" i="1" u="none" strike="noStrike" smtClean="0">
                              <a:effectLst/>
                              <a:uFillTx/>
                              <a:latin typeface="Cambria Math" panose="02040503050406030204" pitchFamily="18" charset="0"/>
                              <a:cs typeface="Times New Roman" panose="02020603050405020304" pitchFamily="18" charset="0"/>
                            </a:rPr>
                          </m:ctrlPr>
                        </m:sSupPr>
                        <m:e>
                          <m:r>
                            <a:rPr lang="en-US" altLang="zh-CN" sz="900" b="0" i="1" u="none" strike="noStrike" smtClean="0">
                              <a:effectLst/>
                              <a:uFillTx/>
                              <a:latin typeface="Cambria Math" panose="02040503050406030204" pitchFamily="18" charset="0"/>
                              <a:cs typeface="Times New Roman" panose="02020603050405020304" pitchFamily="18" charset="0"/>
                            </a:rPr>
                            <m:t>𝑇</m:t>
                          </m:r>
                        </m:e>
                        <m:sup>
                          <m:r>
                            <a:rPr lang="en-US" altLang="zh-CN" sz="900" b="0" i="1" u="none" strike="noStrike" smtClean="0">
                              <a:effectLst/>
                              <a:uFillTx/>
                              <a:latin typeface="Cambria Math" panose="02040503050406030204" pitchFamily="18" charset="0"/>
                              <a:cs typeface="Times New Roman" panose="02020603050405020304" pitchFamily="18" charset="0"/>
                            </a:rPr>
                            <m:t>2</m:t>
                          </m:r>
                        </m:sup>
                      </m:sSup>
                    </m:oMath>
                  </a14:m>
                  <a:endParaRPr lang="en-US" sz="85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23" name="temperature_scale"/>
                <p:cNvSpPr>
                  <a:spLocks noRot="1" noChangeAspect="1" noMove="1" noResize="1" noEditPoints="1" noAdjustHandles="1" noChangeArrowheads="1" noChangeShapeType="1" noTextEdit="1"/>
                </p:cNvSpPr>
                <p:nvPr/>
              </p:nvSpPr>
              <p:spPr>
                <a:xfrm>
                  <a:off x="5094000" y="4155120"/>
                  <a:ext cx="392400" cy="162000"/>
                </a:xfrm>
                <a:prstGeom prst="rect">
                  <a:avLst/>
                </a:prstGeom>
                <a:blipFill>
                  <a:blip r:embed="rId12"/>
                  <a:stretch>
                    <a:fillRect t="-23077" b="-38462"/>
                  </a:stretch>
                </a:blipFill>
                <a:ln w="0">
                  <a:noFill/>
                </a:ln>
              </p:spPr>
              <p:txBody>
                <a:bodyPr/>
                <a:lstStyle/>
                <a:p>
                  <a:r>
                    <a:rPr lang="zh-CN" altLang="en-US">
                      <a:noFill/>
                    </a:rPr>
                    <a:t> </a:t>
                  </a:r>
                </a:p>
              </p:txBody>
            </p:sp>
          </mc:Fallback>
        </mc:AlternateContent>
        <p:sp>
          <p:nvSpPr>
            <p:cNvPr id="424" name="lsd_reduce"/>
            <p:cNvSpPr/>
            <p:nvPr/>
          </p:nvSpPr>
          <p:spPr>
            <a:xfrm>
              <a:off x="5736240" y="3815280"/>
              <a:ext cx="1083600" cy="876960"/>
            </a:xfrm>
            <a:prstGeom prst="roundRect">
              <a:avLst>
                <a:gd name="adj" fmla="val 15000"/>
              </a:avLst>
            </a:prstGeom>
            <a:solidFill>
              <a:schemeClr val="bg1"/>
            </a:solidFill>
            <a:ln w="5760">
              <a:solidFill>
                <a:srgbClr val="68768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25" name="lsd_reduce_title"/>
            <p:cNvSpPr/>
            <p:nvPr/>
          </p:nvSpPr>
          <p:spPr>
            <a:xfrm>
              <a:off x="5769720" y="3851640"/>
              <a:ext cx="985320" cy="27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Quality weighting</a:t>
              </a:r>
              <a:endParaRPr lang="en-US" sz="900" b="0" u="none" strike="noStrike" dirty="0">
                <a:effectLst/>
                <a:uFillTx/>
                <a:latin typeface="Times New Roman" panose="02020603050405020304" pitchFamily="18" charset="0"/>
                <a:cs typeface="Times New Roman" panose="02020603050405020304" pitchFamily="18" charset="0"/>
              </a:endParaRPr>
            </a:p>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&amp; group balance</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26" name="lsd_reduce_balance"/>
                <p:cNvSpPr/>
                <p:nvPr/>
              </p:nvSpPr>
              <p:spPr>
                <a:xfrm>
                  <a:off x="5778000" y="4185000"/>
                  <a:ext cx="968400" cy="277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Group means</a:t>
                  </a:r>
                </a:p>
                <a:p>
                  <a:pPr algn="ctr" defTabSz="1018080">
                    <a:lnSpc>
                      <a:spcPct val="100000"/>
                    </a:lnSpc>
                  </a:pPr>
                  <a14:m>
                    <m:oMathPara xmlns:m="http://schemas.openxmlformats.org/officeDocument/2006/math">
                      <m:oMath>
                        <m:rad>
                          <m:radPr>
                            <m:degHide m:val="on"/>
                            <m:ctrlPr>
                              <a:rPr lang="en-US" altLang="zh-CN" sz="900" i="1">
                                <a:latin typeface="Cambria Math" panose="02040503050406030204" pitchFamily="18" charset="0"/>
                                <a:cs typeface="Times New Roman" panose="02020603050405020304" pitchFamily="18" charset="0"/>
                              </a:rPr>
                            </m:ctrlPr>
                          </m:radPr>
                          <m:deg/>
                          <m:e>
                            <m:r>
                              <m:rPr>
                                <m:sty m:val="p"/>
                              </m:rPr>
                              <a:rPr lang="en-US" altLang="zh-CN" sz="900" b="0" i="1" smtClean="0">
                                <a:latin typeface="Cambria Math" panose="02040503050406030204" pitchFamily="18" charset="0"/>
                                <a:cs typeface="Times New Roman" panose="02020603050405020304" pitchFamily="18" charset="0"/>
                              </a:rPr>
                              <m:t>count</m:t>
                            </m:r>
                          </m:e>
                        </m:rad>
                      </m:oMath>
                    </m:oMathPara>
                  </a14:m>
                  <a:endParaRPr lang="en-US" sz="90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26" name="lsd_reduce_balance"/>
                <p:cNvSpPr>
                  <a:spLocks noRot="1" noChangeAspect="1" noMove="1" noResize="1" noEditPoints="1" noAdjustHandles="1" noChangeArrowheads="1" noChangeShapeType="1" noTextEdit="1"/>
                </p:cNvSpPr>
                <p:nvPr/>
              </p:nvSpPr>
              <p:spPr>
                <a:xfrm>
                  <a:off x="5778000" y="4185000"/>
                  <a:ext cx="968400" cy="277200"/>
                </a:xfrm>
                <a:prstGeom prst="rect">
                  <a:avLst/>
                </a:prstGeom>
                <a:blipFill>
                  <a:blip r:embed="rId13"/>
                  <a:stretch>
                    <a:fillRect t="-17778" b="-4444"/>
                  </a:stretch>
                </a:blipFill>
                <a:ln w="0">
                  <a:noFill/>
                </a:ln>
              </p:spPr>
              <p:txBody>
                <a:bodyPr/>
                <a:lstStyle/>
                <a:p>
                  <a:r>
                    <a:rPr lang="zh-CN" altLang="en-US">
                      <a:noFill/>
                    </a:rPr>
                    <a:t> </a:t>
                  </a:r>
                </a:p>
              </p:txBody>
            </p:sp>
          </mc:Fallback>
        </mc:AlternateContent>
        <p:sp>
          <p:nvSpPr>
            <p:cNvPr id="427" name="lsd_layer_loss"/>
            <p:cNvSpPr/>
            <p:nvPr/>
          </p:nvSpPr>
          <p:spPr>
            <a:xfrm>
              <a:off x="5778000" y="4516200"/>
              <a:ext cx="96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L</a:t>
              </a:r>
              <a:r>
                <a:rPr lang="en-US" sz="850" b="0" i="1" u="none" strike="noStrike" baseline="-25000">
                  <a:effectLst/>
                  <a:uFillTx/>
                  <a:latin typeface="Times New Roman" panose="02020603050405020304" pitchFamily="18" charset="0"/>
                  <a:cs typeface="Times New Roman" panose="02020603050405020304" pitchFamily="18" charset="0"/>
                </a:rPr>
                <a:t>FR-LSD</a:t>
              </a:r>
              <a:r>
                <a:rPr lang="en-US" sz="850" b="0" u="none" strike="noStrike" baseline="30000">
                  <a:effectLst/>
                  <a:uFillTx/>
                  <a:latin typeface="Times New Roman" panose="02020603050405020304" pitchFamily="18" charset="0"/>
                  <a:cs typeface="Times New Roman" panose="02020603050405020304" pitchFamily="18" charset="0"/>
                </a:rPr>
                <a:t>(i)</a:t>
              </a:r>
              <a:endParaRPr lang="en-US" sz="850" b="0" u="none" strike="noStrike">
                <a:effectLst/>
                <a:uFillTx/>
                <a:latin typeface="Times New Roman" panose="02020603050405020304" pitchFamily="18" charset="0"/>
                <a:cs typeface="Times New Roman" panose="02020603050405020304" pitchFamily="18" charset="0"/>
              </a:endParaRPr>
            </a:p>
          </p:txBody>
        </p:sp>
        <p:sp>
          <p:nvSpPr>
            <p:cNvPr id="428" name="quality_label"/>
            <p:cNvSpPr/>
            <p:nvPr/>
          </p:nvSpPr>
          <p:spPr>
            <a:xfrm>
              <a:off x="5760000" y="4873733"/>
              <a:ext cx="1004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err="1">
                  <a:effectLst/>
                  <a:uFillTx/>
                  <a:latin typeface="Times New Roman" panose="02020603050405020304" pitchFamily="18" charset="0"/>
                  <a:cs typeface="Times New Roman" panose="02020603050405020304" pitchFamily="18" charset="0"/>
                </a:rPr>
                <a:t>IoU</a:t>
              </a:r>
              <a:r>
                <a:rPr lang="en-US" sz="900" b="0" u="none" strike="noStrike" dirty="0">
                  <a:effectLst/>
                  <a:uFillTx/>
                  <a:latin typeface="Times New Roman" panose="02020603050405020304" pitchFamily="18" charset="0"/>
                  <a:cs typeface="Times New Roman" panose="02020603050405020304" pitchFamily="18" charset="0"/>
                </a:rPr>
                <a:t> / confidence</a:t>
              </a:r>
            </a:p>
          </p:txBody>
        </p:sp>
        <p:cxnSp>
          <p:nvCxnSpPr>
            <p:cNvPr id="429" name="encoding_axis__0"/>
            <p:cNvCxnSpPr>
              <a:cxnSpLocks/>
            </p:cNvCxnSpPr>
            <p:nvPr/>
          </p:nvCxnSpPr>
          <p:spPr>
            <a:xfrm>
              <a:off x="1601640" y="2049480"/>
              <a:ext cx="685440" cy="0"/>
            </a:xfrm>
            <a:prstGeom prst="straightConnector1">
              <a:avLst/>
            </a:prstGeom>
            <a:ln w="3600">
              <a:solidFill>
                <a:srgbClr val="687681"/>
              </a:solidFill>
              <a:round/>
            </a:ln>
          </p:spPr>
        </p:cxnSp>
        <p:cxnSp>
          <p:nvCxnSpPr>
            <p:cNvPr id="430" name="encoding_gt_marker__0"/>
            <p:cNvCxnSpPr>
              <a:cxnSpLocks/>
            </p:cNvCxnSpPr>
            <p:nvPr/>
          </p:nvCxnSpPr>
          <p:spPr>
            <a:xfrm>
              <a:off x="1807560" y="1935720"/>
              <a:ext cx="0" cy="113760"/>
            </a:xfrm>
            <a:prstGeom prst="straightConnector1">
              <a:avLst/>
            </a:prstGeom>
            <a:ln w="7200">
              <a:solidFill>
                <a:srgbClr val="9683AB"/>
              </a:solidFill>
              <a:round/>
              <a:tailEnd type="triangle" w="sm" len="sm"/>
            </a:ln>
          </p:spPr>
        </p:cxnSp>
        <p:cxnSp>
          <p:nvCxnSpPr>
            <p:cNvPr id="431" name="target_axis__0"/>
            <p:cNvCxnSpPr>
              <a:cxnSpLocks/>
            </p:cNvCxnSpPr>
            <p:nvPr/>
          </p:nvCxnSpPr>
          <p:spPr>
            <a:xfrm>
              <a:off x="2717640" y="2139480"/>
              <a:ext cx="822240" cy="0"/>
            </a:xfrm>
            <a:prstGeom prst="straightConnector1">
              <a:avLst/>
            </a:prstGeom>
            <a:ln w="3600">
              <a:solidFill>
                <a:srgbClr val="687681"/>
              </a:solidFill>
              <a:round/>
            </a:ln>
          </p:spPr>
        </p:cxnSp>
        <p:cxnSp>
          <p:nvCxnSpPr>
            <p:cNvPr id="432" name="gt_encode__0"/>
            <p:cNvCxnSpPr>
              <a:cxnSpLocks/>
            </p:cNvCxnSpPr>
            <p:nvPr/>
          </p:nvCxnSpPr>
          <p:spPr>
            <a:xfrm>
              <a:off x="1278000" y="1937880"/>
              <a:ext cx="159480" cy="0"/>
            </a:xfrm>
            <a:prstGeom prst="straightConnector1">
              <a:avLst/>
            </a:prstGeom>
            <a:ln w="12700">
              <a:solidFill>
                <a:schemeClr val="tx1"/>
              </a:solidFill>
              <a:round/>
              <a:tailEnd type="triangle" w="sm" len="sm"/>
            </a:ln>
          </p:spPr>
        </p:cxnSp>
        <p:cxnSp>
          <p:nvCxnSpPr>
            <p:cNvPr id="433" name="encode_target__0"/>
            <p:cNvCxnSpPr>
              <a:cxnSpLocks/>
            </p:cNvCxnSpPr>
            <p:nvPr/>
          </p:nvCxnSpPr>
          <p:spPr>
            <a:xfrm>
              <a:off x="2484540" y="1998720"/>
              <a:ext cx="175320" cy="0"/>
            </a:xfrm>
            <a:prstGeom prst="straightConnector1">
              <a:avLst/>
            </a:prstGeom>
            <a:ln w="12700">
              <a:solidFill>
                <a:schemeClr val="tx1"/>
              </a:solidFill>
              <a:round/>
              <a:tailEnd type="triangle" w="sm" len="sm"/>
            </a:ln>
          </p:spPr>
        </p:cxnSp>
        <p:cxnSp>
          <p:nvCxnSpPr>
            <p:cNvPr id="434" name="target_fgl__0"/>
            <p:cNvCxnSpPr>
              <a:cxnSpLocks/>
            </p:cNvCxnSpPr>
            <p:nvPr/>
          </p:nvCxnSpPr>
          <p:spPr>
            <a:xfrm>
              <a:off x="3667679" y="1951858"/>
              <a:ext cx="282961" cy="0"/>
            </a:xfrm>
            <a:prstGeom prst="straightConnector1">
              <a:avLst/>
            </a:prstGeom>
            <a:ln w="6480">
              <a:solidFill>
                <a:srgbClr val="9683AB"/>
              </a:solidFill>
              <a:round/>
              <a:tailEnd type="triangle" w="sm" len="sm"/>
            </a:ln>
          </p:spPr>
        </p:cxnSp>
        <p:cxnSp>
          <p:nvCxnSpPr>
            <p:cNvPr id="435" name="fgl_product__0"/>
            <p:cNvCxnSpPr>
              <a:cxnSpLocks/>
            </p:cNvCxnSpPr>
            <p:nvPr/>
          </p:nvCxnSpPr>
          <p:spPr>
            <a:xfrm>
              <a:off x="4829760" y="1937880"/>
              <a:ext cx="319320" cy="0"/>
            </a:xfrm>
            <a:prstGeom prst="straightConnector1">
              <a:avLst/>
            </a:prstGeom>
            <a:ln w="12700">
              <a:solidFill>
                <a:schemeClr val="tx1"/>
              </a:solidFill>
              <a:round/>
              <a:tailEnd type="triangle" w="sm" len="sm"/>
            </a:ln>
          </p:spPr>
        </p:cxnSp>
        <p:cxnSp>
          <p:nvCxnSpPr>
            <p:cNvPr id="436" name="fgl_reduction__0"/>
            <p:cNvCxnSpPr>
              <a:cxnSpLocks/>
            </p:cNvCxnSpPr>
            <p:nvPr/>
          </p:nvCxnSpPr>
          <p:spPr>
            <a:xfrm>
              <a:off x="5357880" y="1937880"/>
              <a:ext cx="240840" cy="0"/>
            </a:xfrm>
            <a:prstGeom prst="straightConnector1">
              <a:avLst/>
            </a:prstGeom>
            <a:ln w="12700">
              <a:solidFill>
                <a:schemeClr val="tx1"/>
              </a:solidFill>
              <a:round/>
              <a:tailEnd type="triangle" w="sm" len="sm"/>
            </a:ln>
          </p:spPr>
        </p:cxnSp>
        <p:cxnSp>
          <p:nvCxnSpPr>
            <p:cNvPr id="437" name="logits_branch__0"/>
            <p:cNvCxnSpPr>
              <a:cxnSpLocks/>
            </p:cNvCxnSpPr>
            <p:nvPr/>
          </p:nvCxnSpPr>
          <p:spPr>
            <a:xfrm>
              <a:off x="1305000" y="2729880"/>
              <a:ext cx="81360" cy="0"/>
            </a:xfrm>
            <a:prstGeom prst="straightConnector1">
              <a:avLst/>
            </a:prstGeom>
            <a:ln w="12700">
              <a:solidFill>
                <a:schemeClr val="tx1"/>
              </a:solidFill>
              <a:round/>
            </a:ln>
          </p:spPr>
        </p:cxnSp>
        <p:cxnSp>
          <p:nvCxnSpPr>
            <p:cNvPr id="438" name="logits_ce__0"/>
            <p:cNvCxnSpPr>
              <a:cxnSpLocks/>
            </p:cNvCxnSpPr>
            <p:nvPr/>
          </p:nvCxnSpPr>
          <p:spPr>
            <a:xfrm flipV="1">
              <a:off x="1386360" y="2434680"/>
              <a:ext cx="0" cy="295200"/>
            </a:xfrm>
            <a:prstGeom prst="straightConnector1">
              <a:avLst/>
            </a:prstGeom>
            <a:ln w="12700">
              <a:solidFill>
                <a:schemeClr val="tx1"/>
              </a:solidFill>
              <a:round/>
            </a:ln>
          </p:spPr>
        </p:cxnSp>
        <p:cxnSp>
          <p:nvCxnSpPr>
            <p:cNvPr id="439" name="logits_ce__1"/>
            <p:cNvCxnSpPr>
              <a:cxnSpLocks/>
            </p:cNvCxnSpPr>
            <p:nvPr/>
          </p:nvCxnSpPr>
          <p:spPr>
            <a:xfrm>
              <a:off x="1386360" y="2434680"/>
              <a:ext cx="2988000" cy="0"/>
            </a:xfrm>
            <a:prstGeom prst="straightConnector1">
              <a:avLst/>
            </a:prstGeom>
            <a:ln w="12700">
              <a:solidFill>
                <a:schemeClr val="tx1"/>
              </a:solidFill>
              <a:round/>
            </a:ln>
          </p:spPr>
        </p:cxnSp>
        <p:cxnSp>
          <p:nvCxnSpPr>
            <p:cNvPr id="440" name="logits_ce__2"/>
            <p:cNvCxnSpPr>
              <a:cxnSpLocks/>
            </p:cNvCxnSpPr>
            <p:nvPr/>
          </p:nvCxnSpPr>
          <p:spPr>
            <a:xfrm flipV="1">
              <a:off x="4374360" y="2109960"/>
              <a:ext cx="0" cy="324720"/>
            </a:xfrm>
            <a:prstGeom prst="straightConnector1">
              <a:avLst/>
            </a:prstGeom>
            <a:ln w="12700">
              <a:solidFill>
                <a:schemeClr val="tx1"/>
              </a:solidFill>
              <a:round/>
              <a:tailEnd type="triangle" w="sm" len="sm"/>
            </a:ln>
          </p:spPr>
        </p:cxnSp>
        <p:cxnSp>
          <p:nvCxnSpPr>
            <p:cNvPr id="441" name="logits_softmax__0"/>
            <p:cNvCxnSpPr>
              <a:cxnSpLocks/>
            </p:cNvCxnSpPr>
            <p:nvPr/>
          </p:nvCxnSpPr>
          <p:spPr>
            <a:xfrm>
              <a:off x="1386360" y="2729880"/>
              <a:ext cx="82440" cy="0"/>
            </a:xfrm>
            <a:prstGeom prst="straightConnector1">
              <a:avLst/>
            </a:prstGeom>
            <a:ln w="6480">
              <a:solidFill>
                <a:srgbClr val="9683AB"/>
              </a:solidFill>
              <a:round/>
              <a:tailEnd type="triangle" w="sm" len="sm"/>
            </a:ln>
          </p:spPr>
        </p:cxnSp>
        <p:cxnSp>
          <p:nvCxnSpPr>
            <p:cNvPr id="442" name="probability_entropy__0"/>
            <p:cNvCxnSpPr>
              <a:cxnSpLocks/>
            </p:cNvCxnSpPr>
            <p:nvPr/>
          </p:nvCxnSpPr>
          <p:spPr>
            <a:xfrm>
              <a:off x="2415960" y="2729880"/>
              <a:ext cx="381240" cy="0"/>
            </a:xfrm>
            <a:prstGeom prst="straightConnector1">
              <a:avLst/>
            </a:prstGeom>
            <a:ln w="12700">
              <a:solidFill>
                <a:schemeClr val="tx1"/>
              </a:solidFill>
              <a:round/>
              <a:tailEnd type="triangle" w="sm" len="sm"/>
            </a:ln>
          </p:spPr>
        </p:cxnSp>
        <p:cxnSp>
          <p:nvCxnSpPr>
            <p:cNvPr id="443" name="entropy_weight__0"/>
            <p:cNvCxnSpPr>
              <a:cxnSpLocks/>
            </p:cNvCxnSpPr>
            <p:nvPr/>
          </p:nvCxnSpPr>
          <p:spPr>
            <a:xfrm>
              <a:off x="4250880" y="2729880"/>
              <a:ext cx="372960" cy="0"/>
            </a:xfrm>
            <a:prstGeom prst="straightConnector1">
              <a:avLst/>
            </a:prstGeom>
            <a:ln w="12700">
              <a:solidFill>
                <a:schemeClr val="tx1"/>
              </a:solidFill>
              <a:round/>
              <a:tailEnd type="triangle" w="sm" len="sm"/>
            </a:ln>
          </p:spPr>
        </p:cxnSp>
        <p:cxnSp>
          <p:nvCxnSpPr>
            <p:cNvPr id="444" name="weight_fgl__0"/>
            <p:cNvCxnSpPr>
              <a:cxnSpLocks/>
            </p:cNvCxnSpPr>
            <p:nvPr/>
          </p:nvCxnSpPr>
          <p:spPr>
            <a:xfrm flipV="1">
              <a:off x="5238360" y="2049120"/>
              <a:ext cx="0" cy="492120"/>
            </a:xfrm>
            <a:prstGeom prst="straightConnector1">
              <a:avLst/>
            </a:prstGeom>
            <a:ln w="12700">
              <a:solidFill>
                <a:schemeClr val="tx1"/>
              </a:solidFill>
              <a:round/>
              <a:tailEnd type="triangle" w="sm" len="sm"/>
            </a:ln>
          </p:spPr>
        </p:cxnSp>
        <p:cxnSp>
          <p:nvCxnSpPr>
            <p:cNvPr id="445" name="student_softmax__0"/>
            <p:cNvCxnSpPr>
              <a:cxnSpLocks/>
            </p:cNvCxnSpPr>
            <p:nvPr/>
          </p:nvCxnSpPr>
          <p:spPr>
            <a:xfrm>
              <a:off x="1420560" y="3835080"/>
              <a:ext cx="228240" cy="0"/>
            </a:xfrm>
            <a:prstGeom prst="straightConnector1">
              <a:avLst/>
            </a:prstGeom>
            <a:ln w="12700">
              <a:solidFill>
                <a:schemeClr val="tx1"/>
              </a:solidFill>
              <a:round/>
              <a:tailEnd type="triangle" w="sm" len="sm"/>
            </a:ln>
          </p:spPr>
        </p:cxnSp>
        <p:cxnSp>
          <p:nvCxnSpPr>
            <p:cNvPr id="446" name="teacher_softmax__0"/>
            <p:cNvCxnSpPr>
              <a:cxnSpLocks/>
            </p:cNvCxnSpPr>
            <p:nvPr/>
          </p:nvCxnSpPr>
          <p:spPr>
            <a:xfrm>
              <a:off x="1419840" y="4645080"/>
              <a:ext cx="228960" cy="0"/>
            </a:xfrm>
            <a:prstGeom prst="straightConnector1">
              <a:avLst/>
            </a:prstGeom>
            <a:ln w="12700">
              <a:solidFill>
                <a:schemeClr val="tx1"/>
              </a:solidFill>
              <a:round/>
              <a:tailEnd type="triangle" w="sm" len="sm"/>
            </a:ln>
          </p:spPr>
        </p:cxnSp>
        <p:cxnSp>
          <p:nvCxnSpPr>
            <p:cNvPr id="447" name="student_distance__0"/>
            <p:cNvCxnSpPr>
              <a:cxnSpLocks/>
            </p:cNvCxnSpPr>
            <p:nvPr/>
          </p:nvCxnSpPr>
          <p:spPr>
            <a:xfrm>
              <a:off x="2811960" y="3835080"/>
              <a:ext cx="158400" cy="0"/>
            </a:xfrm>
            <a:prstGeom prst="straightConnector1">
              <a:avLst/>
            </a:prstGeom>
            <a:ln w="12700">
              <a:solidFill>
                <a:schemeClr val="tx1"/>
              </a:solidFill>
              <a:round/>
            </a:ln>
          </p:spPr>
        </p:cxnSp>
        <p:cxnSp>
          <p:nvCxnSpPr>
            <p:cNvPr id="448" name="student_distance__1"/>
            <p:cNvCxnSpPr>
              <a:cxnSpLocks/>
            </p:cNvCxnSpPr>
            <p:nvPr/>
          </p:nvCxnSpPr>
          <p:spPr>
            <a:xfrm>
              <a:off x="2970360" y="3835080"/>
              <a:ext cx="0" cy="241200"/>
            </a:xfrm>
            <a:prstGeom prst="straightConnector1">
              <a:avLst/>
            </a:prstGeom>
            <a:ln w="12700">
              <a:solidFill>
                <a:schemeClr val="tx1"/>
              </a:solidFill>
              <a:round/>
            </a:ln>
          </p:spPr>
        </p:cxnSp>
        <p:cxnSp>
          <p:nvCxnSpPr>
            <p:cNvPr id="449" name="student_distance__2"/>
            <p:cNvCxnSpPr>
              <a:cxnSpLocks/>
            </p:cNvCxnSpPr>
            <p:nvPr/>
          </p:nvCxnSpPr>
          <p:spPr>
            <a:xfrm>
              <a:off x="2970360" y="4076280"/>
              <a:ext cx="296280" cy="0"/>
            </a:xfrm>
            <a:prstGeom prst="straightConnector1">
              <a:avLst/>
            </a:prstGeom>
            <a:ln w="12700">
              <a:solidFill>
                <a:schemeClr val="tx1"/>
              </a:solidFill>
              <a:round/>
              <a:tailEnd type="triangle" w="sm" len="sm"/>
            </a:ln>
          </p:spPr>
        </p:cxnSp>
        <p:cxnSp>
          <p:nvCxnSpPr>
            <p:cNvPr id="450" name="teacher_distance__0"/>
            <p:cNvCxnSpPr>
              <a:cxnSpLocks/>
            </p:cNvCxnSpPr>
            <p:nvPr/>
          </p:nvCxnSpPr>
          <p:spPr>
            <a:xfrm>
              <a:off x="2811960" y="4645080"/>
              <a:ext cx="158400" cy="0"/>
            </a:xfrm>
            <a:prstGeom prst="straightConnector1">
              <a:avLst/>
            </a:prstGeom>
            <a:ln w="12700">
              <a:solidFill>
                <a:schemeClr val="tx1"/>
              </a:solidFill>
              <a:round/>
            </a:ln>
          </p:spPr>
        </p:cxnSp>
        <p:cxnSp>
          <p:nvCxnSpPr>
            <p:cNvPr id="451" name="teacher_distance__1"/>
            <p:cNvCxnSpPr>
              <a:cxnSpLocks/>
            </p:cNvCxnSpPr>
            <p:nvPr/>
          </p:nvCxnSpPr>
          <p:spPr>
            <a:xfrm flipV="1">
              <a:off x="2970360" y="4407480"/>
              <a:ext cx="0" cy="237600"/>
            </a:xfrm>
            <a:prstGeom prst="straightConnector1">
              <a:avLst/>
            </a:prstGeom>
            <a:ln w="12700">
              <a:solidFill>
                <a:schemeClr val="tx1"/>
              </a:solidFill>
              <a:round/>
            </a:ln>
          </p:spPr>
        </p:cxnSp>
        <p:cxnSp>
          <p:nvCxnSpPr>
            <p:cNvPr id="452" name="teacher_distance__2"/>
            <p:cNvCxnSpPr>
              <a:cxnSpLocks/>
            </p:cNvCxnSpPr>
            <p:nvPr/>
          </p:nvCxnSpPr>
          <p:spPr>
            <a:xfrm>
              <a:off x="2970360" y="4407480"/>
              <a:ext cx="296280" cy="0"/>
            </a:xfrm>
            <a:prstGeom prst="straightConnector1">
              <a:avLst/>
            </a:prstGeom>
            <a:ln w="12700">
              <a:solidFill>
                <a:schemeClr val="tx1"/>
              </a:solidFill>
              <a:round/>
              <a:tailEnd type="triangle" w="sm" len="sm"/>
            </a:ln>
          </p:spPr>
        </p:cxnSp>
        <p:cxnSp>
          <p:nvCxnSpPr>
            <p:cNvPr id="453" name="distance_scale__0"/>
            <p:cNvCxnSpPr>
              <a:cxnSpLocks/>
            </p:cNvCxnSpPr>
            <p:nvPr/>
          </p:nvCxnSpPr>
          <p:spPr>
            <a:xfrm>
              <a:off x="4752000" y="4241880"/>
              <a:ext cx="306000" cy="0"/>
            </a:xfrm>
            <a:prstGeom prst="straightConnector1">
              <a:avLst/>
            </a:prstGeom>
            <a:ln w="12700">
              <a:solidFill>
                <a:schemeClr val="tx1"/>
              </a:solidFill>
              <a:round/>
              <a:tailEnd type="triangle" w="sm" len="sm"/>
            </a:ln>
          </p:spPr>
        </p:cxnSp>
        <p:cxnSp>
          <p:nvCxnSpPr>
            <p:cNvPr id="454" name="scale_weight_reduce__0"/>
            <p:cNvCxnSpPr>
              <a:cxnSpLocks/>
            </p:cNvCxnSpPr>
            <p:nvPr/>
          </p:nvCxnSpPr>
          <p:spPr>
            <a:xfrm>
              <a:off x="5522400" y="4241880"/>
              <a:ext cx="213840" cy="0"/>
            </a:xfrm>
            <a:prstGeom prst="straightConnector1">
              <a:avLst/>
            </a:prstGeom>
            <a:ln w="12700">
              <a:solidFill>
                <a:schemeClr val="tx1"/>
              </a:solidFill>
              <a:round/>
              <a:tailEnd type="triangle" w="sm" len="sm"/>
            </a:ln>
          </p:spPr>
        </p:cxnSp>
        <p:cxnSp>
          <p:nvCxnSpPr>
            <p:cNvPr id="455" name="quality_weight__0"/>
            <p:cNvCxnSpPr>
              <a:cxnSpLocks/>
              <a:stCxn id="428" idx="0"/>
            </p:cNvCxnSpPr>
            <p:nvPr/>
          </p:nvCxnSpPr>
          <p:spPr>
            <a:xfrm flipV="1">
              <a:off x="6262200" y="4692240"/>
              <a:ext cx="2160" cy="181493"/>
            </a:xfrm>
            <a:prstGeom prst="straightConnector1">
              <a:avLst/>
            </a:prstGeom>
            <a:ln w="12700">
              <a:solidFill>
                <a:schemeClr val="tx1"/>
              </a:solidFill>
              <a:round/>
              <a:tailEnd type="triangle" w="sm" len="sm"/>
            </a:ln>
          </p:spPr>
        </p:cxnSp>
        <p:pic>
          <p:nvPicPr>
            <p:cNvPr id="456" name="frd_fgl_real_distribution" descr="B_rank11 query 67 Left; fgl; source saved cumulative logits; bin index 0-32; shared y max 0.3655114471912384"/>
            <p:cNvPicPr/>
            <p:nvPr/>
          </p:nvPicPr>
          <p:blipFill>
            <a:blip>
              <a:extLst>
                <a:ext uri="{96DAC541-7B7A-43D3-8B79-37D633B846F1}">
                  <asvg:svgBlip xmlns:asvg="http://schemas.microsoft.com/office/drawing/2016/SVG/main" r:embed="rId14"/>
                </a:ext>
              </a:extLst>
            </a:blip>
            <a:stretch/>
          </p:blipFill>
          <p:spPr>
            <a:xfrm>
              <a:off x="1522800" y="2717100"/>
              <a:ext cx="845640" cy="327240"/>
            </a:xfrm>
            <a:prstGeom prst="rect">
              <a:avLst/>
            </a:prstGeom>
            <a:noFill/>
            <a:ln w="0">
              <a:noFill/>
            </a:ln>
          </p:spPr>
        </p:pic>
        <p:pic>
          <p:nvPicPr>
            <p:cNvPr id="457" name="frd_student_real_distribution" descr="B_rank11 query 67 Left; student; source saved cumulative logits; bin index 0-32; shared y max 0.3655114471912384"/>
            <p:cNvPicPr/>
            <p:nvPr/>
          </p:nvPicPr>
          <p:blipFill>
            <a:blip>
              <a:extLst>
                <a:ext uri="{96DAC541-7B7A-43D3-8B79-37D633B846F1}">
                  <asvg:svgBlip xmlns:asvg="http://schemas.microsoft.com/office/drawing/2016/SVG/main" r:embed="rId15"/>
                </a:ext>
              </a:extLst>
            </a:blip>
            <a:stretch/>
          </p:blipFill>
          <p:spPr>
            <a:xfrm>
              <a:off x="1681200" y="3776320"/>
              <a:ext cx="1061640" cy="406800"/>
            </a:xfrm>
            <a:prstGeom prst="rect">
              <a:avLst/>
            </a:prstGeom>
            <a:noFill/>
            <a:ln w="0">
              <a:noFill/>
            </a:ln>
          </p:spPr>
        </p:pic>
        <p:pic>
          <p:nvPicPr>
            <p:cNvPr id="458" name="frd_teacher_real_distribution" descr="B_rank11 query 67 Left; teacher; source saved cumulative logits; bin index 0-32; shared y max 0.3655114471912384"/>
            <p:cNvPicPr/>
            <p:nvPr/>
          </p:nvPicPr>
          <p:blipFill>
            <a:blip>
              <a:extLst>
                <a:ext uri="{96DAC541-7B7A-43D3-8B79-37D633B846F1}">
                  <asvg:svgBlip xmlns:asvg="http://schemas.microsoft.com/office/drawing/2016/SVG/main" r:embed="rId16"/>
                </a:ext>
              </a:extLst>
            </a:blip>
            <a:stretch/>
          </p:blipFill>
          <p:spPr>
            <a:xfrm>
              <a:off x="1701000" y="4559571"/>
              <a:ext cx="1050840" cy="421533"/>
            </a:xfrm>
            <a:prstGeom prst="rect">
              <a:avLst/>
            </a:prstGeom>
            <a:noFill/>
            <a:ln w="0">
              <a:noFill/>
            </a:ln>
          </p:spPr>
        </p:pic>
        <mc:AlternateContent xmlns:mc="http://schemas.openxmlformats.org/markup-compatibility/2006" xmlns:a14="http://schemas.microsoft.com/office/drawing/2010/main">
          <mc:Choice Requires="a14">
            <p:sp>
              <p:nvSpPr>
                <p:cNvPr id="4" name="student_label">
                  <a:extLst>
                    <a:ext uri="{FF2B5EF4-FFF2-40B4-BE49-F238E27FC236}">
                      <a16:creationId xmlns:a16="http://schemas.microsoft.com/office/drawing/2014/main" id="{D78E7AC7-0D7F-BFFE-F2AA-15DBAE533ED8}"/>
                    </a:ext>
                  </a:extLst>
                </p:cNvPr>
                <p:cNvSpPr/>
                <p:nvPr/>
              </p:nvSpPr>
              <p:spPr>
                <a:xfrm>
                  <a:off x="1724493" y="4374720"/>
                  <a:ext cx="1040400" cy="144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Para xmlns:m="http://schemas.openxmlformats.org/officeDocument/2006/math">
                      <m:oMath>
                        <m:sSub>
                          <m:sSubPr>
                            <m:ctrlPr>
                              <a:rPr lang="en-US" altLang="zh-CN" sz="800" i="1">
                                <a:latin typeface="Cambria Math" panose="02040503050406030204" pitchFamily="18" charset="0"/>
                                <a:cs typeface="Times New Roman" panose="02020603050405020304" pitchFamily="18" charset="0"/>
                              </a:rPr>
                            </m:ctrlPr>
                          </m:sSubPr>
                          <m:e>
                            <m:sSubSup>
                              <m:sSubSupPr>
                                <m:ctrlPr>
                                  <a:rPr lang="en-US" altLang="zh-CN" sz="800" i="1">
                                    <a:latin typeface="Cambria Math" panose="02040503050406030204" pitchFamily="18" charset="0"/>
                                    <a:cs typeface="Times New Roman" panose="02020603050405020304" pitchFamily="18" charset="0"/>
                                  </a:rPr>
                                </m:ctrlPr>
                              </m:sSubSupPr>
                              <m:e>
                                <m:r>
                                  <a:rPr lang="en-US" altLang="zh-CN" sz="800" i="1">
                                    <a:latin typeface="Cambria Math" panose="02040503050406030204" pitchFamily="18" charset="0"/>
                                    <a:cs typeface="Times New Roman" panose="02020603050405020304" pitchFamily="18" charset="0"/>
                                  </a:rPr>
                                  <m:t>𝑝</m:t>
                                </m:r>
                              </m:e>
                              <m:sub>
                                <m:r>
                                  <a:rPr lang="en-US" altLang="zh-CN" sz="800" b="0" i="1" smtClean="0">
                                    <a:latin typeface="Cambria Math" panose="02040503050406030204" pitchFamily="18" charset="0"/>
                                    <a:cs typeface="Times New Roman" panose="02020603050405020304" pitchFamily="18" charset="0"/>
                                  </a:rPr>
                                  <m:t>6</m:t>
                                </m:r>
                                <m:r>
                                  <a:rPr lang="en-US" altLang="zh-CN" sz="800" i="1">
                                    <a:latin typeface="Cambria Math" panose="02040503050406030204" pitchFamily="18" charset="0"/>
                                    <a:cs typeface="Times New Roman" panose="02020603050405020304" pitchFamily="18" charset="0"/>
                                  </a:rPr>
                                  <m:t>,</m:t>
                                </m:r>
                                <m:r>
                                  <a:rPr lang="en-US" altLang="zh-CN" sz="800" i="1">
                                    <a:latin typeface="Cambria Math" panose="02040503050406030204" pitchFamily="18" charset="0"/>
                                    <a:cs typeface="Times New Roman" panose="02020603050405020304" pitchFamily="18" charset="0"/>
                                  </a:rPr>
                                  <m:t>𝑛</m:t>
                                </m:r>
                              </m:sub>
                              <m:sup>
                                <m:r>
                                  <a:rPr lang="en-US" altLang="zh-CN" sz="800" i="1">
                                    <a:latin typeface="Cambria Math" panose="02040503050406030204" pitchFamily="18" charset="0"/>
                                    <a:cs typeface="Times New Roman" panose="02020603050405020304" pitchFamily="18" charset="0"/>
                                  </a:rPr>
                                  <m:t>(</m:t>
                                </m:r>
                                <m:r>
                                  <a:rPr lang="en-US" altLang="zh-CN" sz="800" i="1">
                                    <a:latin typeface="Cambria Math" panose="02040503050406030204" pitchFamily="18" charset="0"/>
                                    <a:cs typeface="Times New Roman" panose="02020603050405020304" pitchFamily="18" charset="0"/>
                                  </a:rPr>
                                  <m:t>𝑇</m:t>
                                </m:r>
                                <m:r>
                                  <a:rPr lang="en-US" altLang="zh-CN" sz="800" i="1">
                                    <a:latin typeface="Cambria Math" panose="02040503050406030204" pitchFamily="18" charset="0"/>
                                    <a:cs typeface="Times New Roman" panose="02020603050405020304" pitchFamily="18" charset="0"/>
                                  </a:rPr>
                                  <m:t>)</m:t>
                                </m:r>
                              </m:sup>
                            </m:sSubSup>
                            <m:r>
                              <m:rPr>
                                <m:nor/>
                              </m:rPr>
                              <a:rPr lang="en-US" altLang="zh-CN" sz="800" i="1" dirty="0">
                                <a:latin typeface="Times New Roman" panose="02020603050405020304" pitchFamily="18" charset="0"/>
                                <a:cs typeface="Times New Roman" panose="02020603050405020304" pitchFamily="18" charset="0"/>
                              </a:rPr>
                              <m:t> = </m:t>
                            </m:r>
                            <m:r>
                              <m:rPr>
                                <m:nor/>
                              </m:rPr>
                              <a:rPr lang="en-US" altLang="zh-CN" sz="800" i="1" dirty="0" err="1">
                                <a:latin typeface="Times New Roman" panose="02020603050405020304" pitchFamily="18" charset="0"/>
                                <a:cs typeface="Times New Roman" panose="02020603050405020304" pitchFamily="18" charset="0"/>
                              </a:rPr>
                              <m:t>softmax</m:t>
                            </m:r>
                            <m:r>
                              <m:rPr>
                                <m:nor/>
                              </m:rPr>
                              <a:rPr lang="en-US" altLang="zh-CN" sz="800" i="1" dirty="0">
                                <a:latin typeface="Times New Roman" panose="02020603050405020304" pitchFamily="18" charset="0"/>
                                <a:cs typeface="Times New Roman" panose="02020603050405020304" pitchFamily="18" charset="0"/>
                              </a:rPr>
                              <m:t>(z</m:t>
                            </m:r>
                            <m:r>
                              <m:rPr>
                                <m:nor/>
                              </m:rPr>
                              <a:rPr lang="en-US" altLang="zh-CN" sz="800" i="1" baseline="-25000" dirty="0">
                                <a:latin typeface="Times New Roman" panose="02020603050405020304" pitchFamily="18" charset="0"/>
                                <a:cs typeface="Times New Roman" panose="02020603050405020304" pitchFamily="18" charset="0"/>
                              </a:rPr>
                              <m:t>6</m:t>
                            </m:r>
                            <m:r>
                              <m:rPr>
                                <m:nor/>
                              </m:rPr>
                              <a:rPr lang="en-US" altLang="zh-CN" sz="800" b="0" i="1" baseline="-25000" dirty="0" smtClean="0">
                                <a:latin typeface="Times New Roman" panose="02020603050405020304" pitchFamily="18" charset="0"/>
                                <a:cs typeface="Times New Roman" panose="02020603050405020304" pitchFamily="18" charset="0"/>
                              </a:rPr>
                              <m:t> </m:t>
                            </m:r>
                            <m:r>
                              <m:rPr>
                                <m:nor/>
                              </m:rPr>
                              <a:rPr lang="en-US" altLang="zh-CN" sz="800" i="1" dirty="0">
                                <a:latin typeface="Times New Roman" panose="02020603050405020304" pitchFamily="18" charset="0"/>
                                <a:cs typeface="Times New Roman" panose="02020603050405020304" pitchFamily="18" charset="0"/>
                              </a:rPr>
                              <m:t>/ T)</m:t>
                            </m:r>
                          </m:e>
                          <m:sub>
                            <m:r>
                              <a:rPr lang="en-US" altLang="zh-CN" sz="800" b="0" i="1" u="none" strike="noStrike" smtClean="0">
                                <a:effectLst/>
                                <a:uFillTx/>
                                <a:latin typeface="Cambria Math" panose="02040503050406030204" pitchFamily="18" charset="0"/>
                                <a:cs typeface="Times New Roman" panose="02020603050405020304" pitchFamily="18" charset="0"/>
                              </a:rPr>
                              <m:t>𝑛</m:t>
                            </m:r>
                          </m:sub>
                        </m:sSub>
                      </m:oMath>
                    </m:oMathPara>
                  </a14:m>
                  <a:endParaRPr lang="en-US" sz="8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 name="student_label">
                  <a:extLst>
                    <a:ext uri="{FF2B5EF4-FFF2-40B4-BE49-F238E27FC236}">
                      <a16:creationId xmlns:a16="http://schemas.microsoft.com/office/drawing/2014/main" id="{D78E7AC7-0D7F-BFFE-F2AA-15DBAE533ED8}"/>
                    </a:ext>
                  </a:extLst>
                </p:cNvPr>
                <p:cNvSpPr>
                  <a:spLocks noRot="1" noChangeAspect="1" noMove="1" noResize="1" noEditPoints="1" noAdjustHandles="1" noChangeArrowheads="1" noChangeShapeType="1" noTextEdit="1"/>
                </p:cNvSpPr>
                <p:nvPr/>
              </p:nvSpPr>
              <p:spPr>
                <a:xfrm>
                  <a:off x="1724493" y="4374720"/>
                  <a:ext cx="1040400" cy="144000"/>
                </a:xfrm>
                <a:prstGeom prst="rect">
                  <a:avLst/>
                </a:prstGeom>
                <a:blipFill>
                  <a:blip r:embed="rId17"/>
                  <a:stretch>
                    <a:fillRect t="-8696" b="-34783"/>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497F4388-297C-793D-D841-73286020FB46}"/>
                    </a:ext>
                  </a:extLst>
                </p:cNvPr>
                <p:cNvSpPr txBox="1"/>
                <p:nvPr/>
              </p:nvSpPr>
              <p:spPr>
                <a:xfrm>
                  <a:off x="5931185" y="1935720"/>
                  <a:ext cx="578492" cy="196079"/>
                </a:xfrm>
                <a:prstGeom prst="rect">
                  <a:avLst/>
                </a:prstGeom>
                <a:noFill/>
              </p:spPr>
              <p:txBody>
                <a:bodyPr wrap="none" lIns="0" tIns="0" rIns="0" bIns="0" rtlCol="0">
                  <a:spAutoFit/>
                </a:bodyPr>
                <a:lstStyle/>
                <a:p>
                  <a:pPr/>
                  <a14:m>
                    <m:oMathPara xmlns:m="http://schemas.openxmlformats.org/officeDocument/2006/math">
                      <m:oMath>
                        <m:sSubSup>
                          <m:sSubSupPr>
                            <m:ctrlPr>
                              <a:rPr lang="en-US" altLang="zh-CN" sz="1000" b="0" i="1" smtClean="0">
                                <a:latin typeface="Cambria Math" panose="02040503050406030204" pitchFamily="18" charset="0"/>
                              </a:rPr>
                            </m:ctrlPr>
                          </m:sSubSupPr>
                          <m:e>
                            <m:r>
                              <a:rPr lang="en-US" altLang="zh-CN" sz="1000" b="0" i="1" smtClean="0">
                                <a:latin typeface="Cambria Math" panose="02040503050406030204" pitchFamily="18" charset="0"/>
                              </a:rPr>
                              <m:t>𝐿</m:t>
                            </m:r>
                          </m:e>
                          <m:sub>
                            <m:r>
                              <a:rPr lang="en-US" altLang="zh-CN" sz="1000" b="0" i="1" smtClean="0">
                                <a:latin typeface="Cambria Math" panose="02040503050406030204" pitchFamily="18" charset="0"/>
                              </a:rPr>
                              <m:t>𝐹𝑖𝑠ℎ𝑒𝑟𝐹𝐺𝐿</m:t>
                            </m:r>
                          </m:sub>
                          <m:sup>
                            <m:r>
                              <a:rPr lang="en-US" altLang="zh-CN" sz="1000" b="0" i="1" smtClean="0">
                                <a:latin typeface="Cambria Math" panose="02040503050406030204" pitchFamily="18" charset="0"/>
                              </a:rPr>
                              <m:t>(</m:t>
                            </m:r>
                            <m:r>
                              <a:rPr lang="en-US" altLang="zh-CN" sz="1000" b="0" i="1" smtClean="0">
                                <a:latin typeface="Cambria Math" panose="02040503050406030204" pitchFamily="18" charset="0"/>
                              </a:rPr>
                              <m:t>𝑖</m:t>
                            </m:r>
                            <m:r>
                              <a:rPr lang="en-US" altLang="zh-CN" sz="1000" b="0" i="1" smtClean="0">
                                <a:latin typeface="Cambria Math" panose="02040503050406030204" pitchFamily="18" charset="0"/>
                              </a:rPr>
                              <m:t>)</m:t>
                            </m:r>
                          </m:sup>
                        </m:sSubSup>
                      </m:oMath>
                    </m:oMathPara>
                  </a14:m>
                  <a:endParaRPr lang="zh-CN" altLang="en-US" sz="900" i="1" dirty="0"/>
                </a:p>
              </p:txBody>
            </p:sp>
          </mc:Choice>
          <mc:Fallback xmlns="">
            <p:sp>
              <p:nvSpPr>
                <p:cNvPr id="14" name="文本框 13">
                  <a:extLst>
                    <a:ext uri="{FF2B5EF4-FFF2-40B4-BE49-F238E27FC236}">
                      <a16:creationId xmlns:a16="http://schemas.microsoft.com/office/drawing/2014/main" id="{497F4388-297C-793D-D841-73286020FB46}"/>
                    </a:ext>
                  </a:extLst>
                </p:cNvPr>
                <p:cNvSpPr txBox="1">
                  <a:spLocks noRot="1" noChangeAspect="1" noMove="1" noResize="1" noEditPoints="1" noAdjustHandles="1" noChangeArrowheads="1" noChangeShapeType="1" noTextEdit="1"/>
                </p:cNvSpPr>
                <p:nvPr/>
              </p:nvSpPr>
              <p:spPr>
                <a:xfrm>
                  <a:off x="5931185" y="1935720"/>
                  <a:ext cx="578492" cy="196079"/>
                </a:xfrm>
                <a:prstGeom prst="rect">
                  <a:avLst/>
                </a:prstGeom>
                <a:blipFill>
                  <a:blip r:embed="rId18"/>
                  <a:stretch>
                    <a:fillRect l="-5263" t="-3125" b="-15625"/>
                  </a:stretch>
                </a:blipFill>
              </p:spPr>
              <p:txBody>
                <a:bodyPr/>
                <a:lstStyle/>
                <a:p>
                  <a:r>
                    <a:rPr lang="zh-CN" altLang="en-US">
                      <a:noFill/>
                    </a:rPr>
                    <a:t> </a:t>
                  </a:r>
                </a:p>
              </p:txBody>
            </p:sp>
          </mc:Fallback>
        </mc:AlternateContent>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B92F47CE-67E2-5F60-D622-4D99699905C8}"/>
              </a:ext>
            </a:extLst>
          </p:cNvPr>
          <p:cNvGrpSpPr/>
          <p:nvPr/>
        </p:nvGrpSpPr>
        <p:grpSpPr>
          <a:xfrm>
            <a:off x="486000" y="1055520"/>
            <a:ext cx="6440400" cy="3812400"/>
            <a:chOff x="486000" y="1055520"/>
            <a:chExt cx="6440400" cy="3812400"/>
          </a:xfrm>
        </p:grpSpPr>
        <p:sp>
          <p:nvSpPr>
            <p:cNvPr id="521" name="title"/>
            <p:cNvSpPr/>
            <p:nvPr/>
          </p:nvSpPr>
          <p:spPr>
            <a:xfrm>
              <a:off x="522000" y="1055520"/>
              <a:ext cx="4928400" cy="23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Decoder Distribution Optimizer </a:t>
              </a:r>
              <a:r>
                <a:rPr lang="en-US" sz="900" b="1" dirty="0">
                  <a:latin typeface="Times New Roman" panose="02020603050405020304" pitchFamily="18" charset="0"/>
                  <a:cs typeface="Times New Roman" panose="02020603050405020304" pitchFamily="18" charset="0"/>
                </a:rPr>
                <a:t>(DDO)</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22" name="ddo_panel"/>
            <p:cNvSpPr/>
            <p:nvPr/>
          </p:nvSpPr>
          <p:spPr>
            <a:xfrm>
              <a:off x="486000" y="1397520"/>
              <a:ext cx="6440400" cy="2372400"/>
            </a:xfrm>
            <a:prstGeom prst="roundRect">
              <a:avLst>
                <a:gd name="adj" fmla="val 4500"/>
              </a:avLst>
            </a:prstGeom>
            <a:solidFill>
              <a:srgbClr val="FBF5E9"/>
            </a:solidFill>
            <a:ln w="6480">
              <a:solidFill>
                <a:srgbClr val="B39A60"/>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23" name="ddo_panel_title"/>
            <p:cNvSpPr/>
            <p:nvPr/>
          </p:nvSpPr>
          <p:spPr>
            <a:xfrm>
              <a:off x="576000" y="1462320"/>
              <a:ext cx="44964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Adaptive decoding scale (</a:t>
              </a:r>
              <a:r>
                <a:rPr lang="en-US" sz="900" b="1" i="1" u="none" strike="noStrike" dirty="0" err="1">
                  <a:effectLst/>
                  <a:uFillTx/>
                  <a:latin typeface="Times New Roman" panose="02020603050405020304" pitchFamily="18" charset="0"/>
                  <a:cs typeface="Times New Roman" panose="02020603050405020304" pitchFamily="18" charset="0"/>
                </a:rPr>
                <a:t>i</a:t>
              </a:r>
              <a:r>
                <a:rPr lang="en-US" sz="900" b="1" i="1" u="none" strike="noStrike" dirty="0">
                  <a:effectLst/>
                  <a:uFillTx/>
                  <a:latin typeface="Times New Roman" panose="02020603050405020304" pitchFamily="18" charset="0"/>
                  <a:cs typeface="Times New Roman" panose="02020603050405020304" pitchFamily="18" charset="0"/>
                </a:rPr>
                <a:t> = 1, …, 6</a:t>
              </a:r>
              <a:r>
                <a:rPr lang="en-US" sz="900" b="1" u="none" strike="noStrike" dirty="0">
                  <a:effectLst/>
                  <a:uFillTx/>
                  <a:latin typeface="Times New Roman" panose="02020603050405020304" pitchFamily="18" charset="0"/>
                  <a:cs typeface="Times New Roman" panose="02020603050405020304" pitchFamily="18" charset="0"/>
                </a:rPr>
                <a:t>)</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24" name="initial_box"/>
            <p:cNvSpPr/>
            <p:nvPr/>
          </p:nvSpPr>
          <p:spPr>
            <a:xfrm>
              <a:off x="696960" y="1989000"/>
              <a:ext cx="756720" cy="379080"/>
            </a:xfrm>
            <a:prstGeom prst="roundRect">
              <a:avLst>
                <a:gd name="adj" fmla="val 15000"/>
              </a:avLst>
            </a:prstGeom>
            <a:solidFill>
              <a:srgbClr val="FFFFFF"/>
            </a:solidFill>
            <a:ln w="6480">
              <a:solidFill>
                <a:srgbClr val="B39A6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25" name="initial_box_text"/>
            <p:cNvSpPr/>
            <p:nvPr/>
          </p:nvSpPr>
          <p:spPr>
            <a:xfrm>
              <a:off x="673200" y="1987920"/>
              <a:ext cx="774000" cy="381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Initial box b</a:t>
              </a:r>
              <a:r>
                <a:rPr lang="en-US" sz="850" b="0" i="1" u="none" strike="noStrike" baseline="-25000" dirty="0">
                  <a:effectLst/>
                  <a:uFillTx/>
                  <a:latin typeface="Times New Roman" panose="02020603050405020304" pitchFamily="18" charset="0"/>
                  <a:cs typeface="Times New Roman" panose="02020603050405020304" pitchFamily="18" charset="0"/>
                </a:rPr>
                <a:t>0</a:t>
              </a:r>
              <a:endParaRPr lang="en-US" sz="850" b="0" u="none" strike="noStrike" dirty="0">
                <a:effectLst/>
                <a:uFillTx/>
                <a:latin typeface="Times New Roman" panose="02020603050405020304" pitchFamily="18" charset="0"/>
                <a:cs typeface="Times New Roman" panose="02020603050405020304" pitchFamily="18" charset="0"/>
              </a:endParaRPr>
            </a:p>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w</a:t>
              </a:r>
              <a:r>
                <a:rPr lang="en-US" sz="850" b="0" i="1" u="none" strike="noStrike" baseline="-25000" dirty="0">
                  <a:effectLst/>
                  <a:uFillTx/>
                  <a:latin typeface="Times New Roman" panose="02020603050405020304" pitchFamily="18" charset="0"/>
                  <a:cs typeface="Times New Roman" panose="02020603050405020304" pitchFamily="18" charset="0"/>
                </a:rPr>
                <a:t>0</a:t>
              </a:r>
              <a:r>
                <a:rPr lang="en-US" sz="900" b="0" i="1" u="none" strike="noStrike" dirty="0">
                  <a:effectLst/>
                  <a:uFillTx/>
                  <a:latin typeface="Times New Roman" panose="02020603050405020304" pitchFamily="18" charset="0"/>
                  <a:cs typeface="Times New Roman" panose="02020603050405020304" pitchFamily="18" charset="0"/>
                </a:rPr>
                <a:t>, h</a:t>
              </a:r>
              <a:r>
                <a:rPr lang="en-US" sz="850" b="0" i="1" u="none" strike="noStrike" baseline="-25000" dirty="0">
                  <a:effectLst/>
                  <a:uFillTx/>
                  <a:latin typeface="Times New Roman" panose="02020603050405020304" pitchFamily="18" charset="0"/>
                  <a:cs typeface="Times New Roman" panose="02020603050405020304" pitchFamily="18" charset="0"/>
                </a:rPr>
                <a:t>0</a:t>
              </a:r>
              <a:endParaRPr lang="en-US" sz="850" b="0" i="1" u="none" strike="noStrike" dirty="0">
                <a:effectLst/>
                <a:uFillTx/>
                <a:latin typeface="Times New Roman" panose="02020603050405020304" pitchFamily="18" charset="0"/>
                <a:cs typeface="Times New Roman" panose="02020603050405020304" pitchFamily="18" charset="0"/>
              </a:endParaRPr>
            </a:p>
          </p:txBody>
        </p:sp>
        <p:sp>
          <p:nvSpPr>
            <p:cNvPr id="526" name="scale_branch"/>
            <p:cNvSpPr/>
            <p:nvPr/>
          </p:nvSpPr>
          <p:spPr>
            <a:xfrm>
              <a:off x="1925280" y="1832040"/>
              <a:ext cx="1865520" cy="664920"/>
            </a:xfrm>
            <a:prstGeom prst="roundRect">
              <a:avLst>
                <a:gd name="adj" fmla="val 15000"/>
              </a:avLst>
            </a:prstGeom>
            <a:solidFill>
              <a:srgbClr val="FFF1CC"/>
            </a:solidFill>
            <a:ln w="6480">
              <a:solidFill>
                <a:srgbClr val="99844F"/>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27" name="scale_title"/>
            <p:cNvSpPr/>
            <p:nvPr/>
          </p:nvSpPr>
          <p:spPr>
            <a:xfrm>
              <a:off x="1836000" y="1861920"/>
              <a:ext cx="2012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Box-scale adaptation</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28" name="box_size"/>
                <p:cNvSpPr/>
                <p:nvPr/>
              </p:nvSpPr>
              <p:spPr>
                <a:xfrm>
                  <a:off x="1836000" y="2077920"/>
                  <a:ext cx="20124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s = </a:t>
                  </a:r>
                  <a14:m>
                    <m:oMath xmlns:m="http://schemas.openxmlformats.org/officeDocument/2006/math">
                      <m:rad>
                        <m:radPr>
                          <m:degHide m:val="on"/>
                          <m:ctrlPr>
                            <a:rPr lang="en-US" altLang="zh-CN" sz="900" b="0" i="1" u="none" strike="noStrike" smtClean="0">
                              <a:effectLst/>
                              <a:uFillTx/>
                              <a:latin typeface="Cambria Math" panose="02040503050406030204" pitchFamily="18" charset="0"/>
                              <a:cs typeface="Times New Roman" panose="02020603050405020304" pitchFamily="18" charset="0"/>
                            </a:rPr>
                          </m:ctrlPr>
                        </m:radPr>
                        <m:deg/>
                        <m:e>
                          <m:r>
                            <m:rPr>
                              <m:nor/>
                            </m:rPr>
                            <a:rPr lang="en-US" altLang="zh-CN" sz="900" i="1" dirty="0">
                              <a:latin typeface="Times New Roman" panose="02020603050405020304" pitchFamily="18" charset="0"/>
                              <a:cs typeface="Times New Roman" panose="02020603050405020304" pitchFamily="18" charset="0"/>
                            </a:rPr>
                            <m:t>w</m:t>
                          </m:r>
                          <m:r>
                            <m:rPr>
                              <m:nor/>
                            </m:rPr>
                            <a:rPr lang="en-US" altLang="zh-CN" sz="850" i="1" baseline="-25000" dirty="0">
                              <a:latin typeface="Times New Roman" panose="02020603050405020304" pitchFamily="18" charset="0"/>
                              <a:cs typeface="Times New Roman" panose="02020603050405020304" pitchFamily="18" charset="0"/>
                            </a:rPr>
                            <m:t>0</m:t>
                          </m:r>
                          <m:r>
                            <m:rPr>
                              <m:nor/>
                            </m:rPr>
                            <a:rPr lang="en-US" altLang="zh-CN" sz="900" i="1" dirty="0">
                              <a:latin typeface="Times New Roman" panose="02020603050405020304" pitchFamily="18" charset="0"/>
                              <a:cs typeface="Times New Roman" panose="02020603050405020304" pitchFamily="18" charset="0"/>
                            </a:rPr>
                            <m:t> h</m:t>
                          </m:r>
                          <m:r>
                            <m:rPr>
                              <m:nor/>
                            </m:rPr>
                            <a:rPr lang="en-US" altLang="zh-CN" sz="850" i="1" baseline="-25000" dirty="0">
                              <a:latin typeface="Times New Roman" panose="02020603050405020304" pitchFamily="18" charset="0"/>
                              <a:cs typeface="Times New Roman" panose="02020603050405020304" pitchFamily="18" charset="0"/>
                            </a:rPr>
                            <m:t>0</m:t>
                          </m:r>
                        </m:e>
                      </m:rad>
                    </m:oMath>
                  </a14:m>
                  <a:endParaRPr lang="en-US" sz="9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28" name="box_size"/>
                <p:cNvSpPr>
                  <a:spLocks noRot="1" noChangeAspect="1" noMove="1" noResize="1" noEditPoints="1" noAdjustHandles="1" noChangeArrowheads="1" noChangeShapeType="1" noTextEdit="1"/>
                </p:cNvSpPr>
                <p:nvPr/>
              </p:nvSpPr>
              <p:spPr>
                <a:xfrm>
                  <a:off x="1836000" y="2077920"/>
                  <a:ext cx="2012400" cy="154800"/>
                </a:xfrm>
                <a:prstGeom prst="rect">
                  <a:avLst/>
                </a:prstGeom>
                <a:blipFill>
                  <a:blip r:embed="rId3"/>
                  <a:stretch>
                    <a:fillRect t="-20000" b="-44000"/>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9" name="base_formula"/>
                <p:cNvSpPr/>
                <p:nvPr/>
              </p:nvSpPr>
              <p:spPr>
                <a:xfrm>
                  <a:off x="1836000" y="2315520"/>
                  <a:ext cx="2012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𝑟</m:t>
                          </m:r>
                        </m:e>
                        <m:sub>
                          <m:r>
                            <a:rPr lang="en-US" altLang="zh-CN" sz="900" b="0" i="1" u="none" strike="noStrike" smtClean="0">
                              <a:effectLst/>
                              <a:uFillTx/>
                              <a:latin typeface="Cambria Math" panose="02040503050406030204" pitchFamily="18" charset="0"/>
                              <a:cs typeface="Times New Roman" panose="02020603050405020304" pitchFamily="18" charset="0"/>
                            </a:rPr>
                            <m:t>𝑏𝑎𝑠𝑒</m:t>
                          </m:r>
                        </m:sub>
                      </m:sSub>
                    </m:oMath>
                  </a14:m>
                  <a:r>
                    <a:rPr lang="en-US" sz="900" b="0" i="1" u="none" strike="noStrike" dirty="0">
                      <a:effectLst/>
                      <a:uFillTx/>
                      <a:latin typeface="Times New Roman" panose="02020603050405020304" pitchFamily="18" charset="0"/>
                      <a:cs typeface="Times New Roman" panose="02020603050405020304" pitchFamily="18" charset="0"/>
                    </a:rPr>
                    <a:t>= 4 clip (0.05/(s + </a:t>
                  </a:r>
                  <a:r>
                    <a:rPr lang="el-GR" sz="900" b="0" i="1" u="none" strike="noStrike" dirty="0">
                      <a:effectLst/>
                      <a:uFillTx/>
                      <a:latin typeface="Times New Roman" panose="02020603050405020304" pitchFamily="18" charset="0"/>
                      <a:cs typeface="Times New Roman" panose="02020603050405020304" pitchFamily="18" charset="0"/>
                    </a:rPr>
                    <a:t>ε), 0.6, 1.8)</a:t>
                  </a:r>
                  <a:endParaRPr lang="en-US" sz="9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29" name="base_formula"/>
                <p:cNvSpPr>
                  <a:spLocks noRot="1" noChangeAspect="1" noMove="1" noResize="1" noEditPoints="1" noAdjustHandles="1" noChangeArrowheads="1" noChangeShapeType="1" noTextEdit="1"/>
                </p:cNvSpPr>
                <p:nvPr/>
              </p:nvSpPr>
              <p:spPr>
                <a:xfrm>
                  <a:off x="1836000" y="2315520"/>
                  <a:ext cx="2012400" cy="151200"/>
                </a:xfrm>
                <a:prstGeom prst="rect">
                  <a:avLst/>
                </a:prstGeom>
                <a:blipFill>
                  <a:blip r:embed="rId4"/>
                  <a:stretch>
                    <a:fillRect t="-24000" b="-40000"/>
                  </a:stretch>
                </a:blipFill>
                <a:ln w="0">
                  <a:noFill/>
                </a:ln>
              </p:spPr>
              <p:txBody>
                <a:bodyPr/>
                <a:lstStyle/>
                <a:p>
                  <a:r>
                    <a:rPr lang="zh-CN" altLang="en-US">
                      <a:noFill/>
                    </a:rPr>
                    <a:t> </a:t>
                  </a:r>
                </a:p>
              </p:txBody>
            </p:sp>
          </mc:Fallback>
        </mc:AlternateContent>
        <p:sp>
          <p:nvSpPr>
            <p:cNvPr id="530" name="current_logits"/>
            <p:cNvSpPr/>
            <p:nvPr/>
          </p:nvSpPr>
          <p:spPr>
            <a:xfrm>
              <a:off x="697680" y="2985480"/>
              <a:ext cx="756720" cy="348480"/>
            </a:xfrm>
            <a:prstGeom prst="roundRect">
              <a:avLst>
                <a:gd name="adj" fmla="val 15000"/>
              </a:avLst>
            </a:prstGeom>
            <a:solidFill>
              <a:srgbClr val="FFFFFF"/>
            </a:solidFill>
            <a:ln w="6480">
              <a:solidFill>
                <a:srgbClr val="B39A6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31" name="current_logits_text"/>
                <p:cNvSpPr/>
                <p:nvPr/>
              </p:nvSpPr>
              <p:spPr>
                <a:xfrm>
                  <a:off x="673200" y="2995920"/>
                  <a:ext cx="774000" cy="327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Edge logits</a:t>
                  </a:r>
                </a:p>
                <a:p>
                  <a:pPr algn="ctr" defTabSz="1018080">
                    <a:lnSpc>
                      <a:spcPct val="100000"/>
                    </a:lnSpc>
                  </a:pPr>
                  <a14:m>
                    <m:oMathPara xmlns:m="http://schemas.openxmlformats.org/officeDocument/2006/math">
                      <m:oMath>
                        <m:sSub>
                          <m:sSubPr>
                            <m:ctrlPr>
                              <a:rPr lang="en-US" altLang="zh-CN" sz="900" i="1" dirty="0">
                                <a:latin typeface="Times New Roman" panose="02020603050405020304" pitchFamily="18" charset="0"/>
                                <a:cs typeface="Times New Roman" panose="02020603050405020304" pitchFamily="18" charset="0"/>
                              </a:rPr>
                            </m:ctrlPr>
                          </m:sSubPr>
                          <m:e>
                            <m:r>
                              <m:rPr>
                                <m:nor/>
                              </m:rPr>
                              <a:rPr lang="en-US" altLang="zh-CN" sz="900" i="1" dirty="0">
                                <a:latin typeface="Times New Roman" panose="02020603050405020304" pitchFamily="18" charset="0"/>
                                <a:cs typeface="Times New Roman" panose="02020603050405020304" pitchFamily="18" charset="0"/>
                              </a:rPr>
                              <m:t>z</m:t>
                            </m:r>
                          </m:e>
                          <m:sub>
                            <m:r>
                              <m:rPr>
                                <m:nor/>
                              </m:rPr>
                              <a:rPr lang="en-US" altLang="zh-CN" sz="900" i="1" baseline="-25000" dirty="0">
                                <a:latin typeface="Times New Roman" panose="02020603050405020304" pitchFamily="18" charset="0"/>
                                <a:cs typeface="Times New Roman" panose="02020603050405020304" pitchFamily="18" charset="0"/>
                              </a:rPr>
                              <m:t>i</m:t>
                            </m:r>
                          </m:sub>
                        </m:sSub>
                      </m:oMath>
                    </m:oMathPara>
                  </a14:m>
                  <a:endParaRPr lang="en-US" sz="85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31" name="current_logits_text"/>
                <p:cNvSpPr>
                  <a:spLocks noRot="1" noChangeAspect="1" noMove="1" noResize="1" noEditPoints="1" noAdjustHandles="1" noChangeArrowheads="1" noChangeShapeType="1" noTextEdit="1"/>
                </p:cNvSpPr>
                <p:nvPr/>
              </p:nvSpPr>
              <p:spPr>
                <a:xfrm>
                  <a:off x="673200" y="2995920"/>
                  <a:ext cx="774000" cy="327600"/>
                </a:xfrm>
                <a:prstGeom prst="rect">
                  <a:avLst/>
                </a:prstGeom>
                <a:blipFill>
                  <a:blip r:embed="rId5"/>
                  <a:stretch>
                    <a:fillRect t="-3704" b="-7407"/>
                  </a:stretch>
                </a:blipFill>
                <a:ln w="0">
                  <a:noFill/>
                </a:ln>
              </p:spPr>
              <p:txBody>
                <a:bodyPr/>
                <a:lstStyle/>
                <a:p>
                  <a:r>
                    <a:rPr lang="zh-CN" altLang="en-US">
                      <a:noFill/>
                    </a:rPr>
                    <a:t> </a:t>
                  </a:r>
                </a:p>
              </p:txBody>
            </p:sp>
          </mc:Fallback>
        </mc:AlternateContent>
        <p:sp>
          <p:nvSpPr>
            <p:cNvPr id="532" name="softmax"/>
            <p:cNvSpPr/>
            <p:nvPr/>
          </p:nvSpPr>
          <p:spPr>
            <a:xfrm>
              <a:off x="1763280" y="2992680"/>
              <a:ext cx="677160" cy="348480"/>
            </a:xfrm>
            <a:prstGeom prst="roundRect">
              <a:avLst>
                <a:gd name="adj" fmla="val 15000"/>
              </a:avLst>
            </a:prstGeom>
            <a:solidFill>
              <a:srgbClr val="FFFFFF"/>
            </a:solidFill>
            <a:ln w="6480">
              <a:solidFill>
                <a:srgbClr val="B39A6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33" name="softmax_formula"/>
                <p:cNvSpPr/>
                <p:nvPr/>
              </p:nvSpPr>
              <p:spPr>
                <a:xfrm>
                  <a:off x="1746000" y="3028320"/>
                  <a:ext cx="680400" cy="277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𝑝</m:t>
                          </m:r>
                        </m:e>
                        <m:sub>
                          <m:r>
                            <a:rPr lang="en-US" altLang="zh-CN" sz="900" b="0" i="1" smtClean="0">
                              <a:latin typeface="Cambria Math" panose="02040503050406030204" pitchFamily="18" charset="0"/>
                              <a:cs typeface="Times New Roman" panose="02020603050405020304" pitchFamily="18" charset="0"/>
                            </a:rPr>
                            <m:t>𝑖</m:t>
                          </m:r>
                        </m:sub>
                      </m:sSub>
                    </m:oMath>
                  </a14:m>
                  <a:r>
                    <a:rPr lang="en-US" sz="900" b="0" i="1" u="none" strike="noStrike" dirty="0">
                      <a:effectLst/>
                      <a:uFillTx/>
                      <a:latin typeface="Times New Roman" panose="02020603050405020304" pitchFamily="18" charset="0"/>
                      <a:cs typeface="Times New Roman" panose="02020603050405020304" pitchFamily="18" charset="0"/>
                    </a:rPr>
                    <a:t> =</a:t>
                  </a:r>
                </a:p>
                <a:p>
                  <a:pPr algn="ctr" defTabSz="1018080">
                    <a:lnSpc>
                      <a:spcPct val="100000"/>
                    </a:lnSpc>
                  </a:pPr>
                  <a:r>
                    <a:rPr lang="en-US" sz="900" b="0" i="1" u="none" strike="noStrike" dirty="0" err="1">
                      <a:effectLst/>
                      <a:uFillTx/>
                      <a:latin typeface="Times New Roman" panose="02020603050405020304" pitchFamily="18" charset="0"/>
                      <a:cs typeface="Times New Roman" panose="02020603050405020304" pitchFamily="18" charset="0"/>
                    </a:rPr>
                    <a:t>Softmax</a:t>
                  </a:r>
                  <a:r>
                    <a:rPr lang="en-US" sz="900" b="0" i="1" u="none" strike="noStrike" dirty="0">
                      <a:effectLst/>
                      <a:uFillTx/>
                      <a:latin typeface="Times New Roman" panose="02020603050405020304" pitchFamily="18" charset="0"/>
                      <a:cs typeface="Times New Roman" panose="02020603050405020304" pitchFamily="18" charset="0"/>
                    </a:rPr>
                    <a:t> (z</a:t>
                  </a:r>
                  <a:r>
                    <a:rPr lang="en-US" sz="850" b="0" i="1" u="none" strike="noStrike" baseline="-25000" dirty="0">
                      <a:effectLst/>
                      <a:uFillTx/>
                      <a:latin typeface="Times New Roman" panose="02020603050405020304" pitchFamily="18" charset="0"/>
                      <a:cs typeface="Times New Roman" panose="02020603050405020304" pitchFamily="18" charset="0"/>
                    </a:rPr>
                    <a:t>i</a:t>
                  </a:r>
                  <a:r>
                    <a:rPr lang="en-US" sz="900" b="0" i="1"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533" name="softmax_formula"/>
                <p:cNvSpPr>
                  <a:spLocks noRot="1" noChangeAspect="1" noMove="1" noResize="1" noEditPoints="1" noAdjustHandles="1" noChangeArrowheads="1" noChangeShapeType="1" noTextEdit="1"/>
                </p:cNvSpPr>
                <p:nvPr/>
              </p:nvSpPr>
              <p:spPr>
                <a:xfrm>
                  <a:off x="1746000" y="3028320"/>
                  <a:ext cx="680400" cy="277200"/>
                </a:xfrm>
                <a:prstGeom prst="rect">
                  <a:avLst/>
                </a:prstGeom>
                <a:blipFill>
                  <a:blip r:embed="rId6"/>
                  <a:stretch>
                    <a:fillRect t="-15556" b="-26667"/>
                  </a:stretch>
                </a:blipFill>
                <a:ln w="0">
                  <a:noFill/>
                </a:ln>
              </p:spPr>
              <p:txBody>
                <a:bodyPr/>
                <a:lstStyle/>
                <a:p>
                  <a:r>
                    <a:rPr lang="zh-CN" altLang="en-US">
                      <a:noFill/>
                    </a:rPr>
                    <a:t> </a:t>
                  </a:r>
                </a:p>
              </p:txBody>
            </p:sp>
          </mc:Fallback>
        </mc:AlternateContent>
        <p:sp>
          <p:nvSpPr>
            <p:cNvPr id="534" name="flatness"/>
            <p:cNvSpPr/>
            <p:nvPr/>
          </p:nvSpPr>
          <p:spPr>
            <a:xfrm>
              <a:off x="2712600" y="2759040"/>
              <a:ext cx="1226880" cy="670320"/>
            </a:xfrm>
            <a:prstGeom prst="roundRect">
              <a:avLst>
                <a:gd name="adj" fmla="val 15000"/>
              </a:avLst>
            </a:prstGeom>
            <a:solidFill>
              <a:srgbClr val="FFF1CC"/>
            </a:solidFill>
            <a:ln w="6480">
              <a:solidFill>
                <a:srgbClr val="99844F"/>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35" name="flatness_title"/>
            <p:cNvSpPr/>
            <p:nvPr/>
          </p:nvSpPr>
          <p:spPr>
            <a:xfrm>
              <a:off x="2754000" y="2794320"/>
              <a:ext cx="1112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spc="-17">
                  <a:effectLst/>
                  <a:uFillTx/>
                  <a:latin typeface="Times New Roman" panose="02020603050405020304" pitchFamily="18" charset="0"/>
                  <a:cs typeface="Times New Roman" panose="02020603050405020304" pitchFamily="18" charset="0"/>
                </a:rPr>
                <a:t>Distribution flatness</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36" name="flatness_formula"/>
                <p:cNvSpPr/>
                <p:nvPr/>
              </p:nvSpPr>
              <p:spPr>
                <a:xfrm>
                  <a:off x="2751840" y="2927980"/>
                  <a:ext cx="1187640" cy="2335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𝑓</m:t>
                          </m:r>
                        </m:e>
                        <m:sub>
                          <m:r>
                            <a:rPr lang="en-US" altLang="zh-CN" sz="900" i="1">
                              <a:latin typeface="Cambria Math" panose="02040503050406030204" pitchFamily="18" charset="0"/>
                              <a:cs typeface="Times New Roman" panose="02020603050405020304" pitchFamily="18" charset="0"/>
                            </a:rPr>
                            <m:t>𝑖</m:t>
                          </m:r>
                        </m:sub>
                      </m:sSub>
                      <m:r>
                        <a:rPr lang="en-US" altLang="zh-CN" sz="900" i="1">
                          <a:latin typeface="Cambria Math" panose="02040503050406030204" pitchFamily="18" charset="0"/>
                          <a:cs typeface="Times New Roman" panose="02020603050405020304" pitchFamily="18" charset="0"/>
                        </a:rPr>
                        <m:t> </m:t>
                      </m:r>
                    </m:oMath>
                  </a14:m>
                  <a:r>
                    <a:rPr lang="en-US" sz="900" b="0" u="none" strike="noStrike" spc="-17" dirty="0">
                      <a:effectLst/>
                      <a:uFillTx/>
                      <a:latin typeface="Times New Roman" panose="02020603050405020304" pitchFamily="18" charset="0"/>
                      <a:cs typeface="Times New Roman" panose="02020603050405020304" pitchFamily="18" charset="0"/>
                    </a:rPr>
                    <a:t>= </a:t>
                  </a:r>
                  <a:r>
                    <a:rPr lang="en-US" sz="900" b="0" u="none" strike="noStrike" spc="-17" dirty="0" err="1">
                      <a:effectLst/>
                      <a:uFillTx/>
                      <a:latin typeface="Times New Roman" panose="02020603050405020304" pitchFamily="18" charset="0"/>
                      <a:cs typeface="Times New Roman" panose="02020603050405020304" pitchFamily="18" charset="0"/>
                    </a:rPr>
                    <a:t>mean</a:t>
                  </a:r>
                  <a:r>
                    <a:rPr lang="en-US" sz="850" b="0" i="1" u="none" strike="noStrike" spc="-17" baseline="-25000" dirty="0" err="1">
                      <a:effectLst/>
                      <a:uFillTx/>
                      <a:latin typeface="Times New Roman" panose="02020603050405020304" pitchFamily="18" charset="0"/>
                      <a:cs typeface="Times New Roman" panose="02020603050405020304" pitchFamily="18" charset="0"/>
                    </a:rPr>
                    <a:t>edges</a:t>
                  </a:r>
                  <a:r>
                    <a:rPr lang="en-US" sz="900" b="0" u="none" strike="noStrike" spc="-17" dirty="0">
                      <a:effectLst/>
                      <a:uFillTx/>
                      <a:latin typeface="Times New Roman" panose="02020603050405020304" pitchFamily="18" charset="0"/>
                      <a:cs typeface="Times New Roman" panose="02020603050405020304" pitchFamily="18" charset="0"/>
                    </a:rPr>
                    <a:t>(1 − </a:t>
                  </a:r>
                  <a:r>
                    <a:rPr lang="en-US" sz="900" b="0" u="none" strike="noStrike" spc="-17" dirty="0" err="1">
                      <a:effectLst/>
                      <a:uFillTx/>
                      <a:latin typeface="Times New Roman" panose="02020603050405020304" pitchFamily="18" charset="0"/>
                      <a:cs typeface="Times New Roman" panose="02020603050405020304" pitchFamily="18" charset="0"/>
                    </a:rPr>
                    <a:t>Σ</a:t>
                  </a:r>
                  <a:r>
                    <a:rPr lang="en-US" sz="850" b="0" i="1" u="none" strike="noStrike" spc="-17" baseline="-25000" dirty="0" err="1">
                      <a:effectLst/>
                      <a:uFillTx/>
                      <a:latin typeface="Times New Roman" panose="02020603050405020304" pitchFamily="18" charset="0"/>
                      <a:cs typeface="Times New Roman" panose="02020603050405020304" pitchFamily="18" charset="0"/>
                    </a:rPr>
                    <a:t>n</a:t>
                  </a:r>
                  <a:r>
                    <a:rPr lang="en-US" sz="850" b="0" i="1" u="none" strike="noStrike" spc="-17" baseline="-25000" dirty="0">
                      <a:effectLst/>
                      <a:uFillTx/>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altLang="zh-CN" sz="900" i="1">
                              <a:latin typeface="Cambria Math" panose="02040503050406030204" pitchFamily="18" charset="0"/>
                            </a:rPr>
                          </m:ctrlPr>
                        </m:sSubSupPr>
                        <m:e>
                          <m:r>
                            <a:rPr lang="en-US" altLang="zh-CN" sz="900" i="1">
                              <a:latin typeface="Cambria Math" panose="02040503050406030204" pitchFamily="18" charset="0"/>
                            </a:rPr>
                            <m:t>𝑝</m:t>
                          </m:r>
                        </m:e>
                        <m:sub>
                          <m:r>
                            <a:rPr lang="en-US" altLang="zh-CN" sz="900" i="1">
                              <a:latin typeface="Cambria Math" panose="02040503050406030204" pitchFamily="18" charset="0"/>
                            </a:rPr>
                            <m:t>𝑖</m:t>
                          </m:r>
                          <m:r>
                            <a:rPr lang="en-US" altLang="zh-CN" sz="900" i="1">
                              <a:latin typeface="Cambria Math" panose="02040503050406030204" pitchFamily="18" charset="0"/>
                            </a:rPr>
                            <m:t>,</m:t>
                          </m:r>
                          <m:r>
                            <a:rPr lang="en-US" altLang="zh-CN" sz="900" i="1">
                              <a:latin typeface="Cambria Math" panose="02040503050406030204" pitchFamily="18" charset="0"/>
                            </a:rPr>
                            <m:t>𝑛</m:t>
                          </m:r>
                        </m:sub>
                        <m:sup>
                          <m:r>
                            <a:rPr lang="en-US" altLang="zh-CN" sz="900" i="1">
                              <a:latin typeface="Cambria Math" panose="02040503050406030204" pitchFamily="18" charset="0"/>
                            </a:rPr>
                            <m:t>2</m:t>
                          </m:r>
                        </m:sup>
                      </m:sSubSup>
                    </m:oMath>
                  </a14:m>
                  <a:r>
                    <a:rPr lang="en-US" sz="900" b="0" u="none" strike="noStrike" spc="-17" dirty="0">
                      <a:effectLst/>
                      <a:uFillTx/>
                      <a:latin typeface="Times New Roman" panose="02020603050405020304" pitchFamily="18" charset="0"/>
                      <a:cs typeface="Times New Roman" panose="02020603050405020304" pitchFamily="18" charset="0"/>
                    </a:rPr>
                    <a:t>)</a:t>
                  </a:r>
                  <a:endParaRPr lang="en-US" sz="90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36" name="flatness_formula"/>
                <p:cNvSpPr>
                  <a:spLocks noRot="1" noChangeAspect="1" noMove="1" noResize="1" noEditPoints="1" noAdjustHandles="1" noChangeArrowheads="1" noChangeShapeType="1" noTextEdit="1"/>
                </p:cNvSpPr>
                <p:nvPr/>
              </p:nvSpPr>
              <p:spPr>
                <a:xfrm>
                  <a:off x="2751840" y="2927980"/>
                  <a:ext cx="1187640" cy="233540"/>
                </a:xfrm>
                <a:prstGeom prst="rect">
                  <a:avLst/>
                </a:prstGeom>
                <a:blipFill>
                  <a:blip r:embed="rId7"/>
                  <a:stretch>
                    <a:fillRect l="-2051" r="-3590" b="-7692"/>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7" name="flat_norm"/>
                <p:cNvSpPr/>
                <p:nvPr/>
              </p:nvSpPr>
              <p:spPr>
                <a:xfrm>
                  <a:off x="2754000" y="3247920"/>
                  <a:ext cx="1112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acc>
                        <m:accPr>
                          <m:chr m:val="̂"/>
                          <m:ctrlPr>
                            <a:rPr lang="en-US" altLang="zh-CN" sz="900" i="1">
                              <a:latin typeface="Cambria Math" panose="02040503050406030204" pitchFamily="18" charset="0"/>
                              <a:cs typeface="Times New Roman" panose="02020603050405020304" pitchFamily="18" charset="0"/>
                            </a:rPr>
                          </m:ctrlPr>
                        </m:accPr>
                        <m:e>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𝑓</m:t>
                              </m:r>
                            </m:e>
                            <m:sub>
                              <m:r>
                                <a:rPr lang="en-US" altLang="zh-CN" sz="900" i="1">
                                  <a:latin typeface="Cambria Math" panose="02040503050406030204" pitchFamily="18" charset="0"/>
                                  <a:cs typeface="Times New Roman" panose="02020603050405020304" pitchFamily="18" charset="0"/>
                                </a:rPr>
                                <m:t>𝑖</m:t>
                              </m:r>
                            </m:sub>
                          </m:sSub>
                        </m:e>
                      </m:acc>
                      <m:r>
                        <a:rPr lang="en-US" altLang="zh-CN" sz="900" i="1">
                          <a:latin typeface="Cambria Math" panose="02040503050406030204" pitchFamily="18" charset="0"/>
                          <a:cs typeface="Times New Roman" panose="02020603050405020304" pitchFamily="18" charset="0"/>
                        </a:rPr>
                        <m:t> </m:t>
                      </m:r>
                    </m:oMath>
                  </a14:m>
                  <a:r>
                    <a:rPr lang="en-US"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𝑓</m:t>
                          </m:r>
                        </m:e>
                        <m:sub>
                          <m:r>
                            <a:rPr lang="en-US" altLang="zh-CN" sz="900" i="1">
                              <a:latin typeface="Cambria Math" panose="02040503050406030204" pitchFamily="18" charset="0"/>
                              <a:cs typeface="Times New Roman" panose="02020603050405020304" pitchFamily="18" charset="0"/>
                            </a:rPr>
                            <m:t>𝑖</m:t>
                          </m:r>
                        </m:sub>
                      </m:sSub>
                      <m:r>
                        <a:rPr lang="en-US" altLang="zh-CN" sz="900" i="1">
                          <a:latin typeface="Cambria Math" panose="02040503050406030204" pitchFamily="18" charset="0"/>
                          <a:cs typeface="Times New Roman" panose="02020603050405020304" pitchFamily="18" charset="0"/>
                        </a:rPr>
                        <m:t> </m:t>
                      </m:r>
                    </m:oMath>
                  </a14:m>
                  <a:r>
                    <a:rPr lang="en-US" sz="900" b="0" i="1" u="none" strike="noStrike" dirty="0">
                      <a:effectLst/>
                      <a:uFillTx/>
                      <a:latin typeface="Times New Roman" panose="02020603050405020304" pitchFamily="18" charset="0"/>
                      <a:cs typeface="Times New Roman" panose="02020603050405020304" pitchFamily="18" charset="0"/>
                    </a:rPr>
                    <a:t>/ max(</a:t>
                  </a:r>
                  <a14:m>
                    <m:oMath xmlns:m="http://schemas.openxmlformats.org/officeDocument/2006/math">
                      <m:sSub>
                        <m:sSubPr>
                          <m:ctrlPr>
                            <a:rPr lang="en-US" altLang="zh-CN" sz="900" b="0" i="1" u="none" strike="noStrike" smtClean="0">
                              <a:effectLst/>
                              <a:uFillTx/>
                              <a:latin typeface="Cambria Math" panose="02040503050406030204" pitchFamily="18" charset="0"/>
                              <a:cs typeface="Times New Roman" panose="02020603050405020304" pitchFamily="18" charset="0"/>
                            </a:rPr>
                          </m:ctrlPr>
                        </m:sSubPr>
                        <m:e>
                          <m:r>
                            <a:rPr lang="en-US" altLang="zh-CN" sz="900" b="0" i="1" u="none" strike="noStrike" smtClean="0">
                              <a:effectLst/>
                              <a:uFillTx/>
                              <a:latin typeface="Cambria Math" panose="02040503050406030204" pitchFamily="18" charset="0"/>
                              <a:cs typeface="Times New Roman" panose="02020603050405020304" pitchFamily="18" charset="0"/>
                            </a:rPr>
                            <m:t>𝑚𝑎𝑥</m:t>
                          </m:r>
                        </m:e>
                        <m:sub>
                          <m:r>
                            <a:rPr lang="en-US" altLang="zh-CN" sz="900" b="0" i="1" u="none" strike="noStrike" smtClean="0">
                              <a:effectLst/>
                              <a:uFillTx/>
                              <a:latin typeface="Cambria Math" panose="02040503050406030204" pitchFamily="18" charset="0"/>
                              <a:cs typeface="Times New Roman" panose="02020603050405020304" pitchFamily="18" charset="0"/>
                            </a:rPr>
                            <m:t>𝑞</m:t>
                          </m:r>
                        </m:sub>
                      </m:sSub>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𝑓</m:t>
                          </m:r>
                        </m:e>
                        <m:sub>
                          <m:r>
                            <a:rPr lang="en-US" altLang="zh-CN" sz="900" i="1">
                              <a:latin typeface="Cambria Math" panose="02040503050406030204" pitchFamily="18" charset="0"/>
                              <a:cs typeface="Times New Roman" panose="02020603050405020304" pitchFamily="18" charset="0"/>
                            </a:rPr>
                            <m:t>𝑖</m:t>
                          </m:r>
                        </m:sub>
                      </m:sSub>
                    </m:oMath>
                  </a14:m>
                  <a:r>
                    <a:rPr lang="en-US" sz="900" b="0" i="1" u="none" strike="noStrike" dirty="0">
                      <a:effectLst/>
                      <a:uFillTx/>
                      <a:latin typeface="Times New Roman" panose="02020603050405020304" pitchFamily="18" charset="0"/>
                      <a:cs typeface="Times New Roman" panose="02020603050405020304" pitchFamily="18" charset="0"/>
                    </a:rPr>
                    <a:t>, </a:t>
                  </a:r>
                  <a:r>
                    <a:rPr lang="el-GR" sz="900" b="0" i="1" u="none" strike="noStrike" dirty="0">
                      <a:effectLst/>
                      <a:uFillTx/>
                      <a:latin typeface="Times New Roman" panose="02020603050405020304" pitchFamily="18" charset="0"/>
                      <a:cs typeface="Times New Roman" panose="02020603050405020304" pitchFamily="18" charset="0"/>
                    </a:rPr>
                    <a:t>ε)</a:t>
                  </a:r>
                  <a:endParaRPr lang="en-US" sz="9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37" name="flat_norm"/>
                <p:cNvSpPr>
                  <a:spLocks noRot="1" noChangeAspect="1" noMove="1" noResize="1" noEditPoints="1" noAdjustHandles="1" noChangeArrowheads="1" noChangeShapeType="1" noTextEdit="1"/>
                </p:cNvSpPr>
                <p:nvPr/>
              </p:nvSpPr>
              <p:spPr>
                <a:xfrm>
                  <a:off x="2754000" y="3247920"/>
                  <a:ext cx="1112400" cy="151200"/>
                </a:xfrm>
                <a:prstGeom prst="rect">
                  <a:avLst/>
                </a:prstGeom>
                <a:blipFill>
                  <a:blip r:embed="rId8"/>
                  <a:stretch>
                    <a:fillRect l="-4945" t="-28000" r="-6593" b="-36000"/>
                  </a:stretch>
                </a:blipFill>
                <a:ln w="0">
                  <a:noFill/>
                </a:ln>
              </p:spPr>
              <p:txBody>
                <a:bodyPr/>
                <a:lstStyle/>
                <a:p>
                  <a:r>
                    <a:rPr lang="zh-CN" altLang="en-US">
                      <a:noFill/>
                    </a:rPr>
                    <a:t> </a:t>
                  </a:r>
                </a:p>
              </p:txBody>
            </p:sp>
          </mc:Fallback>
        </mc:AlternateContent>
        <p:sp>
          <p:nvSpPr>
            <p:cNvPr id="538" name="prob_split"/>
            <p:cNvSpPr>
              <a:spLocks/>
            </p:cNvSpPr>
            <p:nvPr/>
          </p:nvSpPr>
          <p:spPr>
            <a:xfrm>
              <a:off x="2579760" y="3149280"/>
              <a:ext cx="25200" cy="25200"/>
            </a:xfrm>
            <a:prstGeom prst="ellipse">
              <a:avLst/>
            </a:prstGeom>
            <a:solidFill>
              <a:srgbClr val="B39A60"/>
            </a:solidFill>
            <a:ln>
              <a:noFill/>
            </a:ln>
          </p:spPr>
          <p:style>
            <a:lnRef idx="2">
              <a:schemeClr val="accent1">
                <a:shade val="15000"/>
              </a:schemeClr>
            </a:lnRef>
            <a:fillRef idx="1">
              <a:schemeClr val="accent1"/>
            </a:fillRef>
            <a:effectRef idx="0">
              <a:schemeClr val="accent1"/>
            </a:effectRef>
            <a:fontRef idx="minor"/>
          </p:style>
          <p:txBody>
            <a:bodyPr lIns="12600" tIns="-27360" rIns="12600" bIns="-273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39" name="scale_combine"/>
            <p:cNvSpPr/>
            <p:nvPr/>
          </p:nvSpPr>
          <p:spPr>
            <a:xfrm>
              <a:off x="4227480" y="2067840"/>
              <a:ext cx="1077480" cy="1181880"/>
            </a:xfrm>
            <a:prstGeom prst="roundRect">
              <a:avLst>
                <a:gd name="adj" fmla="val 15000"/>
              </a:avLst>
            </a:prstGeom>
            <a:solidFill>
              <a:schemeClr val="bg1"/>
            </a:solidFill>
            <a:ln w="6480">
              <a:solidFill>
                <a:srgbClr val="99844F"/>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40" name="combine_title"/>
            <p:cNvSpPr/>
            <p:nvPr/>
          </p:nvSpPr>
          <p:spPr>
            <a:xfrm>
              <a:off x="4260960" y="2081520"/>
              <a:ext cx="978840" cy="18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Scale modulation</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41" name="combine_formula"/>
                <p:cNvSpPr/>
                <p:nvPr/>
              </p:nvSpPr>
              <p:spPr>
                <a:xfrm>
                  <a:off x="4266000" y="2423520"/>
                  <a:ext cx="968400" cy="266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b="0" i="1" u="none" strike="noStrike" smtClean="0">
                              <a:effectLst/>
                              <a:uFillTx/>
                              <a:latin typeface="Cambria Math" panose="02040503050406030204" pitchFamily="18" charset="0"/>
                              <a:cs typeface="Times New Roman" panose="02020603050405020304" pitchFamily="18" charset="0"/>
                            </a:rPr>
                          </m:ctrlPr>
                        </m:sSubPr>
                        <m:e>
                          <m:r>
                            <a:rPr lang="en-US" altLang="zh-CN" sz="900" b="0" i="1" u="none" strike="noStrike" smtClean="0">
                              <a:effectLst/>
                              <a:uFillTx/>
                              <a:latin typeface="Cambria Math" panose="02040503050406030204" pitchFamily="18" charset="0"/>
                              <a:cs typeface="Times New Roman" panose="02020603050405020304" pitchFamily="18" charset="0"/>
                            </a:rPr>
                            <m:t>𝑟</m:t>
                          </m:r>
                        </m:e>
                        <m:sub>
                          <m:r>
                            <a:rPr lang="en-US" altLang="zh-CN" sz="900" b="0" i="1" u="none" strike="noStrike" smtClean="0">
                              <a:effectLst/>
                              <a:uFillTx/>
                              <a:latin typeface="Cambria Math" panose="02040503050406030204" pitchFamily="18" charset="0"/>
                              <a:cs typeface="Times New Roman" panose="02020603050405020304" pitchFamily="18" charset="0"/>
                            </a:rPr>
                            <m:t>𝑖</m:t>
                          </m:r>
                        </m:sub>
                      </m:sSub>
                    </m:oMath>
                  </a14:m>
                  <a:r>
                    <a:rPr lang="it-IT" sz="900" b="0"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𝑟</m:t>
                          </m:r>
                        </m:e>
                        <m:sub>
                          <m:r>
                            <a:rPr lang="en-US" altLang="zh-CN" sz="900" i="1">
                              <a:latin typeface="Cambria Math" panose="02040503050406030204" pitchFamily="18" charset="0"/>
                              <a:cs typeface="Times New Roman" panose="02020603050405020304" pitchFamily="18" charset="0"/>
                            </a:rPr>
                            <m:t>𝑏𝑎𝑠𝑒</m:t>
                          </m:r>
                        </m:sub>
                      </m:sSub>
                    </m:oMath>
                  </a14:m>
                  <a:r>
                    <a:rPr lang="it-IT" sz="900" b="0" u="none" strike="noStrike" dirty="0">
                      <a:effectLst/>
                      <a:uFillTx/>
                      <a:latin typeface="Times New Roman" panose="02020603050405020304" pitchFamily="18" charset="0"/>
                      <a:cs typeface="Times New Roman" panose="02020603050405020304" pitchFamily="18" charset="0"/>
                    </a:rPr>
                    <a:t>(1 + 0.15 </a:t>
                  </a:r>
                  <a14:m>
                    <m:oMath xmlns:m="http://schemas.openxmlformats.org/officeDocument/2006/math">
                      <m:acc>
                        <m:accPr>
                          <m:chr m:val="̂"/>
                          <m:ctrlPr>
                            <a:rPr lang="en-US" altLang="zh-CN" sz="900" i="1">
                              <a:latin typeface="Cambria Math" panose="02040503050406030204" pitchFamily="18" charset="0"/>
                              <a:cs typeface="Times New Roman" panose="02020603050405020304" pitchFamily="18" charset="0"/>
                            </a:rPr>
                          </m:ctrlPr>
                        </m:accPr>
                        <m:e>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𝑓</m:t>
                              </m:r>
                            </m:e>
                            <m:sub>
                              <m:r>
                                <a:rPr lang="en-US" altLang="zh-CN" sz="900" i="1">
                                  <a:latin typeface="Cambria Math" panose="02040503050406030204" pitchFamily="18" charset="0"/>
                                  <a:cs typeface="Times New Roman" panose="02020603050405020304" pitchFamily="18" charset="0"/>
                                </a:rPr>
                                <m:t>𝑖</m:t>
                              </m:r>
                            </m:sub>
                          </m:sSub>
                        </m:e>
                      </m:acc>
                    </m:oMath>
                  </a14:m>
                  <a:r>
                    <a:rPr lang="it-IT" sz="900" b="0" u="none" strike="noStrike" dirty="0">
                      <a:effectLst/>
                      <a:uFillTx/>
                      <a:latin typeface="Times New Roman" panose="02020603050405020304" pitchFamily="18" charset="0"/>
                      <a:cs typeface="Times New Roman" panose="02020603050405020304" pitchFamily="18" charset="0"/>
                    </a:rPr>
                    <a:t> )</a:t>
                  </a:r>
                  <a:endParaRPr lang="en-US" sz="90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41" name="combine_formula"/>
                <p:cNvSpPr>
                  <a:spLocks noRot="1" noChangeAspect="1" noMove="1" noResize="1" noEditPoints="1" noAdjustHandles="1" noChangeArrowheads="1" noChangeShapeType="1" noTextEdit="1"/>
                </p:cNvSpPr>
                <p:nvPr/>
              </p:nvSpPr>
              <p:spPr>
                <a:xfrm>
                  <a:off x="4266000" y="2423520"/>
                  <a:ext cx="968400" cy="266400"/>
                </a:xfrm>
                <a:prstGeom prst="rect">
                  <a:avLst/>
                </a:prstGeom>
                <a:blipFill>
                  <a:blip r:embed="rId9"/>
                  <a:stretch>
                    <a:fillRect l="-4403" r="-19497" b="-4651"/>
                  </a:stretch>
                </a:blipFill>
                <a:ln w="0">
                  <a:noFill/>
                </a:ln>
              </p:spPr>
              <p:txBody>
                <a:bodyPr/>
                <a:lstStyle/>
                <a:p>
                  <a:r>
                    <a:rPr lang="zh-CN" altLang="en-US">
                      <a:noFill/>
                    </a:rPr>
                    <a:t> </a:t>
                  </a:r>
                </a:p>
              </p:txBody>
            </p:sp>
          </mc:Fallback>
        </mc:AlternateContent>
        <p:sp>
          <p:nvSpPr>
            <p:cNvPr id="542" name="combine_scope"/>
            <p:cNvSpPr/>
            <p:nvPr/>
          </p:nvSpPr>
          <p:spPr>
            <a:xfrm>
              <a:off x="4266000" y="2800440"/>
              <a:ext cx="968400" cy="41256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One scale per</a:t>
              </a: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query shared by</a:t>
              </a: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four edges</a:t>
              </a:r>
            </a:p>
          </p:txBody>
        </p:sp>
        <p:sp>
          <p:nvSpPr>
            <p:cNvPr id="543" name="scale_output"/>
            <p:cNvSpPr/>
            <p:nvPr/>
          </p:nvSpPr>
          <p:spPr>
            <a:xfrm>
              <a:off x="5570640" y="2456640"/>
              <a:ext cx="946800" cy="388440"/>
            </a:xfrm>
            <a:prstGeom prst="roundRect">
              <a:avLst>
                <a:gd name="adj" fmla="val 15000"/>
              </a:avLst>
            </a:prstGeom>
            <a:solidFill>
              <a:srgbClr val="FFFFFF"/>
            </a:solidFill>
            <a:ln w="6480">
              <a:solidFill>
                <a:srgbClr val="B39A6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44" name="scale_output_title"/>
            <p:cNvSpPr/>
            <p:nvPr/>
          </p:nvSpPr>
          <p:spPr>
            <a:xfrm>
              <a:off x="5533200" y="2491920"/>
              <a:ext cx="9900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Adaptive scale</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45" name="scale_output_formula"/>
                <p:cNvSpPr/>
                <p:nvPr/>
              </p:nvSpPr>
              <p:spPr>
                <a:xfrm>
                  <a:off x="5533200" y="2664720"/>
                  <a:ext cx="990000" cy="149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𝑟</m:t>
                          </m:r>
                        </m:e>
                        <m:sub>
                          <m:r>
                            <a:rPr lang="en-US" altLang="zh-CN" sz="900" i="1">
                              <a:latin typeface="Cambria Math" panose="02040503050406030204" pitchFamily="18" charset="0"/>
                              <a:cs typeface="Times New Roman" panose="02020603050405020304" pitchFamily="18" charset="0"/>
                            </a:rPr>
                            <m:t>𝑖</m:t>
                          </m:r>
                        </m:sub>
                      </m:sSub>
                    </m:oMath>
                  </a14:m>
                  <a:r>
                    <a:rPr lang="en-US" sz="900" b="0" u="none" strike="noStrike" dirty="0">
                      <a:effectLst/>
                      <a:uFillTx/>
                      <a:latin typeface="Times New Roman" panose="02020603050405020304" pitchFamily="18" charset="0"/>
                      <a:cs typeface="Times New Roman" panose="02020603050405020304" pitchFamily="18" charset="0"/>
                    </a:rPr>
                    <a:t>  ∈  R</a:t>
                  </a:r>
                  <a:r>
                    <a:rPr lang="en-US" sz="850" b="0" u="none" strike="noStrike" baseline="30000" dirty="0">
                      <a:effectLst/>
                      <a:uFillTx/>
                      <a:latin typeface="Times New Roman" panose="02020603050405020304" pitchFamily="18" charset="0"/>
                      <a:cs typeface="Times New Roman" panose="02020603050405020304" pitchFamily="18" charset="0"/>
                    </a:rPr>
                    <a:t>B×Q</a:t>
                  </a:r>
                  <a:endParaRPr lang="en-US" sz="85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45" name="scale_output_formula"/>
                <p:cNvSpPr>
                  <a:spLocks noRot="1" noChangeAspect="1" noMove="1" noResize="1" noEditPoints="1" noAdjustHandles="1" noChangeArrowheads="1" noChangeShapeType="1" noTextEdit="1"/>
                </p:cNvSpPr>
                <p:nvPr/>
              </p:nvSpPr>
              <p:spPr>
                <a:xfrm>
                  <a:off x="5533200" y="2664720"/>
                  <a:ext cx="990000" cy="149400"/>
                </a:xfrm>
                <a:prstGeom prst="rect">
                  <a:avLst/>
                </a:prstGeom>
                <a:blipFill>
                  <a:blip r:embed="rId10"/>
                  <a:stretch>
                    <a:fillRect t="-24000" b="-40000"/>
                  </a:stretch>
                </a:blipFill>
                <a:ln w="0">
                  <a:noFill/>
                </a:ln>
              </p:spPr>
              <p:txBody>
                <a:bodyPr/>
                <a:lstStyle/>
                <a:p>
                  <a:r>
                    <a:rPr lang="zh-CN" altLang="en-US">
                      <a:noFill/>
                    </a:rPr>
                    <a:t> </a:t>
                  </a:r>
                </a:p>
              </p:txBody>
            </p:sp>
          </mc:Fallback>
        </mc:AlternateContent>
        <p:sp>
          <p:nvSpPr>
            <p:cNvPr id="546" name="decode_panel"/>
            <p:cNvSpPr/>
            <p:nvPr/>
          </p:nvSpPr>
          <p:spPr>
            <a:xfrm>
              <a:off x="486000" y="3845520"/>
              <a:ext cx="6440400" cy="1022400"/>
            </a:xfrm>
            <a:prstGeom prst="roundRect">
              <a:avLst>
                <a:gd name="adj" fmla="val 4500"/>
              </a:avLst>
            </a:prstGeom>
            <a:solidFill>
              <a:srgbClr val="FBF5E9"/>
            </a:solidFill>
            <a:ln w="6480">
              <a:solidFill>
                <a:srgbClr val="B39A60"/>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47" name="decode_panel_title"/>
            <p:cNvSpPr/>
            <p:nvPr/>
          </p:nvSpPr>
          <p:spPr>
            <a:xfrm>
              <a:off x="576000" y="3910320"/>
              <a:ext cx="17964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Decoding context</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548" name="shared_project"/>
            <p:cNvSpPr/>
            <p:nvPr/>
          </p:nvSpPr>
          <p:spPr>
            <a:xfrm>
              <a:off x="1214640" y="4353480"/>
              <a:ext cx="946800" cy="348480"/>
            </a:xfrm>
            <a:prstGeom prst="roundRect">
              <a:avLst>
                <a:gd name="adj" fmla="val 15000"/>
              </a:avLst>
            </a:prstGeom>
            <a:solidFill>
              <a:srgbClr val="FFFFFF"/>
            </a:solidFill>
            <a:ln w="6480">
              <a:solidFill>
                <a:srgbClr val="B39A6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49" name="shared_project_text"/>
            <p:cNvSpPr/>
            <p:nvPr/>
          </p:nvSpPr>
          <p:spPr>
            <a:xfrm>
              <a:off x="1177200" y="4381920"/>
              <a:ext cx="990000" cy="291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pt-BR" sz="900" b="0" i="1" u="none" strike="noStrike" dirty="0">
                  <a:effectLst/>
                  <a:uFillTx/>
                  <a:latin typeface="Times New Roman" panose="02020603050405020304" pitchFamily="18" charset="0"/>
                  <a:cs typeface="Times New Roman" panose="02020603050405020304" pitchFamily="18" charset="0"/>
                </a:rPr>
                <a:t>Adaptive W(n)</a:t>
              </a:r>
              <a:endParaRPr lang="en-US" sz="900" b="0" i="1" u="none" strike="noStrike" dirty="0">
                <a:effectLst/>
                <a:uFillTx/>
                <a:latin typeface="Times New Roman" panose="02020603050405020304" pitchFamily="18" charset="0"/>
                <a:cs typeface="Times New Roman" panose="02020603050405020304" pitchFamily="18" charset="0"/>
              </a:endParaRPr>
            </a:p>
            <a:p>
              <a:pPr algn="ctr" defTabSz="1018080">
                <a:lnSpc>
                  <a:spcPct val="100000"/>
                </a:lnSpc>
              </a:pPr>
              <a:r>
                <a:rPr lang="pt-BR" sz="900" b="0" i="1" u="none" strike="noStrike" dirty="0">
                  <a:effectLst/>
                  <a:uFillTx/>
                  <a:latin typeface="Times New Roman" panose="02020603050405020304" pitchFamily="18" charset="0"/>
                  <a:cs typeface="Times New Roman" panose="02020603050405020304" pitchFamily="18" charset="0"/>
                </a:rPr>
                <a:t>33-bin project</a:t>
              </a:r>
              <a:endParaRPr lang="en-US" sz="900" b="0" i="1" u="none" strike="noStrike" dirty="0">
                <a:effectLst/>
                <a:uFillTx/>
                <a:latin typeface="Times New Roman" panose="02020603050405020304" pitchFamily="18" charset="0"/>
                <a:cs typeface="Times New Roman" panose="02020603050405020304" pitchFamily="18" charset="0"/>
              </a:endParaRPr>
            </a:p>
          </p:txBody>
        </p:sp>
        <p:sp>
          <p:nvSpPr>
            <p:cNvPr id="550" name="integral"/>
            <p:cNvSpPr/>
            <p:nvPr/>
          </p:nvSpPr>
          <p:spPr>
            <a:xfrm>
              <a:off x="3070080" y="4293360"/>
              <a:ext cx="1231920" cy="424440"/>
            </a:xfrm>
            <a:prstGeom prst="roundRect">
              <a:avLst>
                <a:gd name="adj" fmla="val 15000"/>
              </a:avLst>
            </a:prstGeom>
            <a:solidFill>
              <a:srgbClr val="FFF1CC"/>
            </a:solidFill>
            <a:ln w="6480">
              <a:solidFill>
                <a:srgbClr val="B39A6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51" name="integral_title"/>
            <p:cNvSpPr/>
            <p:nvPr/>
          </p:nvSpPr>
          <p:spPr>
            <a:xfrm>
              <a:off x="3013200" y="4324320"/>
              <a:ext cx="1314000" cy="149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Integral</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52" name="integral_formula"/>
                <p:cNvSpPr/>
                <p:nvPr/>
              </p:nvSpPr>
              <p:spPr>
                <a:xfrm>
                  <a:off x="3013200" y="4525920"/>
                  <a:ext cx="1314000" cy="172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m</a:t>
                  </a:r>
                  <a:r>
                    <a:rPr lang="en-US" sz="900" b="0" i="1" u="none" strike="noStrike" baseline="-25000" dirty="0">
                      <a:effectLst/>
                      <a:uFillTx/>
                      <a:latin typeface="Times New Roman" panose="02020603050405020304" pitchFamily="18" charset="0"/>
                      <a:cs typeface="Times New Roman" panose="02020603050405020304" pitchFamily="18" charset="0"/>
                    </a:rPr>
                    <a:t>i</a:t>
                  </a:r>
                  <a:r>
                    <a:rPr lang="en-US" sz="900" b="0" i="1" u="none" strike="noStrike" dirty="0">
                      <a:effectLst/>
                      <a:uFillTx/>
                      <a:latin typeface="Times New Roman" panose="02020603050405020304" pitchFamily="18" charset="0"/>
                      <a:cs typeface="Times New Roman" panose="02020603050405020304" pitchFamily="18" charset="0"/>
                    </a:rPr>
                    <a:t> = </a:t>
                  </a:r>
                  <a14:m>
                    <m:oMath xmlns:m="http://schemas.openxmlformats.org/officeDocument/2006/math">
                      <m:nary>
                        <m:naryPr>
                          <m:chr m:val="∑"/>
                          <m:ctrlPr>
                            <a:rPr lang="en-US" altLang="zh-CN" sz="900" b="0" i="1" u="none" strike="noStrike" smtClean="0">
                              <a:effectLst/>
                              <a:uFillTx/>
                              <a:latin typeface="Cambria Math" panose="02040503050406030204" pitchFamily="18" charset="0"/>
                              <a:cs typeface="Times New Roman" panose="02020603050405020304" pitchFamily="18" charset="0"/>
                            </a:rPr>
                          </m:ctrlPr>
                        </m:naryPr>
                        <m:sub>
                          <m:r>
                            <m:rPr>
                              <m:brk m:alnAt="23"/>
                            </m:rPr>
                            <a:rPr lang="en-US" altLang="zh-CN" sz="900" b="0" i="1" u="none" strike="noStrike" smtClean="0">
                              <a:effectLst/>
                              <a:uFillTx/>
                              <a:latin typeface="Cambria Math" panose="02040503050406030204" pitchFamily="18" charset="0"/>
                              <a:cs typeface="Times New Roman" panose="02020603050405020304" pitchFamily="18" charset="0"/>
                            </a:rPr>
                            <m:t>𝑛</m:t>
                          </m:r>
                          <m:r>
                            <m:rPr>
                              <m:brk m:alnAt="23"/>
                            </m:rPr>
                            <a:rPr lang="en-US" altLang="zh-CN" sz="900" b="0" i="1" u="none" strike="noStrike" smtClean="0">
                              <a:effectLst/>
                              <a:uFillTx/>
                              <a:latin typeface="Cambria Math" panose="02040503050406030204" pitchFamily="18" charset="0"/>
                              <a:cs typeface="Times New Roman" panose="02020603050405020304" pitchFamily="18" charset="0"/>
                            </a:rPr>
                            <m:t>=</m:t>
                          </m:r>
                          <m:r>
                            <m:rPr>
                              <m:brk m:alnAt="23"/>
                            </m:rPr>
                            <a:rPr lang="en-US" altLang="zh-CN" sz="900" b="0" i="1" u="none" strike="noStrike" smtClean="0">
                              <a:effectLst/>
                              <a:uFillTx/>
                              <a:latin typeface="Cambria Math" panose="02040503050406030204" pitchFamily="18" charset="0"/>
                              <a:cs typeface="Times New Roman" panose="02020603050405020304" pitchFamily="18" charset="0"/>
                            </a:rPr>
                            <m:t>0</m:t>
                          </m:r>
                        </m:sub>
                        <m:sup>
                          <m:r>
                            <a:rPr lang="en-US" altLang="zh-CN" sz="900" b="0" i="1" u="none" strike="noStrike" smtClean="0">
                              <a:effectLst/>
                              <a:uFillTx/>
                              <a:latin typeface="Cambria Math" panose="02040503050406030204" pitchFamily="18" charset="0"/>
                              <a:cs typeface="Times New Roman" panose="02020603050405020304" pitchFamily="18" charset="0"/>
                            </a:rPr>
                            <m:t>32</m:t>
                          </m:r>
                        </m:sup>
                        <m:e>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𝑝</m:t>
                              </m:r>
                            </m:e>
                            <m:sub>
                              <m:r>
                                <a:rPr lang="en-US" altLang="zh-CN" sz="900" i="1">
                                  <a:latin typeface="Cambria Math" panose="02040503050406030204" pitchFamily="18" charset="0"/>
                                  <a:cs typeface="Times New Roman" panose="02020603050405020304" pitchFamily="18" charset="0"/>
                                </a:rPr>
                                <m:t>𝑖</m:t>
                              </m:r>
                            </m:sub>
                          </m:sSub>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𝑛</m:t>
                          </m:r>
                          <m:r>
                            <a:rPr lang="en-US" altLang="zh-CN" sz="900" i="1">
                              <a:latin typeface="Cambria Math" panose="02040503050406030204" pitchFamily="18" charset="0"/>
                              <a:cs typeface="Times New Roman" panose="02020603050405020304" pitchFamily="18" charset="0"/>
                            </a:rPr>
                            <m:t>)</m:t>
                          </m:r>
                          <m:r>
                            <m:rPr>
                              <m:nor/>
                            </m:rPr>
                            <a:rPr lang="en-US" altLang="zh-CN" sz="900" i="1" dirty="0">
                              <a:latin typeface="Times New Roman" panose="02020603050405020304" pitchFamily="18" charset="0"/>
                              <a:cs typeface="Times New Roman" panose="02020603050405020304" pitchFamily="18" charset="0"/>
                            </a:rPr>
                            <m:t> </m:t>
                          </m:r>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𝑊</m:t>
                              </m:r>
                            </m:e>
                            <m:sub>
                              <m:r>
                                <a:rPr lang="en-US" altLang="zh-CN" sz="900" i="1">
                                  <a:latin typeface="Cambria Math" panose="02040503050406030204" pitchFamily="18" charset="0"/>
                                  <a:cs typeface="Times New Roman" panose="02020603050405020304" pitchFamily="18" charset="0"/>
                                </a:rPr>
                                <m:t>𝑖</m:t>
                              </m:r>
                            </m:sub>
                          </m:sSub>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𝑛</m:t>
                          </m:r>
                          <m:r>
                            <a:rPr lang="en-US" altLang="zh-CN" sz="900" i="1">
                              <a:latin typeface="Cambria Math" panose="02040503050406030204" pitchFamily="18" charset="0"/>
                              <a:cs typeface="Times New Roman" panose="02020603050405020304" pitchFamily="18" charset="0"/>
                            </a:rPr>
                            <m:t>)</m:t>
                          </m:r>
                        </m:e>
                      </m:nary>
                    </m:oMath>
                  </a14:m>
                  <a:endParaRPr lang="en-US" sz="9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52" name="integral_formula"/>
                <p:cNvSpPr>
                  <a:spLocks noRot="1" noChangeAspect="1" noMove="1" noResize="1" noEditPoints="1" noAdjustHandles="1" noChangeArrowheads="1" noChangeShapeType="1" noTextEdit="1"/>
                </p:cNvSpPr>
                <p:nvPr/>
              </p:nvSpPr>
              <p:spPr>
                <a:xfrm>
                  <a:off x="3013200" y="4525920"/>
                  <a:ext cx="1314000" cy="172800"/>
                </a:xfrm>
                <a:prstGeom prst="rect">
                  <a:avLst/>
                </a:prstGeom>
                <a:blipFill>
                  <a:blip r:embed="rId11"/>
                  <a:stretch>
                    <a:fillRect t="-117241" b="-196552"/>
                  </a:stretch>
                </a:blipFill>
                <a:ln w="0">
                  <a:noFill/>
                </a:ln>
              </p:spPr>
              <p:txBody>
                <a:bodyPr/>
                <a:lstStyle/>
                <a:p>
                  <a:r>
                    <a:rPr lang="zh-CN" altLang="en-US">
                      <a:noFill/>
                    </a:rPr>
                    <a:t> </a:t>
                  </a:r>
                </a:p>
              </p:txBody>
            </p:sp>
          </mc:Fallback>
        </mc:AlternateContent>
        <p:sp>
          <p:nvSpPr>
            <p:cNvPr id="553" name="integral_merge"/>
            <p:cNvSpPr>
              <a:spLocks/>
            </p:cNvSpPr>
            <p:nvPr/>
          </p:nvSpPr>
          <p:spPr>
            <a:xfrm>
              <a:off x="2579760" y="4517280"/>
              <a:ext cx="25200" cy="25200"/>
            </a:xfrm>
            <a:prstGeom prst="ellipse">
              <a:avLst/>
            </a:prstGeom>
            <a:solidFill>
              <a:srgbClr val="B39A60"/>
            </a:solidFill>
            <a:ln>
              <a:noFill/>
            </a:ln>
          </p:spPr>
          <p:style>
            <a:lnRef idx="2">
              <a:schemeClr val="accent1">
                <a:shade val="15000"/>
              </a:schemeClr>
            </a:lnRef>
            <a:fillRef idx="1">
              <a:schemeClr val="accent1"/>
            </a:fillRef>
            <a:effectRef idx="0">
              <a:schemeClr val="accent1"/>
            </a:effectRef>
            <a:fontRef idx="minor"/>
          </p:style>
          <p:txBody>
            <a:bodyPr lIns="12600" tIns="-27360" rIns="12600" bIns="-273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54" name="integral_tuple"/>
                <p:cNvSpPr/>
                <p:nvPr/>
              </p:nvSpPr>
              <p:spPr>
                <a:xfrm>
                  <a:off x="2605320" y="4349520"/>
                  <a:ext cx="35496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𝑝</m:t>
                          </m:r>
                        </m:e>
                        <m:sub>
                          <m:r>
                            <a:rPr lang="en-US" altLang="zh-CN" sz="900" i="1">
                              <a:latin typeface="Cambria Math" panose="02040503050406030204" pitchFamily="18" charset="0"/>
                              <a:cs typeface="Times New Roman" panose="02020603050405020304" pitchFamily="18" charset="0"/>
                            </a:rPr>
                            <m:t>𝑖</m:t>
                          </m:r>
                        </m:sub>
                      </m:sSub>
                    </m:oMath>
                  </a14:m>
                  <a:r>
                    <a:rPr lang="en-US" sz="900" b="0" i="1" u="none" strike="noStrike" dirty="0">
                      <a:effectLst/>
                      <a:uFillTx/>
                      <a:latin typeface="Times New Roman" panose="02020603050405020304" pitchFamily="18" charset="0"/>
                      <a:cs typeface="Times New Roman" panose="02020603050405020304" pitchFamily="18" charset="0"/>
                    </a:rPr>
                    <a:t>, W</a:t>
                  </a:r>
                  <a:r>
                    <a:rPr lang="en-US" sz="900" b="0"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554" name="integral_tuple"/>
                <p:cNvSpPr>
                  <a:spLocks noRot="1" noChangeAspect="1" noMove="1" noResize="1" noEditPoints="1" noAdjustHandles="1" noChangeArrowheads="1" noChangeShapeType="1" noTextEdit="1"/>
                </p:cNvSpPr>
                <p:nvPr/>
              </p:nvSpPr>
              <p:spPr>
                <a:xfrm>
                  <a:off x="2605320" y="4349520"/>
                  <a:ext cx="354960" cy="140400"/>
                </a:xfrm>
                <a:prstGeom prst="rect">
                  <a:avLst/>
                </a:prstGeom>
                <a:blipFill>
                  <a:blip r:embed="rId12"/>
                  <a:stretch>
                    <a:fillRect l="-16949" t="-30435" r="-15254" b="-47826"/>
                  </a:stretch>
                </a:blipFill>
                <a:ln w="0">
                  <a:noFill/>
                </a:ln>
              </p:spPr>
              <p:txBody>
                <a:bodyPr/>
                <a:lstStyle/>
                <a:p>
                  <a:r>
                    <a:rPr lang="zh-CN" altLang="en-US">
                      <a:noFill/>
                    </a:rPr>
                    <a:t> </a:t>
                  </a:r>
                </a:p>
              </p:txBody>
            </p:sp>
          </mc:Fallback>
        </mc:AlternateContent>
        <p:sp>
          <p:nvSpPr>
            <p:cNvPr id="555" name="box_decode"/>
            <p:cNvSpPr/>
            <p:nvPr/>
          </p:nvSpPr>
          <p:spPr>
            <a:xfrm>
              <a:off x="5571360" y="4328640"/>
              <a:ext cx="945720" cy="416520"/>
            </a:xfrm>
            <a:prstGeom prst="roundRect">
              <a:avLst>
                <a:gd name="adj" fmla="val 15000"/>
              </a:avLst>
            </a:prstGeom>
            <a:solidFill>
              <a:srgbClr val="FFFFFF"/>
            </a:solidFill>
            <a:ln w="6480">
              <a:solidFill>
                <a:srgbClr val="B39A6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56" name="box_decode_title"/>
            <p:cNvSpPr/>
            <p:nvPr/>
          </p:nvSpPr>
          <p:spPr>
            <a:xfrm>
              <a:off x="5587200" y="4363920"/>
              <a:ext cx="8820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Box Decoder</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57" name="box_decode_formula"/>
                <p:cNvSpPr/>
                <p:nvPr/>
              </p:nvSpPr>
              <p:spPr>
                <a:xfrm>
                  <a:off x="5587200" y="4561920"/>
                  <a:ext cx="8820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decode(</a:t>
                  </a:r>
                  <a14:m>
                    <m:oMath xmlns:m="http://schemas.openxmlformats.org/officeDocument/2006/math">
                      <m:sSub>
                        <m:sSubPr>
                          <m:ctrlPr>
                            <a:rPr lang="en-US" altLang="zh-CN" sz="900" b="0" i="1" smtClean="0">
                              <a:latin typeface="Cambria Math" panose="02040503050406030204" pitchFamily="18" charset="0"/>
                              <a:cs typeface="Times New Roman" panose="02020603050405020304" pitchFamily="18" charset="0"/>
                            </a:rPr>
                          </m:ctrlPr>
                        </m:sSubPr>
                        <m:e>
                          <m:r>
                            <a:rPr lang="en-US" altLang="zh-CN" sz="900" b="0" i="1" smtClean="0">
                              <a:latin typeface="Cambria Math" panose="02040503050406030204" pitchFamily="18" charset="0"/>
                              <a:cs typeface="Times New Roman" panose="02020603050405020304" pitchFamily="18" charset="0"/>
                            </a:rPr>
                            <m:t>𝑏</m:t>
                          </m:r>
                        </m:e>
                        <m:sub>
                          <m:r>
                            <a:rPr lang="en-US" altLang="zh-CN" sz="900" b="0" i="1" smtClean="0">
                              <a:latin typeface="Cambria Math" panose="02040503050406030204" pitchFamily="18" charset="0"/>
                              <a:cs typeface="Times New Roman" panose="02020603050405020304" pitchFamily="18" charset="0"/>
                            </a:rPr>
                            <m:t>0</m:t>
                          </m:r>
                        </m:sub>
                      </m:sSub>
                    </m:oMath>
                  </a14:m>
                  <a:r>
                    <a:rPr lang="en-US"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b="0" i="1" smtClean="0">
                              <a:latin typeface="Cambria Math" panose="02040503050406030204" pitchFamily="18" charset="0"/>
                              <a:cs typeface="Times New Roman" panose="02020603050405020304" pitchFamily="18" charset="0"/>
                            </a:rPr>
                          </m:ctrlPr>
                        </m:sSubPr>
                        <m:e>
                          <m:r>
                            <a:rPr lang="en-US" altLang="zh-CN" sz="900" b="0" i="1" smtClean="0">
                              <a:latin typeface="Cambria Math" panose="02040503050406030204" pitchFamily="18" charset="0"/>
                              <a:cs typeface="Times New Roman" panose="02020603050405020304" pitchFamily="18" charset="0"/>
                            </a:rPr>
                            <m:t>𝑚</m:t>
                          </m:r>
                        </m:e>
                        <m:sub>
                          <m:r>
                            <a:rPr lang="en-US" altLang="zh-CN" sz="900" i="1">
                              <a:latin typeface="Cambria Math" panose="02040503050406030204" pitchFamily="18" charset="0"/>
                              <a:cs typeface="Times New Roman" panose="02020603050405020304" pitchFamily="18" charset="0"/>
                            </a:rPr>
                            <m:t>𝑖</m:t>
                          </m:r>
                        </m:sub>
                      </m:sSub>
                    </m:oMath>
                  </a14:m>
                  <a:r>
                    <a:rPr lang="en-US"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𝑟</m:t>
                          </m:r>
                        </m:e>
                        <m:sub>
                          <m:r>
                            <a:rPr lang="en-US" altLang="zh-CN" sz="900" i="1">
                              <a:latin typeface="Cambria Math" panose="02040503050406030204" pitchFamily="18" charset="0"/>
                              <a:cs typeface="Times New Roman" panose="02020603050405020304" pitchFamily="18" charset="0"/>
                            </a:rPr>
                            <m:t>𝑖</m:t>
                          </m:r>
                        </m:sub>
                      </m:sSub>
                    </m:oMath>
                  </a14:m>
                  <a:r>
                    <a:rPr lang="en-US" sz="900" b="0" i="1"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557" name="box_decode_formula"/>
                <p:cNvSpPr>
                  <a:spLocks noRot="1" noChangeAspect="1" noMove="1" noResize="1" noEditPoints="1" noAdjustHandles="1" noChangeArrowheads="1" noChangeShapeType="1" noTextEdit="1"/>
                </p:cNvSpPr>
                <p:nvPr/>
              </p:nvSpPr>
              <p:spPr>
                <a:xfrm>
                  <a:off x="5587200" y="4561920"/>
                  <a:ext cx="882000" cy="154800"/>
                </a:xfrm>
                <a:prstGeom prst="rect">
                  <a:avLst/>
                </a:prstGeom>
                <a:blipFill>
                  <a:blip r:embed="rId13"/>
                  <a:stretch>
                    <a:fillRect l="-6250" t="-19231" r="-6250" b="-38462"/>
                  </a:stretch>
                </a:blipFill>
                <a:ln w="0">
                  <a:noFill/>
                </a:ln>
              </p:spPr>
              <p:txBody>
                <a:bodyPr/>
                <a:lstStyle/>
                <a:p>
                  <a:r>
                    <a:rPr lang="zh-CN" altLang="en-US">
                      <a:noFill/>
                    </a:rPr>
                    <a:t> </a:t>
                  </a:r>
                </a:p>
              </p:txBody>
            </p:sp>
          </mc:Fallback>
        </mc:AlternateContent>
        <p:sp>
          <p:nvSpPr>
            <p:cNvPr id="558" name="offset_label"/>
            <p:cNvSpPr/>
            <p:nvPr/>
          </p:nvSpPr>
          <p:spPr>
            <a:xfrm>
              <a:off x="4482000" y="4390200"/>
              <a:ext cx="968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Edge offsets m</a:t>
              </a:r>
              <a:r>
                <a:rPr lang="en-US" sz="850" b="0" i="1" u="none" strike="noStrike" baseline="-25000">
                  <a:effectLst/>
                  <a:uFillTx/>
                  <a:latin typeface="Times New Roman" panose="02020603050405020304" pitchFamily="18" charset="0"/>
                  <a:cs typeface="Times New Roman" panose="02020603050405020304" pitchFamily="18" charset="0"/>
                </a:rPr>
                <a:t>i</a:t>
              </a:r>
              <a:endParaRPr lang="en-US" sz="850" b="0" u="none" strike="noStrike">
                <a:effectLst/>
                <a:uFillTx/>
                <a:latin typeface="Times New Roman" panose="02020603050405020304" pitchFamily="18" charset="0"/>
                <a:cs typeface="Times New Roman" panose="02020603050405020304" pitchFamily="18" charset="0"/>
              </a:endParaRPr>
            </a:p>
          </p:txBody>
        </p:sp>
        <p:sp>
          <p:nvSpPr>
            <p:cNvPr id="559" name="box_input_merge"/>
            <p:cNvSpPr>
              <a:spLocks/>
            </p:cNvSpPr>
            <p:nvPr/>
          </p:nvSpPr>
          <p:spPr>
            <a:xfrm>
              <a:off x="6017760" y="3581280"/>
              <a:ext cx="25200" cy="25200"/>
            </a:xfrm>
            <a:prstGeom prst="ellipse">
              <a:avLst/>
            </a:prstGeom>
            <a:solidFill>
              <a:srgbClr val="B39A60"/>
            </a:solidFill>
            <a:ln>
              <a:noFill/>
            </a:ln>
          </p:spPr>
          <p:style>
            <a:lnRef idx="2">
              <a:schemeClr val="accent1">
                <a:shade val="15000"/>
              </a:schemeClr>
            </a:lnRef>
            <a:fillRef idx="1">
              <a:schemeClr val="accent1"/>
            </a:fillRef>
            <a:effectRef idx="0">
              <a:schemeClr val="accent1"/>
            </a:effectRef>
            <a:fontRef idx="minor"/>
          </p:style>
          <p:txBody>
            <a:bodyPr lIns="12600" tIns="-27360" rIns="12600" bIns="-2736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60" name="decode_b0"/>
            <p:cNvSpPr/>
            <p:nvPr/>
          </p:nvSpPr>
          <p:spPr>
            <a:xfrm>
              <a:off x="4590000" y="3467520"/>
              <a:ext cx="896400" cy="248400"/>
            </a:xfrm>
            <a:prstGeom prst="roundRect">
              <a:avLst>
                <a:gd name="adj" fmla="val 15000"/>
              </a:avLst>
            </a:prstGeom>
            <a:solidFill>
              <a:srgbClr val="FFFFFF"/>
            </a:solidFill>
            <a:ln w="6480">
              <a:solidFill>
                <a:srgbClr val="B39A60"/>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61" name="decode_b0_text"/>
                <p:cNvSpPr/>
                <p:nvPr/>
              </p:nvSpPr>
              <p:spPr>
                <a:xfrm>
                  <a:off x="4633200" y="3499920"/>
                  <a:ext cx="810000" cy="18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Initial </a:t>
                  </a: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𝑏</m:t>
                          </m:r>
                        </m:e>
                        <m:sub>
                          <m:r>
                            <a:rPr lang="en-US" altLang="zh-CN" sz="900" i="1">
                              <a:latin typeface="Cambria Math" panose="02040503050406030204" pitchFamily="18" charset="0"/>
                              <a:cs typeface="Times New Roman" panose="02020603050405020304" pitchFamily="18" charset="0"/>
                            </a:rPr>
                            <m:t>0</m:t>
                          </m:r>
                        </m:sub>
                      </m:sSub>
                    </m:oMath>
                  </a14:m>
                  <a:endParaRPr lang="en-US" sz="85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61" name="decode_b0_text"/>
                <p:cNvSpPr>
                  <a:spLocks noRot="1" noChangeAspect="1" noMove="1" noResize="1" noEditPoints="1" noAdjustHandles="1" noChangeArrowheads="1" noChangeShapeType="1" noTextEdit="1"/>
                </p:cNvSpPr>
                <p:nvPr/>
              </p:nvSpPr>
              <p:spPr>
                <a:xfrm>
                  <a:off x="4633200" y="3499920"/>
                  <a:ext cx="810000" cy="183600"/>
                </a:xfrm>
                <a:prstGeom prst="rect">
                  <a:avLst/>
                </a:prstGeom>
                <a:blipFill>
                  <a:blip r:embed="rId14"/>
                  <a:stretch>
                    <a:fillRect t="-10000" b="-26667"/>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2" name="decode_tuple"/>
                <p:cNvSpPr/>
                <p:nvPr/>
              </p:nvSpPr>
              <p:spPr>
                <a:xfrm>
                  <a:off x="6066000" y="3903120"/>
                  <a:ext cx="626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𝑏</m:t>
                          </m:r>
                        </m:e>
                        <m:sub>
                          <m:r>
                            <a:rPr lang="en-US" altLang="zh-CN" sz="900" i="1">
                              <a:latin typeface="Cambria Math" panose="02040503050406030204" pitchFamily="18" charset="0"/>
                              <a:cs typeface="Times New Roman" panose="02020603050405020304" pitchFamily="18" charset="0"/>
                            </a:rPr>
                            <m:t>0</m:t>
                          </m:r>
                        </m:sub>
                      </m:sSub>
                    </m:oMath>
                  </a14:m>
                  <a:r>
                    <a:rPr lang="en-US" sz="900" b="0"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𝑟</m:t>
                          </m:r>
                        </m:e>
                        <m:sub>
                          <m:r>
                            <a:rPr lang="en-US" altLang="zh-CN" sz="900" i="1">
                              <a:latin typeface="Cambria Math" panose="02040503050406030204" pitchFamily="18" charset="0"/>
                              <a:cs typeface="Times New Roman" panose="02020603050405020304" pitchFamily="18" charset="0"/>
                            </a:rPr>
                            <m:t>𝑖</m:t>
                          </m:r>
                        </m:sub>
                      </m:sSub>
                    </m:oMath>
                  </a14:m>
                  <a:r>
                    <a:rPr lang="en-US" sz="900" b="0"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562" name="decode_tuple"/>
                <p:cNvSpPr>
                  <a:spLocks noRot="1" noChangeAspect="1" noMove="1" noResize="1" noEditPoints="1" noAdjustHandles="1" noChangeArrowheads="1" noChangeShapeType="1" noTextEdit="1"/>
                </p:cNvSpPr>
                <p:nvPr/>
              </p:nvSpPr>
              <p:spPr>
                <a:xfrm>
                  <a:off x="6066000" y="3903120"/>
                  <a:ext cx="626400" cy="151200"/>
                </a:xfrm>
                <a:prstGeom prst="rect">
                  <a:avLst/>
                </a:prstGeom>
                <a:blipFill>
                  <a:blip r:embed="rId15"/>
                  <a:stretch>
                    <a:fillRect t="-24000" b="-40000"/>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3" name="box_output"/>
                <p:cNvSpPr/>
                <p:nvPr/>
              </p:nvSpPr>
              <p:spPr>
                <a:xfrm>
                  <a:off x="6678000" y="4475520"/>
                  <a:ext cx="230400" cy="18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Para xmlns:m="http://schemas.openxmlformats.org/officeDocument/2006/math">
                      <m:oMath>
                        <m:sSub>
                          <m:sSubPr>
                            <m:ctrlPr>
                              <a:rPr lang="en-US" altLang="zh-CN" sz="900" i="1">
                                <a:latin typeface="Cambria Math" panose="02040503050406030204" pitchFamily="18" charset="0"/>
                                <a:cs typeface="Times New Roman" panose="02020603050405020304" pitchFamily="18" charset="0"/>
                              </a:rPr>
                            </m:ctrlPr>
                          </m:sSubPr>
                          <m:e>
                            <m:r>
                              <a:rPr lang="en-US" altLang="zh-CN" sz="900" i="1">
                                <a:latin typeface="Cambria Math" panose="02040503050406030204" pitchFamily="18" charset="0"/>
                                <a:cs typeface="Times New Roman" panose="02020603050405020304" pitchFamily="18" charset="0"/>
                              </a:rPr>
                              <m:t>𝑏</m:t>
                            </m:r>
                          </m:e>
                          <m:sub>
                            <m:r>
                              <a:rPr lang="en-US" altLang="zh-CN" sz="900" b="0" i="1" smtClean="0">
                                <a:latin typeface="Cambria Math" panose="02040503050406030204" pitchFamily="18" charset="0"/>
                                <a:cs typeface="Times New Roman" panose="02020603050405020304" pitchFamily="18" charset="0"/>
                              </a:rPr>
                              <m:t>𝑖</m:t>
                            </m:r>
                          </m:sub>
                        </m:sSub>
                      </m:oMath>
                    </m:oMathPara>
                  </a14:m>
                  <a:endParaRPr lang="en-US" sz="85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63" name="box_output"/>
                <p:cNvSpPr>
                  <a:spLocks noRot="1" noChangeAspect="1" noMove="1" noResize="1" noEditPoints="1" noAdjustHandles="1" noChangeArrowheads="1" noChangeShapeType="1" noTextEdit="1"/>
                </p:cNvSpPr>
                <p:nvPr/>
              </p:nvSpPr>
              <p:spPr>
                <a:xfrm>
                  <a:off x="6678000" y="4475520"/>
                  <a:ext cx="230400" cy="185400"/>
                </a:xfrm>
                <a:prstGeom prst="rect">
                  <a:avLst/>
                </a:prstGeom>
                <a:blipFill>
                  <a:blip r:embed="rId16"/>
                  <a:stretch>
                    <a:fillRect/>
                  </a:stretch>
                </a:blipFill>
                <a:ln w="0">
                  <a:noFill/>
                </a:ln>
              </p:spPr>
              <p:txBody>
                <a:bodyPr/>
                <a:lstStyle/>
                <a:p>
                  <a:r>
                    <a:rPr lang="zh-CN" altLang="en-US">
                      <a:noFill/>
                    </a:rPr>
                    <a:t> </a:t>
                  </a:r>
                </a:p>
              </p:txBody>
            </p:sp>
          </mc:Fallback>
        </mc:AlternateContent>
        <p:cxnSp>
          <p:nvCxnSpPr>
            <p:cNvPr id="564" name="box_to_scale__0"/>
            <p:cNvCxnSpPr>
              <a:cxnSpLocks/>
            </p:cNvCxnSpPr>
            <p:nvPr/>
          </p:nvCxnSpPr>
          <p:spPr>
            <a:xfrm>
              <a:off x="1453680" y="2180880"/>
              <a:ext cx="471600" cy="0"/>
            </a:xfrm>
            <a:prstGeom prst="straightConnector1">
              <a:avLst/>
            </a:prstGeom>
            <a:ln w="7200">
              <a:solidFill>
                <a:srgbClr val="B39A60"/>
              </a:solidFill>
              <a:round/>
              <a:tailEnd type="triangle" w="sm" len="sm"/>
            </a:ln>
          </p:spPr>
        </p:cxnSp>
        <p:cxnSp>
          <p:nvCxnSpPr>
            <p:cNvPr id="565" name="logits_to_softmax__0"/>
            <p:cNvCxnSpPr>
              <a:cxnSpLocks/>
            </p:cNvCxnSpPr>
            <p:nvPr/>
          </p:nvCxnSpPr>
          <p:spPr>
            <a:xfrm>
              <a:off x="1454400" y="3161880"/>
              <a:ext cx="308880" cy="0"/>
            </a:xfrm>
            <a:prstGeom prst="straightConnector1">
              <a:avLst/>
            </a:prstGeom>
            <a:ln w="7200">
              <a:solidFill>
                <a:srgbClr val="B39A60"/>
              </a:solidFill>
              <a:round/>
              <a:tailEnd type="triangle" w="sm" len="sm"/>
            </a:ln>
          </p:spPr>
        </p:cxnSp>
        <p:cxnSp>
          <p:nvCxnSpPr>
            <p:cNvPr id="566" name="prob_main__0"/>
            <p:cNvCxnSpPr>
              <a:cxnSpLocks/>
            </p:cNvCxnSpPr>
            <p:nvPr/>
          </p:nvCxnSpPr>
          <p:spPr>
            <a:xfrm>
              <a:off x="2440440" y="3161880"/>
              <a:ext cx="272160" cy="0"/>
            </a:xfrm>
            <a:prstGeom prst="straightConnector1">
              <a:avLst/>
            </a:prstGeom>
            <a:ln w="7200">
              <a:solidFill>
                <a:srgbClr val="B39A60"/>
              </a:solidFill>
              <a:round/>
              <a:tailEnd type="triangle" w="sm" len="sm"/>
            </a:ln>
          </p:spPr>
        </p:cxnSp>
        <p:cxnSp>
          <p:nvCxnSpPr>
            <p:cNvPr id="567" name="base_to_combine__0"/>
            <p:cNvCxnSpPr>
              <a:cxnSpLocks/>
            </p:cNvCxnSpPr>
            <p:nvPr/>
          </p:nvCxnSpPr>
          <p:spPr>
            <a:xfrm>
              <a:off x="3790800" y="2189880"/>
              <a:ext cx="436680" cy="0"/>
            </a:xfrm>
            <a:prstGeom prst="straightConnector1">
              <a:avLst/>
            </a:prstGeom>
            <a:ln w="7200">
              <a:solidFill>
                <a:srgbClr val="B39A60"/>
              </a:solidFill>
              <a:round/>
              <a:tailEnd type="triangle" w="sm" len="sm"/>
            </a:ln>
          </p:spPr>
        </p:cxnSp>
        <p:cxnSp>
          <p:nvCxnSpPr>
            <p:cNvPr id="568" name="flat_to_combine__0"/>
            <p:cNvCxnSpPr>
              <a:cxnSpLocks/>
            </p:cNvCxnSpPr>
            <p:nvPr/>
          </p:nvCxnSpPr>
          <p:spPr>
            <a:xfrm>
              <a:off x="3939480" y="3125880"/>
              <a:ext cx="288000" cy="0"/>
            </a:xfrm>
            <a:prstGeom prst="straightConnector1">
              <a:avLst/>
            </a:prstGeom>
            <a:ln w="7200">
              <a:solidFill>
                <a:srgbClr val="B39A60"/>
              </a:solidFill>
              <a:round/>
              <a:tailEnd type="triangle" w="sm" len="sm"/>
            </a:ln>
          </p:spPr>
        </p:cxnSp>
        <p:cxnSp>
          <p:nvCxnSpPr>
            <p:cNvPr id="569" name="scale_output_flow__0"/>
            <p:cNvCxnSpPr>
              <a:cxnSpLocks/>
            </p:cNvCxnSpPr>
            <p:nvPr/>
          </p:nvCxnSpPr>
          <p:spPr>
            <a:xfrm>
              <a:off x="5304960" y="2657880"/>
              <a:ext cx="265680" cy="0"/>
            </a:xfrm>
            <a:prstGeom prst="straightConnector1">
              <a:avLst/>
            </a:prstGeom>
            <a:ln w="7200">
              <a:solidFill>
                <a:srgbClr val="B39A60"/>
              </a:solidFill>
              <a:round/>
              <a:tailEnd type="triangle" w="sm" len="sm"/>
            </a:ln>
          </p:spPr>
        </p:cxnSp>
        <p:cxnSp>
          <p:nvCxnSpPr>
            <p:cNvPr id="570" name="project_to_integral__0"/>
            <p:cNvCxnSpPr>
              <a:cxnSpLocks/>
            </p:cNvCxnSpPr>
            <p:nvPr/>
          </p:nvCxnSpPr>
          <p:spPr>
            <a:xfrm>
              <a:off x="2161440" y="4529880"/>
              <a:ext cx="908640" cy="0"/>
            </a:xfrm>
            <a:prstGeom prst="straightConnector1">
              <a:avLst/>
            </a:prstGeom>
            <a:ln w="7200">
              <a:solidFill>
                <a:srgbClr val="B39A60"/>
              </a:solidFill>
              <a:round/>
              <a:tailEnd type="triangle" w="sm" len="sm"/>
            </a:ln>
          </p:spPr>
        </p:cxnSp>
        <p:cxnSp>
          <p:nvCxnSpPr>
            <p:cNvPr id="571" name="prob_to_integral__0"/>
            <p:cNvCxnSpPr>
              <a:cxnSpLocks/>
            </p:cNvCxnSpPr>
            <p:nvPr/>
          </p:nvCxnSpPr>
          <p:spPr>
            <a:xfrm>
              <a:off x="2592360" y="3161880"/>
              <a:ext cx="0" cy="1368000"/>
            </a:xfrm>
            <a:prstGeom prst="straightConnector1">
              <a:avLst/>
            </a:prstGeom>
            <a:ln w="7200">
              <a:solidFill>
                <a:srgbClr val="B39A60"/>
              </a:solidFill>
              <a:round/>
              <a:headEnd type="diamond" w="med" len="med"/>
              <a:tailEnd type="triangle" w="med" len="med"/>
            </a:ln>
          </p:spPr>
        </p:cxnSp>
        <p:cxnSp>
          <p:nvCxnSpPr>
            <p:cNvPr id="572" name="integral_to_box__0"/>
            <p:cNvCxnSpPr>
              <a:cxnSpLocks/>
            </p:cNvCxnSpPr>
            <p:nvPr/>
          </p:nvCxnSpPr>
          <p:spPr>
            <a:xfrm>
              <a:off x="4302000" y="4565880"/>
              <a:ext cx="1269360" cy="0"/>
            </a:xfrm>
            <a:prstGeom prst="straightConnector1">
              <a:avLst/>
            </a:prstGeom>
            <a:ln w="7200">
              <a:solidFill>
                <a:srgbClr val="B39A60"/>
              </a:solidFill>
              <a:round/>
              <a:tailEnd type="triangle" w="sm" len="sm"/>
            </a:ln>
          </p:spPr>
        </p:cxnSp>
        <p:cxnSp>
          <p:nvCxnSpPr>
            <p:cNvPr id="573" name="scale_to_decode__0"/>
            <p:cNvCxnSpPr>
              <a:cxnSpLocks/>
            </p:cNvCxnSpPr>
            <p:nvPr/>
          </p:nvCxnSpPr>
          <p:spPr>
            <a:xfrm>
              <a:off x="6030360" y="2845080"/>
              <a:ext cx="0" cy="1483560"/>
            </a:xfrm>
            <a:prstGeom prst="straightConnector1">
              <a:avLst/>
            </a:prstGeom>
            <a:ln w="7200">
              <a:solidFill>
                <a:srgbClr val="B39A60"/>
              </a:solidFill>
              <a:round/>
              <a:tailEnd type="triangle" w="sm" len="sm"/>
            </a:ln>
          </p:spPr>
        </p:cxnSp>
        <p:cxnSp>
          <p:nvCxnSpPr>
            <p:cNvPr id="575" name="decoded_box__0"/>
            <p:cNvCxnSpPr>
              <a:cxnSpLocks/>
            </p:cNvCxnSpPr>
            <p:nvPr/>
          </p:nvCxnSpPr>
          <p:spPr>
            <a:xfrm>
              <a:off x="6517080" y="4565880"/>
              <a:ext cx="144000" cy="0"/>
            </a:xfrm>
            <a:prstGeom prst="straightConnector1">
              <a:avLst/>
            </a:prstGeom>
            <a:ln w="7200">
              <a:solidFill>
                <a:srgbClr val="B39A60"/>
              </a:solidFill>
              <a:round/>
              <a:tailEnd type="triangle" w="sm" len="sm"/>
            </a:ln>
          </p:spPr>
        </p:cxnSp>
        <p:cxnSp>
          <p:nvCxnSpPr>
            <p:cNvPr id="3" name="prob_to_integral__0">
              <a:extLst>
                <a:ext uri="{FF2B5EF4-FFF2-40B4-BE49-F238E27FC236}">
                  <a16:creationId xmlns:a16="http://schemas.microsoft.com/office/drawing/2014/main" id="{0EA77028-77E8-0129-2AB8-B6F87F323020}"/>
                </a:ext>
              </a:extLst>
            </p:cNvPr>
            <p:cNvCxnSpPr>
              <a:cxnSpLocks/>
              <a:stCxn id="560" idx="3"/>
            </p:cNvCxnSpPr>
            <p:nvPr/>
          </p:nvCxnSpPr>
          <p:spPr>
            <a:xfrm>
              <a:off x="5486400" y="3591720"/>
              <a:ext cx="556560" cy="0"/>
            </a:xfrm>
            <a:prstGeom prst="straightConnector1">
              <a:avLst/>
            </a:prstGeom>
            <a:ln w="7200">
              <a:solidFill>
                <a:srgbClr val="B39A60"/>
              </a:solidFill>
              <a:round/>
              <a:headEnd type="diamond" w="med" len="med"/>
              <a:tailEnd type="triangle" w="med" len="med"/>
            </a:ln>
          </p:spPr>
        </p:cxn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a:ext uri="{FF2B5EF4-FFF2-40B4-BE49-F238E27FC236}">
                <a16:creationId xmlns:a16="http://schemas.microsoft.com/office/drawing/2014/main" id="{3E5B0238-3B2B-6EB5-6297-DD136E00388C}"/>
              </a:ext>
            </a:extLst>
          </p:cNvPr>
          <p:cNvGrpSpPr/>
          <p:nvPr/>
        </p:nvGrpSpPr>
        <p:grpSpPr>
          <a:xfrm>
            <a:off x="486000" y="1055520"/>
            <a:ext cx="6440400" cy="3812400"/>
            <a:chOff x="486000" y="1055520"/>
            <a:chExt cx="6440400" cy="3812400"/>
          </a:xfrm>
        </p:grpSpPr>
        <p:sp>
          <p:nvSpPr>
            <p:cNvPr id="459" name="title"/>
            <p:cNvSpPr/>
            <p:nvPr/>
          </p:nvSpPr>
          <p:spPr>
            <a:xfrm>
              <a:off x="522000" y="1055520"/>
              <a:ext cx="4928400" cy="23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Cross-Layer Consistency</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460" name="weights_panel"/>
            <p:cNvSpPr/>
            <p:nvPr/>
          </p:nvSpPr>
          <p:spPr>
            <a:xfrm>
              <a:off x="486000" y="1397520"/>
              <a:ext cx="6440400" cy="662400"/>
            </a:xfrm>
            <a:prstGeom prst="roundRect">
              <a:avLst>
                <a:gd name="adj" fmla="val 4500"/>
              </a:avLst>
            </a:prstGeom>
            <a:solidFill>
              <a:schemeClr val="bg1"/>
            </a:solidFill>
            <a:ln w="12700">
              <a:solidFill>
                <a:schemeClr val="tx1"/>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61" name="matched_gt"/>
            <p:cNvSpPr/>
            <p:nvPr/>
          </p:nvSpPr>
          <p:spPr>
            <a:xfrm>
              <a:off x="657000" y="1572840"/>
              <a:ext cx="766080" cy="348480"/>
            </a:xfrm>
            <a:prstGeom prst="roundRect">
              <a:avLst>
                <a:gd name="adj" fmla="val 15000"/>
              </a:avLst>
            </a:prstGeom>
            <a:solidFill>
              <a:srgbClr val="FFFFFF"/>
            </a:solidFill>
            <a:ln w="6480">
              <a:solidFill>
                <a:srgbClr val="7098B7"/>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62" name="matched_gt_text"/>
            <p:cNvSpPr/>
            <p:nvPr/>
          </p:nvSpPr>
          <p:spPr>
            <a:xfrm>
              <a:off x="673200" y="1609200"/>
              <a:ext cx="702000" cy="27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GT box area</a:t>
              </a:r>
            </a:p>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A = w × h</a:t>
              </a:r>
            </a:p>
          </p:txBody>
        </p:sp>
        <p:sp>
          <p:nvSpPr>
            <p:cNvPr id="463" name="weighting"/>
            <p:cNvSpPr/>
            <p:nvPr/>
          </p:nvSpPr>
          <p:spPr>
            <a:xfrm>
              <a:off x="1850040" y="1511640"/>
              <a:ext cx="2610000" cy="430920"/>
            </a:xfrm>
            <a:prstGeom prst="roundRect">
              <a:avLst>
                <a:gd name="adj" fmla="val 15000"/>
              </a:avLst>
            </a:prstGeom>
            <a:solidFill>
              <a:schemeClr val="tx2">
                <a:lumMod val="10000"/>
                <a:lumOff val="90000"/>
              </a:schemeClr>
            </a:solidFill>
            <a:ln w="6480">
              <a:solidFill>
                <a:srgbClr val="607F9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64" name="weighting_title"/>
            <p:cNvSpPr/>
            <p:nvPr/>
          </p:nvSpPr>
          <p:spPr>
            <a:xfrm>
              <a:off x="1710000" y="1541520"/>
              <a:ext cx="2858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Scale weighting</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65" name="scale_weight"/>
                <p:cNvSpPr/>
                <p:nvPr/>
              </p:nvSpPr>
              <p:spPr>
                <a:xfrm>
                  <a:off x="1710000" y="1761120"/>
                  <a:ext cx="2858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1000" b="0" i="1" u="none" strike="noStrike" smtClean="0">
                              <a:effectLst/>
                              <a:uFillTx/>
                              <a:latin typeface="Cambria Math" panose="02040503050406030204" pitchFamily="18" charset="0"/>
                            </a:rPr>
                          </m:ctrlPr>
                        </m:sSubPr>
                        <m:e>
                          <m:r>
                            <m:rPr>
                              <m:sty m:val="p"/>
                            </m:rPr>
                            <a:rPr lang="en-US" altLang="zh-CN" sz="1000" b="0" i="1" u="none" strike="noStrike" smtClean="0">
                              <a:effectLst/>
                              <a:uFillTx/>
                              <a:latin typeface="Cambria Math" panose="02040503050406030204" pitchFamily="18" charset="0"/>
                            </a:rPr>
                            <m:t>a</m:t>
                          </m:r>
                        </m:e>
                        <m:sub>
                          <m:r>
                            <m:rPr>
                              <m:sty m:val="p"/>
                            </m:rPr>
                            <a:rPr lang="en-US" altLang="zh-CN" sz="1000" b="0" i="1" u="none" strike="noStrike" smtClean="0">
                              <a:effectLst/>
                              <a:uFillTx/>
                              <a:latin typeface="Cambria Math" panose="02040503050406030204" pitchFamily="18" charset="0"/>
                            </a:rPr>
                            <m:t>q</m:t>
                          </m:r>
                        </m:sub>
                      </m:sSub>
                    </m:oMath>
                  </a14:m>
                  <a:r>
                    <a:rPr lang="en-US" sz="1000" b="0" i="1" u="none" strike="noStrike" dirty="0">
                      <a:effectLst/>
                      <a:uFillTx/>
                      <a:latin typeface="Times New Roman" panose="02020603050405020304" pitchFamily="18" charset="0"/>
                      <a:cs typeface="Times New Roman" panose="02020603050405020304" pitchFamily="18" charset="0"/>
                    </a:rPr>
                    <a:t> = clip(</a:t>
                  </a:r>
                  <a14:m>
                    <m:oMath xmlns:m="http://schemas.openxmlformats.org/officeDocument/2006/math">
                      <m:sSubSup>
                        <m:sSubSupPr>
                          <m:ctrlPr>
                            <a:rPr lang="en-US" altLang="zh-CN" sz="1000" b="0" i="1" u="none" strike="noStrike" smtClean="0">
                              <a:effectLst/>
                              <a:uFillTx/>
                              <a:latin typeface="Cambria Math" panose="02040503050406030204" pitchFamily="18" charset="0"/>
                            </a:rPr>
                          </m:ctrlPr>
                        </m:sSubSupPr>
                        <m:e>
                          <m:r>
                            <m:rPr>
                              <m:sty m:val="p"/>
                            </m:rPr>
                            <a:rPr lang="en-US" altLang="zh-CN" sz="1000" b="0" i="1" u="none" strike="noStrike" smtClean="0">
                              <a:effectLst/>
                              <a:uFillTx/>
                              <a:latin typeface="Cambria Math" panose="02040503050406030204" pitchFamily="18" charset="0"/>
                            </a:rPr>
                            <m:t>A</m:t>
                          </m:r>
                        </m:e>
                        <m:sub>
                          <m:r>
                            <m:rPr>
                              <m:sty m:val="p"/>
                            </m:rPr>
                            <a:rPr lang="en-US" altLang="zh-CN" sz="1000" b="0" i="1" u="none" strike="noStrike" smtClean="0">
                              <a:effectLst/>
                              <a:uFillTx/>
                              <a:latin typeface="Cambria Math" panose="02040503050406030204" pitchFamily="18" charset="0"/>
                            </a:rPr>
                            <m:t>q</m:t>
                          </m:r>
                        </m:sub>
                        <m:sup>
                          <m:r>
                            <m:rPr>
                              <m:nor/>
                            </m:rPr>
                            <a:rPr lang="en-US" altLang="zh-CN" sz="1000" i="1" baseline="30000" dirty="0">
                              <a:latin typeface="Times New Roman" panose="02020603050405020304" pitchFamily="18" charset="0"/>
                              <a:cs typeface="Times New Roman" panose="02020603050405020304" pitchFamily="18" charset="0"/>
                            </a:rPr>
                            <m:t>−½</m:t>
                          </m:r>
                        </m:sup>
                      </m:sSubSup>
                    </m:oMath>
                  </a14:m>
                  <a:r>
                    <a:rPr lang="en-US" sz="1000" b="0" i="1" u="none" strike="noStrike" dirty="0">
                      <a:effectLst/>
                      <a:uFillTx/>
                      <a:latin typeface="Times New Roman" panose="02020603050405020304" pitchFamily="18" charset="0"/>
                      <a:cs typeface="Times New Roman" panose="02020603050405020304" pitchFamily="18" charset="0"/>
                    </a:rPr>
                    <a:t>/mean(</a:t>
                  </a:r>
                  <a14:m>
                    <m:oMath xmlns:m="http://schemas.openxmlformats.org/officeDocument/2006/math">
                      <m:sSubSup>
                        <m:sSubSupPr>
                          <m:ctrlPr>
                            <a:rPr lang="en-US" altLang="zh-CN" sz="1000" i="1">
                              <a:latin typeface="Cambria Math" panose="02040503050406030204" pitchFamily="18" charset="0"/>
                            </a:rPr>
                          </m:ctrlPr>
                        </m:sSubSupPr>
                        <m:e>
                          <m:r>
                            <m:rPr>
                              <m:sty m:val="p"/>
                            </m:rPr>
                            <a:rPr lang="en-US" altLang="zh-CN" sz="1000" i="1">
                              <a:latin typeface="Cambria Math" panose="02040503050406030204" pitchFamily="18" charset="0"/>
                            </a:rPr>
                            <m:t>A</m:t>
                          </m:r>
                        </m:e>
                        <m:sub>
                          <m:r>
                            <m:rPr>
                              <m:sty m:val="p"/>
                            </m:rPr>
                            <a:rPr lang="en-US" altLang="zh-CN" sz="1000" b="0" i="1" smtClean="0">
                              <a:latin typeface="Cambria Math" panose="02040503050406030204" pitchFamily="18" charset="0"/>
                            </a:rPr>
                            <m:t>k</m:t>
                          </m:r>
                        </m:sub>
                        <m:sup>
                          <m:r>
                            <m:rPr>
                              <m:nor/>
                            </m:rPr>
                            <a:rPr lang="en-US" altLang="zh-CN" sz="1000" i="1" baseline="30000" dirty="0">
                              <a:latin typeface="Times New Roman" panose="02020603050405020304" pitchFamily="18" charset="0"/>
                              <a:cs typeface="Times New Roman" panose="02020603050405020304" pitchFamily="18" charset="0"/>
                            </a:rPr>
                            <m:t>−½</m:t>
                          </m:r>
                        </m:sup>
                      </m:sSubSup>
                    </m:oMath>
                  </a14:m>
                  <a:r>
                    <a:rPr lang="en-US" sz="1000" b="0" i="1" u="none" strike="noStrike" dirty="0">
                      <a:effectLst/>
                      <a:uFillTx/>
                      <a:latin typeface="Times New Roman" panose="02020603050405020304" pitchFamily="18" charset="0"/>
                      <a:cs typeface="Times New Roman" panose="02020603050405020304" pitchFamily="18" charset="0"/>
                    </a:rPr>
                    <a:t>), 1/1.75, 1.75)</a:t>
                  </a:r>
                </a:p>
              </p:txBody>
            </p:sp>
          </mc:Choice>
          <mc:Fallback xmlns="">
            <p:sp>
              <p:nvSpPr>
                <p:cNvPr id="465" name="scale_weight"/>
                <p:cNvSpPr>
                  <a:spLocks noRot="1" noChangeAspect="1" noMove="1" noResize="1" noEditPoints="1" noAdjustHandles="1" noChangeArrowheads="1" noChangeShapeType="1" noTextEdit="1"/>
                </p:cNvSpPr>
                <p:nvPr/>
              </p:nvSpPr>
              <p:spPr>
                <a:xfrm>
                  <a:off x="1710000" y="1761120"/>
                  <a:ext cx="2858400" cy="151200"/>
                </a:xfrm>
                <a:prstGeom prst="rect">
                  <a:avLst/>
                </a:prstGeom>
                <a:blipFill>
                  <a:blip r:embed="rId3"/>
                  <a:stretch>
                    <a:fillRect t="-36000" b="-48000"/>
                  </a:stretch>
                </a:blipFill>
                <a:ln w="0">
                  <a:noFill/>
                </a:ln>
              </p:spPr>
              <p:txBody>
                <a:bodyPr/>
                <a:lstStyle/>
                <a:p>
                  <a:r>
                    <a:rPr lang="zh-CN" altLang="en-US">
                      <a:noFill/>
                    </a:rPr>
                    <a:t> </a:t>
                  </a:r>
                </a:p>
              </p:txBody>
            </p:sp>
          </mc:Fallback>
        </mc:AlternateContent>
        <p:sp>
          <p:nvSpPr>
            <p:cNvPr id="466" name="layer_weighting"/>
            <p:cNvSpPr/>
            <p:nvPr/>
          </p:nvSpPr>
          <p:spPr>
            <a:xfrm>
              <a:off x="5006160" y="1511640"/>
              <a:ext cx="1643760" cy="430920"/>
            </a:xfrm>
            <a:prstGeom prst="roundRect">
              <a:avLst>
                <a:gd name="adj" fmla="val 15000"/>
              </a:avLst>
            </a:prstGeom>
            <a:solidFill>
              <a:schemeClr val="tx2">
                <a:lumMod val="10000"/>
                <a:lumOff val="90000"/>
              </a:schemeClr>
            </a:solidFill>
            <a:ln w="6480">
              <a:solidFill>
                <a:srgbClr val="607F9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67" name="layer_weighting_title"/>
            <p:cNvSpPr/>
            <p:nvPr/>
          </p:nvSpPr>
          <p:spPr>
            <a:xfrm>
              <a:off x="4932000" y="1541520"/>
              <a:ext cx="1760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Layer-pair weighting</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68" name="pair_weight"/>
            <p:cNvSpPr/>
            <p:nvPr/>
          </p:nvSpPr>
          <p:spPr>
            <a:xfrm>
              <a:off x="4932000" y="1761120"/>
              <a:ext cx="1760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l-GR" sz="900" b="0" i="1" u="none" strike="noStrike" dirty="0">
                  <a:effectLst/>
                  <a:uFillTx/>
                  <a:latin typeface="Times New Roman" panose="02020603050405020304" pitchFamily="18" charset="0"/>
                  <a:cs typeface="Times New Roman" panose="02020603050405020304" pitchFamily="18" charset="0"/>
                </a:rPr>
                <a:t>α</a:t>
              </a:r>
              <a:r>
                <a:rPr lang="en-US" sz="850" b="0" i="1" u="none" strike="noStrike" baseline="-25000" dirty="0" err="1">
                  <a:effectLst/>
                  <a:uFillTx/>
                  <a:latin typeface="Times New Roman" panose="02020603050405020304" pitchFamily="18" charset="0"/>
                  <a:cs typeface="Times New Roman" panose="02020603050405020304" pitchFamily="18" charset="0"/>
                </a:rPr>
                <a:t>i</a:t>
              </a:r>
              <a:r>
                <a:rPr lang="en-US" sz="900" b="0" i="1" u="none" strike="noStrike" dirty="0">
                  <a:effectLst/>
                  <a:uFillTx/>
                  <a:latin typeface="Times New Roman" panose="02020603050405020304" pitchFamily="18" charset="0"/>
                  <a:cs typeface="Times New Roman" panose="02020603050405020304" pitchFamily="18" charset="0"/>
                </a:rPr>
                <a:t> = 1 + 0.35(5 − </a:t>
              </a:r>
              <a:r>
                <a:rPr lang="en-US" sz="900" b="0" i="1" u="none" strike="noStrike" dirty="0" err="1">
                  <a:effectLst/>
                  <a:uFillTx/>
                  <a:latin typeface="Times New Roman" panose="02020603050405020304" pitchFamily="18" charset="0"/>
                  <a:cs typeface="Times New Roman" panose="02020603050405020304" pitchFamily="18" charset="0"/>
                </a:rPr>
                <a:t>i</a:t>
              </a:r>
              <a:r>
                <a:rPr lang="en-US" sz="900" b="0" i="1" u="none" strike="noStrike" dirty="0">
                  <a:effectLst/>
                  <a:uFillTx/>
                  <a:latin typeface="Times New Roman" panose="02020603050405020304" pitchFamily="18" charset="0"/>
                  <a:cs typeface="Times New Roman" panose="02020603050405020304" pitchFamily="18" charset="0"/>
                </a:rPr>
                <a:t>)</a:t>
              </a:r>
            </a:p>
          </p:txBody>
        </p:sp>
        <p:sp>
          <p:nvSpPr>
            <p:cNvPr id="469" name="adjacent_panel"/>
            <p:cNvSpPr/>
            <p:nvPr/>
          </p:nvSpPr>
          <p:spPr>
            <a:xfrm>
              <a:off x="486000" y="2168799"/>
              <a:ext cx="6440400" cy="1724400"/>
            </a:xfrm>
            <a:prstGeom prst="roundRect">
              <a:avLst>
                <a:gd name="adj" fmla="val 4500"/>
              </a:avLst>
            </a:prstGeom>
            <a:solidFill>
              <a:schemeClr val="bg1"/>
            </a:solidFill>
            <a:ln w="12700">
              <a:solidFill>
                <a:schemeClr val="tx1"/>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70" name="adjacent_panel_title"/>
            <p:cNvSpPr/>
            <p:nvPr/>
          </p:nvSpPr>
          <p:spPr>
            <a:xfrm>
              <a:off x="576000" y="2236320"/>
              <a:ext cx="44964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(a) Adjacent-layer consistency (i = 1, …, 5)</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71" name="shallow"/>
            <p:cNvSpPr/>
            <p:nvPr/>
          </p:nvSpPr>
          <p:spPr>
            <a:xfrm>
              <a:off x="624960" y="2481480"/>
              <a:ext cx="829800" cy="348480"/>
            </a:xfrm>
            <a:prstGeom prst="roundRect">
              <a:avLst>
                <a:gd name="adj" fmla="val 15000"/>
              </a:avLst>
            </a:prstGeom>
            <a:solidFill>
              <a:srgbClr val="FFFFFF"/>
            </a:solidFill>
            <a:ln w="6480">
              <a:solidFill>
                <a:srgbClr val="7098B7"/>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72" name="shallow_text"/>
                <p:cNvSpPr/>
                <p:nvPr/>
              </p:nvSpPr>
              <p:spPr>
                <a:xfrm>
                  <a:off x="658440" y="2491920"/>
                  <a:ext cx="731160" cy="327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Shallow logits</a:t>
                  </a:r>
                </a:p>
                <a:p>
                  <a:pPr algn="ctr" defTabSz="1018080">
                    <a:lnSpc>
                      <a:spcPct val="100000"/>
                    </a:lnSpc>
                  </a:pPr>
                  <a14:m>
                    <m:oMathPara xmlns:m="http://schemas.openxmlformats.org/officeDocument/2006/math">
                      <m:oMath>
                        <m:sSub>
                          <m:sSubPr>
                            <m:ctrlPr>
                              <a:rPr lang="en-US" altLang="zh-CN" sz="900" i="1" dirty="0">
                                <a:latin typeface="Times New Roman" panose="02020603050405020304" pitchFamily="18" charset="0"/>
                                <a:cs typeface="Times New Roman" panose="02020603050405020304" pitchFamily="18" charset="0"/>
                              </a:rPr>
                            </m:ctrlPr>
                          </m:sSubPr>
                          <m:e>
                            <m:r>
                              <m:rPr>
                                <m:nor/>
                              </m:rPr>
                              <a:rPr lang="en-US" altLang="zh-CN" sz="900" i="1" dirty="0">
                                <a:latin typeface="Times New Roman" panose="02020603050405020304" pitchFamily="18" charset="0"/>
                                <a:cs typeface="Times New Roman" panose="02020603050405020304" pitchFamily="18" charset="0"/>
                              </a:rPr>
                              <m:t>z</m:t>
                            </m:r>
                          </m:e>
                          <m:sub>
                            <m:r>
                              <m:rPr>
                                <m:nor/>
                              </m:rPr>
                              <a:rPr lang="en-US" altLang="zh-CN" sz="900" i="1" baseline="-25000" dirty="0">
                                <a:latin typeface="Times New Roman" panose="02020603050405020304" pitchFamily="18" charset="0"/>
                                <a:cs typeface="Times New Roman" panose="02020603050405020304" pitchFamily="18" charset="0"/>
                              </a:rPr>
                              <m:t>i</m:t>
                            </m:r>
                          </m:sub>
                        </m:sSub>
                      </m:oMath>
                    </m:oMathPara>
                  </a14:m>
                  <a:endParaRPr lang="en-US" sz="85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72" name="shallow_text"/>
                <p:cNvSpPr>
                  <a:spLocks noRot="1" noChangeAspect="1" noMove="1" noResize="1" noEditPoints="1" noAdjustHandles="1" noChangeArrowheads="1" noChangeShapeType="1" noTextEdit="1"/>
                </p:cNvSpPr>
                <p:nvPr/>
              </p:nvSpPr>
              <p:spPr>
                <a:xfrm>
                  <a:off x="658440" y="2491920"/>
                  <a:ext cx="731160" cy="327600"/>
                </a:xfrm>
                <a:prstGeom prst="rect">
                  <a:avLst/>
                </a:prstGeom>
                <a:blipFill>
                  <a:blip r:embed="rId4"/>
                  <a:stretch>
                    <a:fillRect l="-4167" t="-5556" r="-4167" b="-7407"/>
                  </a:stretch>
                </a:blipFill>
                <a:ln w="0">
                  <a:noFill/>
                </a:ln>
              </p:spPr>
              <p:txBody>
                <a:bodyPr/>
                <a:lstStyle/>
                <a:p>
                  <a:r>
                    <a:rPr lang="zh-CN" altLang="en-US">
                      <a:noFill/>
                    </a:rPr>
                    <a:t> </a:t>
                  </a:r>
                </a:p>
              </p:txBody>
            </p:sp>
          </mc:Fallback>
        </mc:AlternateContent>
        <p:sp>
          <p:nvSpPr>
            <p:cNvPr id="473" name="deep"/>
            <p:cNvSpPr/>
            <p:nvPr/>
          </p:nvSpPr>
          <p:spPr>
            <a:xfrm>
              <a:off x="688680" y="3381480"/>
              <a:ext cx="702720" cy="348480"/>
            </a:xfrm>
            <a:prstGeom prst="roundRect">
              <a:avLst>
                <a:gd name="adj" fmla="val 15000"/>
              </a:avLst>
            </a:prstGeom>
            <a:solidFill>
              <a:srgbClr val="FFFFFF"/>
            </a:solidFill>
            <a:ln w="6480">
              <a:solidFill>
                <a:srgbClr val="7098B7"/>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74" name="deep_text"/>
                <p:cNvSpPr/>
                <p:nvPr/>
              </p:nvSpPr>
              <p:spPr>
                <a:xfrm>
                  <a:off x="673200" y="3391920"/>
                  <a:ext cx="702000" cy="327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Deep logits</a:t>
                  </a:r>
                </a:p>
                <a:p>
                  <a:pPr algn="ctr" defTabSz="1018080">
                    <a:lnSpc>
                      <a:spcPct val="100000"/>
                    </a:lnSpc>
                  </a:pPr>
                  <a14:m>
                    <m:oMathPara xmlns:m="http://schemas.openxmlformats.org/officeDocument/2006/math">
                      <m:oMath>
                        <m:sSub>
                          <m:sSubPr>
                            <m:ctrlPr>
                              <a:rPr lang="en-US" altLang="zh-CN" sz="900" i="1" dirty="0">
                                <a:latin typeface="Times New Roman" panose="02020603050405020304" pitchFamily="18" charset="0"/>
                                <a:cs typeface="Times New Roman" panose="02020603050405020304" pitchFamily="18" charset="0"/>
                              </a:rPr>
                            </m:ctrlPr>
                          </m:sSubPr>
                          <m:e>
                            <m:r>
                              <m:rPr>
                                <m:nor/>
                              </m:rPr>
                              <a:rPr lang="en-US" altLang="zh-CN" sz="900" i="1" dirty="0">
                                <a:latin typeface="Times New Roman" panose="02020603050405020304" pitchFamily="18" charset="0"/>
                                <a:cs typeface="Times New Roman" panose="02020603050405020304" pitchFamily="18" charset="0"/>
                              </a:rPr>
                              <m:t>z</m:t>
                            </m:r>
                          </m:e>
                          <m:sub>
                            <m:r>
                              <m:rPr>
                                <m:nor/>
                              </m:rPr>
                              <a:rPr lang="en-US" altLang="zh-CN" sz="900" i="1" baseline="-25000" dirty="0">
                                <a:latin typeface="Times New Roman" panose="02020603050405020304" pitchFamily="18" charset="0"/>
                                <a:cs typeface="Times New Roman" panose="02020603050405020304" pitchFamily="18" charset="0"/>
                              </a:rPr>
                              <m:t>i</m:t>
                            </m:r>
                            <m:r>
                              <m:rPr>
                                <m:nor/>
                              </m:rPr>
                              <a:rPr lang="en-US" altLang="zh-CN" sz="900" b="0" i="1" baseline="-25000" dirty="0" smtClean="0">
                                <a:latin typeface="Times New Roman" panose="02020603050405020304" pitchFamily="18" charset="0"/>
                                <a:cs typeface="Times New Roman" panose="02020603050405020304" pitchFamily="18" charset="0"/>
                              </a:rPr>
                              <m:t>+1</m:t>
                            </m:r>
                          </m:sub>
                        </m:sSub>
                      </m:oMath>
                    </m:oMathPara>
                  </a14:m>
                  <a:endParaRPr lang="en-US" sz="85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74" name="deep_text"/>
                <p:cNvSpPr>
                  <a:spLocks noRot="1" noChangeAspect="1" noMove="1" noResize="1" noEditPoints="1" noAdjustHandles="1" noChangeArrowheads="1" noChangeShapeType="1" noTextEdit="1"/>
                </p:cNvSpPr>
                <p:nvPr/>
              </p:nvSpPr>
              <p:spPr>
                <a:xfrm>
                  <a:off x="673200" y="3391920"/>
                  <a:ext cx="702000" cy="327600"/>
                </a:xfrm>
                <a:prstGeom prst="rect">
                  <a:avLst/>
                </a:prstGeom>
                <a:blipFill>
                  <a:blip r:embed="rId5"/>
                  <a:stretch>
                    <a:fillRect t="-3704" b="-9259"/>
                  </a:stretch>
                </a:blipFill>
                <a:ln w="0">
                  <a:noFill/>
                </a:ln>
              </p:spPr>
              <p:txBody>
                <a:bodyPr/>
                <a:lstStyle/>
                <a:p>
                  <a:r>
                    <a:rPr lang="zh-CN" altLang="en-US">
                      <a:noFill/>
                    </a:rPr>
                    <a:t> </a:t>
                  </a:r>
                </a:p>
              </p:txBody>
            </p:sp>
          </mc:Fallback>
        </mc:AlternateContent>
        <p:sp>
          <p:nvSpPr>
            <p:cNvPr id="475" name="pair_softmax"/>
            <p:cNvSpPr/>
            <p:nvPr/>
          </p:nvSpPr>
          <p:spPr>
            <a:xfrm>
              <a:off x="1617840" y="2472840"/>
              <a:ext cx="1148400" cy="1206720"/>
            </a:xfrm>
            <a:prstGeom prst="roundRect">
              <a:avLst>
                <a:gd name="adj" fmla="val 15000"/>
              </a:avLst>
            </a:prstGeom>
            <a:solidFill>
              <a:srgbClr val="FFFFFF"/>
            </a:solidFill>
            <a:ln w="6480">
              <a:solidFill>
                <a:srgbClr val="7098B7"/>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76" name="pair_softmax_title"/>
            <p:cNvSpPr/>
            <p:nvPr/>
          </p:nvSpPr>
          <p:spPr>
            <a:xfrm>
              <a:off x="1677600" y="2502720"/>
              <a:ext cx="9972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Matched queries</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77" name="p_formula"/>
                <p:cNvSpPr/>
                <p:nvPr/>
              </p:nvSpPr>
              <p:spPr>
                <a:xfrm>
                  <a:off x="1674000" y="2945520"/>
                  <a:ext cx="10044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Sup>
                        <m:sSubSupPr>
                          <m:ctrlPr>
                            <a:rPr lang="en-US" altLang="zh-CN" sz="800" i="1">
                              <a:latin typeface="Cambria Math" panose="02040503050406030204" pitchFamily="18" charset="0"/>
                            </a:rPr>
                          </m:ctrlPr>
                        </m:sSubSupPr>
                        <m:e>
                          <m:r>
                            <a:rPr lang="en-US" altLang="zh-CN" sz="800" i="1">
                              <a:latin typeface="Cambria Math" panose="02040503050406030204" pitchFamily="18" charset="0"/>
                            </a:rPr>
                            <m:t>𝑝</m:t>
                          </m:r>
                        </m:e>
                        <m:sub>
                          <m:r>
                            <a:rPr lang="en-US" altLang="zh-CN" sz="800" i="1">
                              <a:latin typeface="Cambria Math" panose="02040503050406030204" pitchFamily="18" charset="0"/>
                            </a:rPr>
                            <m:t>𝑖</m:t>
                          </m:r>
                        </m:sub>
                        <m:sup>
                          <m:r>
                            <m:rPr>
                              <m:nor/>
                            </m:rPr>
                            <a:rPr lang="en-US" altLang="zh-CN" sz="800" i="1">
                              <a:latin typeface="Times New Roman" panose="02020603050405020304" pitchFamily="18" charset="0"/>
                              <a:cs typeface="Times New Roman" panose="02020603050405020304" pitchFamily="18" charset="0"/>
                            </a:rPr>
                            <m:t>T</m:t>
                          </m:r>
                        </m:sup>
                      </m:sSubSup>
                    </m:oMath>
                  </a14:m>
                  <a:r>
                    <a:rPr lang="en-US" sz="800" b="0" u="none" strike="noStrike" dirty="0">
                      <a:effectLst/>
                      <a:uFillTx/>
                      <a:latin typeface="Times New Roman" panose="02020603050405020304" pitchFamily="18" charset="0"/>
                      <a:cs typeface="Times New Roman" panose="02020603050405020304" pitchFamily="18" charset="0"/>
                    </a:rPr>
                    <a:t> </a:t>
                  </a:r>
                  <a:r>
                    <a:rPr lang="en-US" sz="900" b="0" u="none" strike="noStrike" dirty="0">
                      <a:effectLst/>
                      <a:uFillTx/>
                      <a:latin typeface="Times New Roman" panose="02020603050405020304" pitchFamily="18" charset="0"/>
                      <a:cs typeface="Times New Roman" panose="02020603050405020304" pitchFamily="18" charset="0"/>
                    </a:rPr>
                    <a:t>= </a:t>
                  </a:r>
                  <a:r>
                    <a:rPr lang="en-US" sz="900" b="0" u="none" strike="noStrike" dirty="0" err="1">
                      <a:effectLst/>
                      <a:uFillTx/>
                      <a:latin typeface="Times New Roman" panose="02020603050405020304" pitchFamily="18" charset="0"/>
                      <a:cs typeface="Times New Roman" panose="02020603050405020304" pitchFamily="18" charset="0"/>
                    </a:rPr>
                    <a:t>softmax</a:t>
                  </a:r>
                  <a:r>
                    <a:rPr lang="en-US" sz="900" b="0" u="none" strike="noStrike" dirty="0">
                      <a:effectLst/>
                      <a:uFillTx/>
                      <a:latin typeface="Times New Roman" panose="02020603050405020304" pitchFamily="18" charset="0"/>
                      <a:cs typeface="Times New Roman" panose="02020603050405020304" pitchFamily="18" charset="0"/>
                    </a:rPr>
                    <a:t>(z</a:t>
                  </a:r>
                  <a:r>
                    <a:rPr lang="en-US" sz="850" b="0" i="1" u="none" strike="noStrike" baseline="-25000" dirty="0">
                      <a:effectLst/>
                      <a:uFillTx/>
                      <a:latin typeface="Times New Roman" panose="02020603050405020304" pitchFamily="18" charset="0"/>
                      <a:cs typeface="Times New Roman" panose="02020603050405020304" pitchFamily="18" charset="0"/>
                    </a:rPr>
                    <a:t>i </a:t>
                  </a:r>
                  <a:r>
                    <a:rPr lang="en-US" sz="900" b="0" u="none" strike="noStrike" dirty="0">
                      <a:effectLst/>
                      <a:uFillTx/>
                      <a:latin typeface="Times New Roman" panose="02020603050405020304" pitchFamily="18" charset="0"/>
                      <a:cs typeface="Times New Roman" panose="02020603050405020304" pitchFamily="18" charset="0"/>
                    </a:rPr>
                    <a:t>/T)</a:t>
                  </a:r>
                </a:p>
              </p:txBody>
            </p:sp>
          </mc:Choice>
          <mc:Fallback xmlns="">
            <p:sp>
              <p:nvSpPr>
                <p:cNvPr id="477" name="p_formula"/>
                <p:cNvSpPr>
                  <a:spLocks noRot="1" noChangeAspect="1" noMove="1" noResize="1" noEditPoints="1" noAdjustHandles="1" noChangeArrowheads="1" noChangeShapeType="1" noTextEdit="1"/>
                </p:cNvSpPr>
                <p:nvPr/>
              </p:nvSpPr>
              <p:spPr>
                <a:xfrm>
                  <a:off x="1674000" y="2945520"/>
                  <a:ext cx="1004400" cy="158400"/>
                </a:xfrm>
                <a:prstGeom prst="rect">
                  <a:avLst/>
                </a:prstGeom>
                <a:blipFill>
                  <a:blip r:embed="rId6"/>
                  <a:stretch>
                    <a:fillRect t="-15385" r="-1220" b="-42308"/>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8" name="q_formula"/>
                <p:cNvSpPr/>
                <p:nvPr/>
              </p:nvSpPr>
              <p:spPr>
                <a:xfrm>
                  <a:off x="1654200" y="3233520"/>
                  <a:ext cx="10440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Sup>
                        <m:sSubSupPr>
                          <m:ctrlPr>
                            <a:rPr lang="en-US" altLang="zh-CN" sz="800" b="0" i="1" smtClean="0">
                              <a:latin typeface="Cambria Math" panose="02040503050406030204" pitchFamily="18" charset="0"/>
                            </a:rPr>
                          </m:ctrlPr>
                        </m:sSubSupPr>
                        <m:e>
                          <m:r>
                            <a:rPr lang="en-US" altLang="zh-CN" sz="800" b="0" i="1" smtClean="0">
                              <a:latin typeface="Cambria Math" panose="02040503050406030204" pitchFamily="18" charset="0"/>
                            </a:rPr>
                            <m:t>𝑝</m:t>
                          </m:r>
                        </m:e>
                        <m:sub>
                          <m:r>
                            <a:rPr lang="en-US" altLang="zh-CN" sz="800" b="0" i="1" smtClean="0">
                              <a:latin typeface="Cambria Math" panose="02040503050406030204" pitchFamily="18" charset="0"/>
                            </a:rPr>
                            <m:t>𝑖</m:t>
                          </m:r>
                          <m:r>
                            <a:rPr lang="en-US" altLang="zh-CN" sz="800" b="0" i="1" smtClean="0">
                              <a:latin typeface="Cambria Math" panose="02040503050406030204" pitchFamily="18" charset="0"/>
                            </a:rPr>
                            <m:t>+1</m:t>
                          </m:r>
                        </m:sub>
                        <m:sup>
                          <m:r>
                            <m:rPr>
                              <m:nor/>
                            </m:rPr>
                            <a:rPr lang="en-US" altLang="zh-CN" sz="800" b="0" i="1" smtClean="0">
                              <a:latin typeface="Times New Roman" panose="02020603050405020304" pitchFamily="18" charset="0"/>
                              <a:cs typeface="Times New Roman" panose="02020603050405020304" pitchFamily="18" charset="0"/>
                            </a:rPr>
                            <m:t>T</m:t>
                          </m:r>
                        </m:sup>
                      </m:sSubSup>
                    </m:oMath>
                  </a14:m>
                  <a:r>
                    <a:rPr lang="de-DE" sz="900" b="0" u="none" strike="noStrike" spc="-17" dirty="0">
                      <a:effectLst/>
                      <a:uFillTx/>
                      <a:latin typeface="Times New Roman" panose="02020603050405020304" pitchFamily="18" charset="0"/>
                      <a:cs typeface="Times New Roman" panose="02020603050405020304" pitchFamily="18" charset="0"/>
                    </a:rPr>
                    <a:t>= softmax(z</a:t>
                  </a:r>
                  <a:r>
                    <a:rPr lang="de-DE" sz="850" b="0" i="1" u="none" strike="noStrike" spc="-17" baseline="-25000" dirty="0">
                      <a:effectLst/>
                      <a:uFillTx/>
                      <a:latin typeface="Times New Roman" panose="02020603050405020304" pitchFamily="18" charset="0"/>
                      <a:cs typeface="Times New Roman" panose="02020603050405020304" pitchFamily="18" charset="0"/>
                    </a:rPr>
                    <a:t>i+1 </a:t>
                  </a:r>
                  <a:r>
                    <a:rPr lang="de-DE" sz="900" b="0" u="none" strike="noStrike" spc="-17" dirty="0">
                      <a:effectLst/>
                      <a:uFillTx/>
                      <a:latin typeface="Times New Roman" panose="02020603050405020304" pitchFamily="18" charset="0"/>
                      <a:cs typeface="Times New Roman" panose="02020603050405020304" pitchFamily="18" charset="0"/>
                    </a:rPr>
                    <a:t>/T)</a:t>
                  </a:r>
                  <a:endParaRPr lang="en-US" sz="90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78" name="q_formula"/>
                <p:cNvSpPr>
                  <a:spLocks noRot="1" noChangeAspect="1" noMove="1" noResize="1" noEditPoints="1" noAdjustHandles="1" noChangeArrowheads="1" noChangeShapeType="1" noTextEdit="1"/>
                </p:cNvSpPr>
                <p:nvPr/>
              </p:nvSpPr>
              <p:spPr>
                <a:xfrm>
                  <a:off x="1654200" y="3233520"/>
                  <a:ext cx="1044000" cy="158400"/>
                </a:xfrm>
                <a:prstGeom prst="rect">
                  <a:avLst/>
                </a:prstGeom>
                <a:blipFill>
                  <a:blip r:embed="rId7"/>
                  <a:stretch>
                    <a:fillRect l="-581" t="-15385" r="-3488" b="-42308"/>
                  </a:stretch>
                </a:blipFill>
                <a:ln w="0">
                  <a:noFill/>
                </a:ln>
              </p:spPr>
              <p:txBody>
                <a:bodyPr/>
                <a:lstStyle/>
                <a:p>
                  <a:r>
                    <a:rPr lang="zh-CN" altLang="en-US">
                      <a:noFill/>
                    </a:rPr>
                    <a:t> </a:t>
                  </a:r>
                </a:p>
              </p:txBody>
            </p:sp>
          </mc:Fallback>
        </mc:AlternateContent>
        <p:sp>
          <p:nvSpPr>
            <p:cNvPr id="479" name="temperature"/>
            <p:cNvSpPr/>
            <p:nvPr/>
          </p:nvSpPr>
          <p:spPr>
            <a:xfrm>
              <a:off x="1677600" y="3503520"/>
              <a:ext cx="9972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a:effectLst/>
                  <a:uFillTx/>
                  <a:latin typeface="Times New Roman" panose="02020603050405020304" pitchFamily="18" charset="0"/>
                  <a:cs typeface="Times New Roman" panose="02020603050405020304" pitchFamily="18" charset="0"/>
                </a:rPr>
                <a:t>T = 1.5</a:t>
              </a:r>
            </a:p>
          </p:txBody>
        </p:sp>
        <p:sp>
          <p:nvSpPr>
            <p:cNvPr id="480" name="kl"/>
            <p:cNvSpPr/>
            <p:nvPr/>
          </p:nvSpPr>
          <p:spPr>
            <a:xfrm>
              <a:off x="3195360" y="2451600"/>
              <a:ext cx="1485360" cy="394200"/>
            </a:xfrm>
            <a:prstGeom prst="roundRect">
              <a:avLst>
                <a:gd name="adj" fmla="val 15000"/>
              </a:avLst>
            </a:prstGeom>
            <a:solidFill>
              <a:schemeClr val="tx2">
                <a:lumMod val="10000"/>
                <a:lumOff val="90000"/>
              </a:schemeClr>
            </a:solidFill>
            <a:ln w="6480">
              <a:solidFill>
                <a:srgbClr val="607F9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81" name="kl_title"/>
            <p:cNvSpPr/>
            <p:nvPr/>
          </p:nvSpPr>
          <p:spPr>
            <a:xfrm>
              <a:off x="3132000" y="2484720"/>
              <a:ext cx="1580400" cy="145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Adjacent KL</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82" name="kl_formula"/>
                <p:cNvSpPr/>
                <p:nvPr/>
              </p:nvSpPr>
              <p:spPr>
                <a:xfrm>
                  <a:off x="3132000" y="2661120"/>
                  <a:ext cx="15804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p>
                        <m:sSupPr>
                          <m:ctrlPr>
                            <a:rPr lang="en-US" altLang="zh-CN" sz="900" b="0" i="1" u="none" strike="noStrike" smtClean="0">
                              <a:effectLst/>
                              <a:uFillTx/>
                              <a:latin typeface="Cambria Math" panose="02040503050406030204" pitchFamily="18" charset="0"/>
                              <a:cs typeface="Times New Roman" panose="02020603050405020304" pitchFamily="18" charset="0"/>
                            </a:rPr>
                          </m:ctrlPr>
                        </m:sSupPr>
                        <m:e>
                          <m:r>
                            <a:rPr lang="en-US" altLang="zh-CN" sz="900" b="0" i="1" u="none" strike="noStrike" smtClean="0">
                              <a:effectLst/>
                              <a:uFillTx/>
                              <a:latin typeface="Cambria Math" panose="02040503050406030204" pitchFamily="18" charset="0"/>
                              <a:cs typeface="Times New Roman" panose="02020603050405020304" pitchFamily="18" charset="0"/>
                            </a:rPr>
                            <m:t>𝑇</m:t>
                          </m:r>
                        </m:e>
                        <m:sup>
                          <m:r>
                            <a:rPr lang="en-US" altLang="zh-CN" sz="900" b="0" i="1" u="none" strike="noStrike" smtClean="0">
                              <a:effectLst/>
                              <a:uFillTx/>
                              <a:latin typeface="Cambria Math" panose="02040503050406030204" pitchFamily="18" charset="0"/>
                              <a:cs typeface="Times New Roman" panose="02020603050405020304" pitchFamily="18" charset="0"/>
                            </a:rPr>
                            <m:t>2</m:t>
                          </m:r>
                        </m:sup>
                      </m:sSup>
                      <m:r>
                        <a:rPr lang="en-US" altLang="zh-CN" sz="900" b="0" i="1" u="none" strike="noStrike" smtClean="0">
                          <a:effectLst/>
                          <a:uFillTx/>
                          <a:latin typeface="Cambria Math" panose="02040503050406030204" pitchFamily="18" charset="0"/>
                          <a:cs typeface="Times New Roman" panose="02020603050405020304" pitchFamily="18" charset="0"/>
                        </a:rPr>
                        <m:t> </m:t>
                      </m:r>
                    </m:oMath>
                  </a14:m>
                  <a:r>
                    <a:rPr lang="fr-FR" sz="900" b="0" i="1" u="none" strike="noStrike" dirty="0">
                      <a:effectLst/>
                      <a:uFillTx/>
                      <a:latin typeface="Times New Roman" panose="02020603050405020304" pitchFamily="18" charset="0"/>
                      <a:cs typeface="Times New Roman" panose="02020603050405020304" pitchFamily="18" charset="0"/>
                    </a:rPr>
                    <a:t>D</a:t>
                  </a:r>
                  <a:r>
                    <a:rPr lang="fr-FR" sz="850" b="0" i="1" u="none" strike="noStrike" baseline="-25000" dirty="0">
                      <a:effectLst/>
                      <a:uFillTx/>
                      <a:latin typeface="Times New Roman" panose="02020603050405020304" pitchFamily="18" charset="0"/>
                      <a:cs typeface="Times New Roman" panose="02020603050405020304" pitchFamily="18" charset="0"/>
                    </a:rPr>
                    <a:t>KL</a:t>
                  </a:r>
                  <a:r>
                    <a:rPr lang="fr-FR" sz="900" b="0" i="1"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Sup>
                        <m:sSubSupPr>
                          <m:ctrlPr>
                            <a:rPr lang="en-US" altLang="zh-CN" sz="900" b="0" i="1" u="none" strike="noStrike" smtClean="0">
                              <a:effectLst/>
                              <a:uFillTx/>
                              <a:latin typeface="Cambria Math" panose="02040503050406030204" pitchFamily="18" charset="0"/>
                              <a:cs typeface="Times New Roman" panose="02020603050405020304" pitchFamily="18" charset="0"/>
                            </a:rPr>
                          </m:ctrlPr>
                        </m:sSubSupPr>
                        <m:e>
                          <m:r>
                            <a:rPr lang="en-US" altLang="zh-CN" sz="900" b="0" i="1" u="none" strike="noStrike" smtClean="0">
                              <a:effectLst/>
                              <a:uFillTx/>
                              <a:latin typeface="Cambria Math" panose="02040503050406030204" pitchFamily="18" charset="0"/>
                              <a:cs typeface="Times New Roman" panose="02020603050405020304" pitchFamily="18" charset="0"/>
                            </a:rPr>
                            <m:t>𝑝</m:t>
                          </m:r>
                        </m:e>
                        <m:sub>
                          <m:r>
                            <a:rPr lang="en-US" altLang="zh-CN" sz="900" b="0" i="1" u="none" strike="noStrike" smtClean="0">
                              <a:effectLst/>
                              <a:uFillTx/>
                              <a:latin typeface="Cambria Math" panose="02040503050406030204" pitchFamily="18" charset="0"/>
                              <a:cs typeface="Times New Roman" panose="02020603050405020304" pitchFamily="18" charset="0"/>
                            </a:rPr>
                            <m:t>𝑖</m:t>
                          </m:r>
                          <m:r>
                            <a:rPr lang="en-US" altLang="zh-CN" sz="900" b="0" i="1" u="none" strike="noStrike" smtClean="0">
                              <a:effectLst/>
                              <a:uFillTx/>
                              <a:latin typeface="Cambria Math" panose="02040503050406030204" pitchFamily="18" charset="0"/>
                              <a:cs typeface="Times New Roman" panose="02020603050405020304" pitchFamily="18" charset="0"/>
                            </a:rPr>
                            <m:t>+1</m:t>
                          </m:r>
                        </m:sub>
                        <m:sup>
                          <m:r>
                            <a:rPr lang="en-US" altLang="zh-CN" sz="900" b="0" i="1" u="none" strike="noStrike" smtClean="0">
                              <a:effectLst/>
                              <a:uFillTx/>
                              <a:latin typeface="Cambria Math" panose="02040503050406030204" pitchFamily="18" charset="0"/>
                              <a:cs typeface="Times New Roman" panose="02020603050405020304" pitchFamily="18" charset="0"/>
                            </a:rPr>
                            <m:t>𝑇</m:t>
                          </m:r>
                        </m:sup>
                      </m:sSubSup>
                    </m:oMath>
                  </a14:m>
                  <a:r>
                    <a:rPr lang="fr-FR"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Sup>
                        <m:sSubSupPr>
                          <m:ctrlPr>
                            <a:rPr lang="en-US" altLang="zh-CN" sz="900" i="1">
                              <a:latin typeface="Cambria Math" panose="02040503050406030204" pitchFamily="18" charset="0"/>
                              <a:cs typeface="Times New Roman" panose="02020603050405020304" pitchFamily="18" charset="0"/>
                            </a:rPr>
                          </m:ctrlPr>
                        </m:sSubSupPr>
                        <m:e>
                          <m:r>
                            <a:rPr lang="en-US" altLang="zh-CN" sz="900" i="1">
                              <a:latin typeface="Cambria Math" panose="02040503050406030204" pitchFamily="18" charset="0"/>
                              <a:cs typeface="Times New Roman" panose="02020603050405020304" pitchFamily="18" charset="0"/>
                            </a:rPr>
                            <m:t>𝑝</m:t>
                          </m:r>
                        </m:e>
                        <m:sub>
                          <m:r>
                            <a:rPr lang="en-US" altLang="zh-CN" sz="900" i="1">
                              <a:latin typeface="Cambria Math" panose="02040503050406030204" pitchFamily="18" charset="0"/>
                              <a:cs typeface="Times New Roman" panose="02020603050405020304" pitchFamily="18" charset="0"/>
                            </a:rPr>
                            <m:t>𝑖</m:t>
                          </m:r>
                        </m:sub>
                        <m:sup>
                          <m:r>
                            <a:rPr lang="en-US" altLang="zh-CN" sz="900" i="1">
                              <a:latin typeface="Cambria Math" panose="02040503050406030204" pitchFamily="18" charset="0"/>
                              <a:cs typeface="Times New Roman" panose="02020603050405020304" pitchFamily="18" charset="0"/>
                            </a:rPr>
                            <m:t>𝑇</m:t>
                          </m:r>
                        </m:sup>
                      </m:sSubSup>
                    </m:oMath>
                  </a14:m>
                  <a:r>
                    <a:rPr lang="fr-FR" sz="900" b="0" i="1" u="none" strike="noStrike" dirty="0">
                      <a:effectLst/>
                      <a:uFillTx/>
                      <a:latin typeface="Times New Roman" panose="02020603050405020304" pitchFamily="18" charset="0"/>
                      <a:cs typeface="Times New Roman" panose="02020603050405020304" pitchFamily="18" charset="0"/>
                    </a:rPr>
                    <a:t>)</a:t>
                  </a:r>
                  <a:endParaRPr lang="en-US" sz="90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482" name="kl_formula"/>
                <p:cNvSpPr>
                  <a:spLocks noRot="1" noChangeAspect="1" noMove="1" noResize="1" noEditPoints="1" noAdjustHandles="1" noChangeArrowheads="1" noChangeShapeType="1" noTextEdit="1"/>
                </p:cNvSpPr>
                <p:nvPr/>
              </p:nvSpPr>
              <p:spPr>
                <a:xfrm>
                  <a:off x="3132000" y="2661120"/>
                  <a:ext cx="1580400" cy="158400"/>
                </a:xfrm>
                <a:prstGeom prst="rect">
                  <a:avLst/>
                </a:prstGeom>
                <a:blipFill>
                  <a:blip r:embed="rId8"/>
                  <a:stretch>
                    <a:fillRect t="-23077" b="-38462"/>
                  </a:stretch>
                </a:blipFill>
                <a:ln w="0">
                  <a:noFill/>
                </a:ln>
              </p:spPr>
              <p:txBody>
                <a:bodyPr/>
                <a:lstStyle/>
                <a:p>
                  <a:r>
                    <a:rPr lang="zh-CN" altLang="en-US">
                      <a:noFill/>
                    </a:rPr>
                    <a:t> </a:t>
                  </a:r>
                </a:p>
              </p:txBody>
            </p:sp>
          </mc:Fallback>
        </mc:AlternateContent>
        <p:sp>
          <p:nvSpPr>
            <p:cNvPr id="483" name="hellinger"/>
            <p:cNvSpPr/>
            <p:nvPr/>
          </p:nvSpPr>
          <p:spPr>
            <a:xfrm>
              <a:off x="3195360" y="3336839"/>
              <a:ext cx="1485360" cy="504721"/>
            </a:xfrm>
            <a:prstGeom prst="roundRect">
              <a:avLst>
                <a:gd name="adj" fmla="val 15000"/>
              </a:avLst>
            </a:prstGeom>
            <a:solidFill>
              <a:schemeClr val="tx2">
                <a:lumMod val="10000"/>
                <a:lumOff val="90000"/>
              </a:schemeClr>
            </a:solidFill>
            <a:ln w="6480">
              <a:solidFill>
                <a:srgbClr val="607F9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84" name="hellinger_title"/>
            <p:cNvSpPr/>
            <p:nvPr/>
          </p:nvSpPr>
          <p:spPr>
            <a:xfrm>
              <a:off x="3147666" y="3354834"/>
              <a:ext cx="1580400" cy="145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Squared Hellinger</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85" name="hellinger_formula"/>
                <p:cNvSpPr/>
                <p:nvPr/>
              </p:nvSpPr>
              <p:spPr>
                <a:xfrm>
                  <a:off x="3132000" y="3561120"/>
                  <a:ext cx="15804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altLang="zh-CN" sz="900" i="1" dirty="0">
                      <a:latin typeface="Times New Roman" panose="02020603050405020304" pitchFamily="18" charset="0"/>
                      <a:cs typeface="Times New Roman" panose="02020603050405020304" pitchFamily="18" charset="0"/>
                    </a:rPr>
                    <a:t>d</a:t>
                  </a:r>
                  <a:r>
                    <a:rPr lang="en-US" altLang="zh-CN" sz="850" i="1" baseline="-25000" dirty="0">
                      <a:latin typeface="Times New Roman" panose="02020603050405020304" pitchFamily="18" charset="0"/>
                      <a:cs typeface="Times New Roman" panose="02020603050405020304" pitchFamily="18" charset="0"/>
                    </a:rPr>
                    <a:t>i</a:t>
                  </a:r>
                  <a:r>
                    <a:rPr lang="en-US" altLang="zh-CN" sz="900" i="1" dirty="0">
                      <a:latin typeface="Times New Roman" panose="02020603050405020304" pitchFamily="18" charset="0"/>
                      <a:cs typeface="Times New Roman" panose="02020603050405020304" pitchFamily="18" charset="0"/>
                    </a:rPr>
                    <a:t>  = </a:t>
                  </a:r>
                  <a14:m>
                    <m:oMath xmlns:m="http://schemas.openxmlformats.org/officeDocument/2006/math">
                      <m:sSup>
                        <m:sSupPr>
                          <m:ctrlPr>
                            <a:rPr lang="el-GR" altLang="zh-CN" sz="900" i="1" dirty="0">
                              <a:latin typeface="Times New Roman" panose="02020603050405020304" pitchFamily="18" charset="0"/>
                              <a:cs typeface="Times New Roman" panose="02020603050405020304" pitchFamily="18" charset="0"/>
                            </a:rPr>
                          </m:ctrlPr>
                        </m:sSupPr>
                        <m:e>
                          <m:r>
                            <m:rPr>
                              <m:nor/>
                            </m:rPr>
                            <a:rPr lang="el-GR" altLang="zh-CN" sz="900" i="1" dirty="0">
                              <a:latin typeface="Times New Roman" panose="02020603050405020304" pitchFamily="18" charset="0"/>
                              <a:cs typeface="Times New Roman" panose="02020603050405020304" pitchFamily="18" charset="0"/>
                            </a:rPr>
                            <m:t>Σ</m:t>
                          </m:r>
                          <m:r>
                            <m:rPr>
                              <m:nor/>
                            </m:rPr>
                            <a:rPr lang="en-US" altLang="zh-CN" sz="850" i="1" baseline="-25000" dirty="0">
                              <a:latin typeface="Times New Roman" panose="02020603050405020304" pitchFamily="18" charset="0"/>
                              <a:cs typeface="Times New Roman" panose="02020603050405020304" pitchFamily="18" charset="0"/>
                            </a:rPr>
                            <m:t>n</m:t>
                          </m:r>
                          <m:r>
                            <m:rPr>
                              <m:nor/>
                            </m:rPr>
                            <a:rPr lang="en-US" altLang="zh-CN" sz="900" i="1" dirty="0">
                              <a:latin typeface="Times New Roman" panose="02020603050405020304" pitchFamily="18" charset="0"/>
                              <a:cs typeface="Times New Roman" panose="02020603050405020304" pitchFamily="18" charset="0"/>
                            </a:rPr>
                            <m:t>(</m:t>
                          </m:r>
                          <m:rad>
                            <m:radPr>
                              <m:degHide m:val="on"/>
                              <m:ctrlPr>
                                <a:rPr lang="en-US" altLang="zh-CN" sz="900" i="1">
                                  <a:latin typeface="Cambria Math" panose="02040503050406030204" pitchFamily="18" charset="0"/>
                                  <a:cs typeface="Times New Roman" panose="02020603050405020304" pitchFamily="18" charset="0"/>
                                </a:rPr>
                              </m:ctrlPr>
                            </m:radPr>
                            <m:deg/>
                            <m:e>
                              <m:sSubSup>
                                <m:sSubSupPr>
                                  <m:ctrlPr>
                                    <a:rPr lang="en-US" altLang="zh-CN" sz="900" i="1">
                                      <a:latin typeface="Cambria Math" panose="02040503050406030204" pitchFamily="18" charset="0"/>
                                      <a:cs typeface="Times New Roman" panose="02020603050405020304" pitchFamily="18" charset="0"/>
                                    </a:rPr>
                                  </m:ctrlPr>
                                </m:sSubSupPr>
                                <m:e>
                                  <m:r>
                                    <a:rPr lang="en-US" altLang="zh-CN" sz="900" i="1">
                                      <a:latin typeface="Cambria Math" panose="02040503050406030204" pitchFamily="18" charset="0"/>
                                      <a:cs typeface="Times New Roman" panose="02020603050405020304" pitchFamily="18" charset="0"/>
                                    </a:rPr>
                                    <m:t>𝑝</m:t>
                                  </m:r>
                                </m:e>
                                <m:sub>
                                  <m:r>
                                    <a:rPr lang="en-US" altLang="zh-CN" sz="900" i="1">
                                      <a:latin typeface="Cambria Math" panose="02040503050406030204" pitchFamily="18" charset="0"/>
                                      <a:cs typeface="Times New Roman" panose="02020603050405020304" pitchFamily="18" charset="0"/>
                                    </a:rPr>
                                    <m:t>𝑖</m:t>
                                  </m:r>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𝑛</m:t>
                                  </m:r>
                                </m:sub>
                                <m:sup>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𝑇</m:t>
                                  </m:r>
                                  <m:r>
                                    <a:rPr lang="en-US" altLang="zh-CN" sz="900" i="1">
                                      <a:latin typeface="Cambria Math" panose="02040503050406030204" pitchFamily="18" charset="0"/>
                                      <a:cs typeface="Times New Roman" panose="02020603050405020304" pitchFamily="18" charset="0"/>
                                    </a:rPr>
                                    <m:t>)</m:t>
                                  </m:r>
                                </m:sup>
                              </m:sSubSup>
                            </m:e>
                          </m:rad>
                          <m:r>
                            <m:rPr>
                              <m:nor/>
                            </m:rPr>
                            <a:rPr lang="en-US" altLang="zh-CN" sz="900" i="1" dirty="0">
                              <a:latin typeface="Times New Roman" panose="02020603050405020304" pitchFamily="18" charset="0"/>
                              <a:cs typeface="Times New Roman" panose="02020603050405020304" pitchFamily="18" charset="0"/>
                            </a:rPr>
                            <m:t> −</m:t>
                          </m:r>
                          <m:rad>
                            <m:radPr>
                              <m:degHide m:val="on"/>
                              <m:ctrlPr>
                                <a:rPr lang="en-US" altLang="zh-CN" sz="900" i="1">
                                  <a:latin typeface="Cambria Math" panose="02040503050406030204" pitchFamily="18" charset="0"/>
                                  <a:cs typeface="Times New Roman" panose="02020603050405020304" pitchFamily="18" charset="0"/>
                                </a:rPr>
                              </m:ctrlPr>
                            </m:radPr>
                            <m:deg/>
                            <m:e>
                              <m:sSubSup>
                                <m:sSubSupPr>
                                  <m:ctrlPr>
                                    <a:rPr lang="en-US" altLang="zh-CN" sz="900" i="1">
                                      <a:latin typeface="Cambria Math" panose="02040503050406030204" pitchFamily="18" charset="0"/>
                                      <a:cs typeface="Times New Roman" panose="02020603050405020304" pitchFamily="18" charset="0"/>
                                    </a:rPr>
                                  </m:ctrlPr>
                                </m:sSubSupPr>
                                <m:e>
                                  <m:r>
                                    <a:rPr lang="en-US" altLang="zh-CN" sz="900" i="1">
                                      <a:latin typeface="Cambria Math" panose="02040503050406030204" pitchFamily="18" charset="0"/>
                                      <a:cs typeface="Times New Roman" panose="02020603050405020304" pitchFamily="18" charset="0"/>
                                    </a:rPr>
                                    <m:t>𝑝</m:t>
                                  </m:r>
                                </m:e>
                                <m:sub>
                                  <m:r>
                                    <m:rPr>
                                      <m:nor/>
                                    </m:rPr>
                                    <a:rPr lang="en-US" altLang="zh-CN" sz="900" i="1" baseline="-25000" dirty="0">
                                      <a:latin typeface="Times New Roman" panose="02020603050405020304" pitchFamily="18" charset="0"/>
                                      <a:cs typeface="Times New Roman" panose="02020603050405020304" pitchFamily="18" charset="0"/>
                                    </a:rPr>
                                    <m:t>6,n</m:t>
                                  </m:r>
                                </m:sub>
                                <m:sup>
                                  <m:r>
                                    <a:rPr lang="en-US" altLang="zh-CN" sz="900" i="1">
                                      <a:latin typeface="Cambria Math" panose="02040503050406030204" pitchFamily="18" charset="0"/>
                                      <a:cs typeface="Times New Roman" panose="02020603050405020304" pitchFamily="18" charset="0"/>
                                    </a:rPr>
                                    <m:t>(</m:t>
                                  </m:r>
                                  <m:r>
                                    <a:rPr lang="en-US" altLang="zh-CN" sz="900" i="1">
                                      <a:latin typeface="Cambria Math" panose="02040503050406030204" pitchFamily="18" charset="0"/>
                                      <a:cs typeface="Times New Roman" panose="02020603050405020304" pitchFamily="18" charset="0"/>
                                    </a:rPr>
                                    <m:t>𝑇</m:t>
                                  </m:r>
                                  <m:r>
                                    <a:rPr lang="en-US" altLang="zh-CN" sz="900" i="1">
                                      <a:latin typeface="Cambria Math" panose="02040503050406030204" pitchFamily="18" charset="0"/>
                                      <a:cs typeface="Times New Roman" panose="02020603050405020304" pitchFamily="18" charset="0"/>
                                    </a:rPr>
                                    <m:t>)</m:t>
                                  </m:r>
                                </m:sup>
                              </m:sSubSup>
                            </m:e>
                          </m:rad>
                          <m:r>
                            <a:rPr lang="en-US" altLang="zh-CN" sz="900" i="1">
                              <a:latin typeface="Cambria Math" panose="02040503050406030204" pitchFamily="18" charset="0"/>
                              <a:cs typeface="Times New Roman" panose="02020603050405020304" pitchFamily="18" charset="0"/>
                            </a:rPr>
                            <m:t> )</m:t>
                          </m:r>
                        </m:e>
                        <m:sup>
                          <m:r>
                            <a:rPr lang="en-US" altLang="zh-CN" sz="900" i="1">
                              <a:latin typeface="Cambria Math" panose="02040503050406030204" pitchFamily="18" charset="0"/>
                              <a:cs typeface="Times New Roman" panose="02020603050405020304" pitchFamily="18" charset="0"/>
                            </a:rPr>
                            <m:t>2</m:t>
                          </m:r>
                        </m:sup>
                      </m:sSup>
                    </m:oMath>
                  </a14:m>
                  <a:endParaRPr lang="en-US" altLang="zh-CN" sz="850" i="1" dirty="0">
                    <a:latin typeface="Times New Roman" panose="02020603050405020304" pitchFamily="18" charset="0"/>
                    <a:cs typeface="Times New Roman" panose="02020603050405020304" pitchFamily="18" charset="0"/>
                  </a:endParaRPr>
                </a:p>
              </p:txBody>
            </p:sp>
          </mc:Choice>
          <mc:Fallback xmlns="">
            <p:sp>
              <p:nvSpPr>
                <p:cNvPr id="485" name="hellinger_formula"/>
                <p:cNvSpPr>
                  <a:spLocks noRot="1" noChangeAspect="1" noMove="1" noResize="1" noEditPoints="1" noAdjustHandles="1" noChangeArrowheads="1" noChangeShapeType="1" noTextEdit="1"/>
                </p:cNvSpPr>
                <p:nvPr/>
              </p:nvSpPr>
              <p:spPr>
                <a:xfrm>
                  <a:off x="3132000" y="3561120"/>
                  <a:ext cx="1580400" cy="158400"/>
                </a:xfrm>
                <a:prstGeom prst="rect">
                  <a:avLst/>
                </a:prstGeom>
                <a:blipFill>
                  <a:blip r:embed="rId9"/>
                  <a:stretch>
                    <a:fillRect t="-26923" b="-53846"/>
                  </a:stretch>
                </a:blipFill>
                <a:ln w="0">
                  <a:noFill/>
                </a:ln>
              </p:spPr>
              <p:txBody>
                <a:bodyPr/>
                <a:lstStyle/>
                <a:p>
                  <a:r>
                    <a:rPr lang="zh-CN" altLang="en-US">
                      <a:noFill/>
                    </a:rPr>
                    <a:t> </a:t>
                  </a:r>
                </a:p>
              </p:txBody>
            </p:sp>
          </mc:Fallback>
        </mc:AlternateContent>
        <p:sp>
          <p:nvSpPr>
            <p:cNvPr id="486" name="kl_out"/>
            <p:cNvSpPr/>
            <p:nvPr/>
          </p:nvSpPr>
          <p:spPr>
            <a:xfrm>
              <a:off x="5412240" y="2445840"/>
              <a:ext cx="1263600" cy="396720"/>
            </a:xfrm>
            <a:prstGeom prst="roundRect">
              <a:avLst>
                <a:gd name="adj" fmla="val 15000"/>
              </a:avLst>
            </a:prstGeom>
            <a:solidFill>
              <a:srgbClr val="FFFFFF"/>
            </a:solidFill>
            <a:ln w="6480">
              <a:solidFill>
                <a:srgbClr val="7098B7"/>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87" name="kl_out_label"/>
            <p:cNvSpPr/>
            <p:nvPr/>
          </p:nvSpPr>
          <p:spPr>
            <a:xfrm>
              <a:off x="5364000" y="2481120"/>
              <a:ext cx="132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Weighted pair mean</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88" name="kl_out_loss"/>
            <p:cNvSpPr/>
            <p:nvPr/>
          </p:nvSpPr>
          <p:spPr>
            <a:xfrm>
              <a:off x="5364000" y="2657520"/>
              <a:ext cx="13284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1.25 L</a:t>
              </a:r>
              <a:r>
                <a:rPr lang="en-US" sz="850" b="0" i="1" u="none" strike="noStrike" baseline="-25000" dirty="0">
                  <a:effectLst/>
                  <a:uFillTx/>
                  <a:latin typeface="Times New Roman" panose="02020603050405020304" pitchFamily="18" charset="0"/>
                  <a:cs typeface="Times New Roman" panose="02020603050405020304" pitchFamily="18" charset="0"/>
                </a:rPr>
                <a:t>KL</a:t>
              </a:r>
              <a:endParaRPr lang="en-US" sz="850" b="0" i="1" u="none" strike="noStrike" dirty="0">
                <a:effectLst/>
                <a:uFillTx/>
                <a:latin typeface="Times New Roman" panose="02020603050405020304" pitchFamily="18" charset="0"/>
                <a:cs typeface="Times New Roman" panose="02020603050405020304" pitchFamily="18" charset="0"/>
              </a:endParaRPr>
            </a:p>
          </p:txBody>
        </p:sp>
        <p:sp>
          <p:nvSpPr>
            <p:cNvPr id="489" name="kl_out_weight"/>
            <p:cNvSpPr/>
            <p:nvPr/>
          </p:nvSpPr>
          <p:spPr>
            <a:xfrm>
              <a:off x="5724000" y="2162571"/>
              <a:ext cx="60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err="1">
                  <a:effectLst/>
                  <a:uFillTx/>
                  <a:latin typeface="Times New Roman" panose="02020603050405020304" pitchFamily="18" charset="0"/>
                  <a:cs typeface="Times New Roman" panose="02020603050405020304" pitchFamily="18" charset="0"/>
                </a:rPr>
                <a:t>a</a:t>
              </a:r>
              <a:r>
                <a:rPr lang="en-US" sz="850" b="0" i="1" u="none" strike="noStrike" baseline="-25000" dirty="0" err="1">
                  <a:effectLst/>
                  <a:uFillTx/>
                  <a:latin typeface="Times New Roman" panose="02020603050405020304" pitchFamily="18" charset="0"/>
                  <a:cs typeface="Times New Roman" panose="02020603050405020304" pitchFamily="18" charset="0"/>
                </a:rPr>
                <a:t>q</a:t>
              </a:r>
              <a:r>
                <a:rPr lang="en-US" sz="900" b="0" u="none" strike="noStrike" dirty="0">
                  <a:effectLst/>
                  <a:uFillTx/>
                  <a:latin typeface="Times New Roman" panose="02020603050405020304" pitchFamily="18" charset="0"/>
                  <a:cs typeface="Times New Roman" panose="02020603050405020304" pitchFamily="18" charset="0"/>
                </a:rPr>
                <a:t> </a:t>
              </a:r>
              <a:r>
                <a:rPr lang="el-GR" sz="900" b="0" u="none" strike="noStrike" dirty="0">
                  <a:effectLst/>
                  <a:uFillTx/>
                  <a:latin typeface="Times New Roman" panose="02020603050405020304" pitchFamily="18" charset="0"/>
                  <a:cs typeface="Times New Roman" panose="02020603050405020304" pitchFamily="18" charset="0"/>
                </a:rPr>
                <a:t>α</a:t>
              </a:r>
              <a:r>
                <a:rPr lang="en-US" sz="850" b="0" i="1" u="none" strike="noStrike" baseline="-25000" dirty="0" err="1">
                  <a:effectLst/>
                  <a:uFillTx/>
                  <a:latin typeface="Times New Roman" panose="02020603050405020304" pitchFamily="18" charset="0"/>
                  <a:cs typeface="Times New Roman" panose="02020603050405020304" pitchFamily="18" charset="0"/>
                </a:rPr>
                <a:t>i</a:t>
              </a:r>
              <a:endParaRPr lang="en-US" sz="850" b="0" u="none" strike="noStrike" dirty="0">
                <a:effectLst/>
                <a:uFillTx/>
                <a:latin typeface="Times New Roman" panose="02020603050405020304" pitchFamily="18" charset="0"/>
                <a:cs typeface="Times New Roman" panose="02020603050405020304" pitchFamily="18" charset="0"/>
              </a:endParaRPr>
            </a:p>
          </p:txBody>
        </p:sp>
        <p:sp>
          <p:nvSpPr>
            <p:cNvPr id="490" name="hellinger_out"/>
            <p:cNvSpPr/>
            <p:nvPr/>
          </p:nvSpPr>
          <p:spPr>
            <a:xfrm>
              <a:off x="5412240" y="3345840"/>
              <a:ext cx="1263600" cy="396720"/>
            </a:xfrm>
            <a:prstGeom prst="roundRect">
              <a:avLst>
                <a:gd name="adj" fmla="val 15000"/>
              </a:avLst>
            </a:prstGeom>
            <a:solidFill>
              <a:srgbClr val="FFFFFF"/>
            </a:solidFill>
            <a:ln w="6480">
              <a:solidFill>
                <a:srgbClr val="7098B7"/>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91" name="hellinger_out_label"/>
            <p:cNvSpPr/>
            <p:nvPr/>
          </p:nvSpPr>
          <p:spPr>
            <a:xfrm>
              <a:off x="5364000" y="3381120"/>
              <a:ext cx="132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Weighted pair mean</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92" name="hellinger_out_loss"/>
            <p:cNvSpPr/>
            <p:nvPr/>
          </p:nvSpPr>
          <p:spPr>
            <a:xfrm>
              <a:off x="5364000" y="3557520"/>
              <a:ext cx="13284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0.15 L</a:t>
              </a:r>
              <a:r>
                <a:rPr lang="en-US" sz="850" b="0" i="1" u="none" strike="noStrike" baseline="-25000" dirty="0">
                  <a:effectLst/>
                  <a:uFillTx/>
                  <a:latin typeface="Times New Roman" panose="02020603050405020304" pitchFamily="18" charset="0"/>
                  <a:cs typeface="Times New Roman" panose="02020603050405020304" pitchFamily="18" charset="0"/>
                </a:rPr>
                <a:t>H</a:t>
              </a:r>
              <a:endParaRPr lang="en-US" sz="850" b="0" i="1" u="none" strike="noStrike" dirty="0">
                <a:effectLst/>
                <a:uFillTx/>
                <a:latin typeface="Times New Roman" panose="02020603050405020304" pitchFamily="18" charset="0"/>
                <a:cs typeface="Times New Roman" panose="02020603050405020304" pitchFamily="18" charset="0"/>
              </a:endParaRPr>
            </a:p>
          </p:txBody>
        </p:sp>
        <p:sp>
          <p:nvSpPr>
            <p:cNvPr id="493" name="hellinger_out_weight"/>
            <p:cNvSpPr/>
            <p:nvPr/>
          </p:nvSpPr>
          <p:spPr>
            <a:xfrm>
              <a:off x="5724000" y="3016750"/>
              <a:ext cx="60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err="1">
                  <a:effectLst/>
                  <a:uFillTx/>
                  <a:latin typeface="Times New Roman" panose="02020603050405020304" pitchFamily="18" charset="0"/>
                  <a:cs typeface="Times New Roman" panose="02020603050405020304" pitchFamily="18" charset="0"/>
                </a:rPr>
                <a:t>a</a:t>
              </a:r>
              <a:r>
                <a:rPr lang="en-US" sz="850" b="0" i="1" u="none" strike="noStrike" baseline="-25000" dirty="0" err="1">
                  <a:effectLst/>
                  <a:uFillTx/>
                  <a:latin typeface="Times New Roman" panose="02020603050405020304" pitchFamily="18" charset="0"/>
                  <a:cs typeface="Times New Roman" panose="02020603050405020304" pitchFamily="18" charset="0"/>
                </a:rPr>
                <a:t>q</a:t>
              </a:r>
              <a:r>
                <a:rPr lang="en-US" sz="900" b="0" u="none" strike="noStrike" dirty="0">
                  <a:effectLst/>
                  <a:uFillTx/>
                  <a:latin typeface="Times New Roman" panose="02020603050405020304" pitchFamily="18" charset="0"/>
                  <a:cs typeface="Times New Roman" panose="02020603050405020304" pitchFamily="18" charset="0"/>
                </a:rPr>
                <a:t> </a:t>
              </a:r>
              <a:r>
                <a:rPr lang="el-GR" sz="900" b="0" u="none" strike="noStrike" dirty="0">
                  <a:effectLst/>
                  <a:uFillTx/>
                  <a:latin typeface="Times New Roman" panose="02020603050405020304" pitchFamily="18" charset="0"/>
                  <a:cs typeface="Times New Roman" panose="02020603050405020304" pitchFamily="18" charset="0"/>
                </a:rPr>
                <a:t>α</a:t>
              </a:r>
              <a:r>
                <a:rPr lang="en-US" sz="850" b="0" i="1" u="none" strike="noStrike" baseline="-25000" dirty="0" err="1">
                  <a:effectLst/>
                  <a:uFillTx/>
                  <a:latin typeface="Times New Roman" panose="02020603050405020304" pitchFamily="18" charset="0"/>
                  <a:cs typeface="Times New Roman" panose="02020603050405020304" pitchFamily="18" charset="0"/>
                </a:rPr>
                <a:t>i</a:t>
              </a:r>
              <a:endParaRPr lang="en-US" sz="850" b="0" u="none" strike="noStrike" dirty="0">
                <a:effectLst/>
                <a:uFillTx/>
                <a:latin typeface="Times New Roman" panose="02020603050405020304" pitchFamily="18" charset="0"/>
                <a:cs typeface="Times New Roman" panose="02020603050405020304" pitchFamily="18" charset="0"/>
              </a:endParaRPr>
            </a:p>
          </p:txBody>
        </p:sp>
        <p:sp>
          <p:nvSpPr>
            <p:cNvPr id="494" name="peak_panel"/>
            <p:cNvSpPr/>
            <p:nvPr/>
          </p:nvSpPr>
          <p:spPr>
            <a:xfrm>
              <a:off x="486000" y="4061520"/>
              <a:ext cx="6440400" cy="806400"/>
            </a:xfrm>
            <a:prstGeom prst="roundRect">
              <a:avLst>
                <a:gd name="adj" fmla="val 4500"/>
              </a:avLst>
            </a:prstGeom>
            <a:solidFill>
              <a:schemeClr val="bg1"/>
            </a:solidFill>
            <a:ln w="12700">
              <a:solidFill>
                <a:schemeClr val="tx1"/>
              </a:solid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95" name="peak_panel_title"/>
            <p:cNvSpPr/>
            <p:nvPr/>
          </p:nvSpPr>
          <p:spPr>
            <a:xfrm>
              <a:off x="576000" y="4126320"/>
              <a:ext cx="28764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(b) Final-layer peakiness</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496" name="final_logits"/>
            <p:cNvSpPr/>
            <p:nvPr/>
          </p:nvSpPr>
          <p:spPr>
            <a:xfrm>
              <a:off x="634680" y="4425480"/>
              <a:ext cx="810720" cy="348480"/>
            </a:xfrm>
            <a:prstGeom prst="roundRect">
              <a:avLst>
                <a:gd name="adj" fmla="val 15000"/>
              </a:avLst>
            </a:prstGeom>
            <a:solidFill>
              <a:srgbClr val="FFFFFF"/>
            </a:solidFill>
            <a:ln w="6480">
              <a:solidFill>
                <a:srgbClr val="7098B7"/>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497" name="final_logits_text"/>
            <p:cNvSpPr/>
            <p:nvPr/>
          </p:nvSpPr>
          <p:spPr>
            <a:xfrm>
              <a:off x="668160" y="4435920"/>
              <a:ext cx="712080" cy="327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Matched final</a:t>
              </a:r>
            </a:p>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Logits </a:t>
              </a:r>
              <a:r>
                <a:rPr lang="en-US" altLang="zh-CN" sz="900" dirty="0">
                  <a:latin typeface="Times New Roman" panose="02020603050405020304" pitchFamily="18" charset="0"/>
                  <a:cs typeface="Times New Roman" panose="02020603050405020304" pitchFamily="18" charset="0"/>
                </a:rPr>
                <a:t>z</a:t>
              </a:r>
              <a:r>
                <a:rPr lang="en-US" altLang="zh-CN" sz="850" baseline="-25000" dirty="0">
                  <a:latin typeface="Times New Roman" panose="02020603050405020304" pitchFamily="18" charset="0"/>
                  <a:cs typeface="Times New Roman" panose="02020603050405020304" pitchFamily="18" charset="0"/>
                </a:rPr>
                <a:t>6</a:t>
              </a:r>
              <a:endParaRPr lang="en-US" sz="850" b="0" u="none" strike="noStrike" dirty="0">
                <a:effectLst/>
                <a:uFillTx/>
                <a:latin typeface="Times New Roman" panose="02020603050405020304" pitchFamily="18" charset="0"/>
                <a:cs typeface="Times New Roman" panose="02020603050405020304" pitchFamily="18" charset="0"/>
              </a:endParaRPr>
            </a:p>
          </p:txBody>
        </p:sp>
        <p:sp>
          <p:nvSpPr>
            <p:cNvPr id="498" name="final_softmax"/>
            <p:cNvSpPr/>
            <p:nvPr/>
          </p:nvSpPr>
          <p:spPr>
            <a:xfrm>
              <a:off x="1718640" y="4429440"/>
              <a:ext cx="946800" cy="333360"/>
            </a:xfrm>
            <a:prstGeom prst="roundRect">
              <a:avLst>
                <a:gd name="adj" fmla="val 15000"/>
              </a:avLst>
            </a:prstGeom>
            <a:solidFill>
              <a:srgbClr val="FFFFFF"/>
            </a:solidFill>
            <a:ln w="6480">
              <a:solidFill>
                <a:srgbClr val="7098B7"/>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99" name="final_probability"/>
                <p:cNvSpPr/>
                <p:nvPr/>
              </p:nvSpPr>
              <p:spPr>
                <a:xfrm>
                  <a:off x="1684800" y="4486320"/>
                  <a:ext cx="982800" cy="219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b="0" i="1" u="none" strike="noStrike" smtClean="0">
                              <a:effectLst/>
                              <a:uFillTx/>
                              <a:latin typeface="Cambria Math" panose="02040503050406030204" pitchFamily="18" charset="0"/>
                              <a:cs typeface="Times New Roman" panose="02020603050405020304" pitchFamily="18" charset="0"/>
                            </a:rPr>
                          </m:ctrlPr>
                        </m:sSubPr>
                        <m:e>
                          <m:r>
                            <a:rPr lang="en-US" altLang="zh-CN" sz="900" b="0" i="1" u="none" strike="noStrike" smtClean="0">
                              <a:effectLst/>
                              <a:uFillTx/>
                              <a:latin typeface="Cambria Math" panose="02040503050406030204" pitchFamily="18" charset="0"/>
                              <a:cs typeface="Times New Roman" panose="02020603050405020304" pitchFamily="18" charset="0"/>
                            </a:rPr>
                            <m:t>𝑝</m:t>
                          </m:r>
                        </m:e>
                        <m:sub>
                          <m:r>
                            <a:rPr lang="en-US" altLang="zh-CN" sz="900" b="0" i="1" u="none" strike="noStrike" smtClean="0">
                              <a:effectLst/>
                              <a:uFillTx/>
                              <a:latin typeface="Cambria Math" panose="02040503050406030204" pitchFamily="18" charset="0"/>
                              <a:cs typeface="Times New Roman" panose="02020603050405020304" pitchFamily="18" charset="0"/>
                            </a:rPr>
                            <m:t>6</m:t>
                          </m:r>
                        </m:sub>
                      </m:sSub>
                    </m:oMath>
                  </a14:m>
                  <a:r>
                    <a:rPr lang="en-US" sz="900" b="0" i="1" u="none" strike="noStrike" dirty="0">
                      <a:effectLst/>
                      <a:uFillTx/>
                      <a:latin typeface="Times New Roman" panose="02020603050405020304" pitchFamily="18" charset="0"/>
                      <a:cs typeface="Times New Roman" panose="02020603050405020304" pitchFamily="18" charset="0"/>
                    </a:rPr>
                    <a:t>= </a:t>
                  </a:r>
                  <a:r>
                    <a:rPr lang="en-US" sz="900" b="0" i="1" u="none" strike="noStrike" dirty="0" err="1">
                      <a:effectLst/>
                      <a:uFillTx/>
                      <a:latin typeface="Times New Roman" panose="02020603050405020304" pitchFamily="18" charset="0"/>
                      <a:cs typeface="Times New Roman" panose="02020603050405020304" pitchFamily="18" charset="0"/>
                    </a:rPr>
                    <a:t>softmax</a:t>
                  </a:r>
                  <a:r>
                    <a:rPr lang="en-US" sz="900" b="0" i="1" u="none" strike="noStrike" dirty="0">
                      <a:effectLst/>
                      <a:uFillTx/>
                      <a:latin typeface="Times New Roman" panose="02020603050405020304" pitchFamily="18" charset="0"/>
                      <a:cs typeface="Times New Roman" panose="02020603050405020304" pitchFamily="18" charset="0"/>
                    </a:rPr>
                    <a:t>(z</a:t>
                  </a:r>
                  <a:r>
                    <a:rPr lang="en-US" sz="850" b="0" i="1" u="none" strike="noStrike" baseline="-25000" dirty="0">
                      <a:effectLst/>
                      <a:uFillTx/>
                      <a:latin typeface="Times New Roman" panose="02020603050405020304" pitchFamily="18" charset="0"/>
                      <a:cs typeface="Times New Roman" panose="02020603050405020304" pitchFamily="18" charset="0"/>
                    </a:rPr>
                    <a:t>6 </a:t>
                  </a:r>
                  <a:r>
                    <a:rPr lang="en-US" sz="900" b="0" i="1"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499" name="final_probability"/>
                <p:cNvSpPr>
                  <a:spLocks noRot="1" noChangeAspect="1" noMove="1" noResize="1" noEditPoints="1" noAdjustHandles="1" noChangeArrowheads="1" noChangeShapeType="1" noTextEdit="1"/>
                </p:cNvSpPr>
                <p:nvPr/>
              </p:nvSpPr>
              <p:spPr>
                <a:xfrm>
                  <a:off x="1684800" y="4486320"/>
                  <a:ext cx="982800" cy="219600"/>
                </a:xfrm>
                <a:prstGeom prst="rect">
                  <a:avLst/>
                </a:prstGeom>
                <a:blipFill>
                  <a:blip r:embed="rId10"/>
                  <a:stretch>
                    <a:fillRect t="-2778" b="-13889"/>
                  </a:stretch>
                </a:blipFill>
                <a:ln w="0">
                  <a:noFill/>
                </a:ln>
              </p:spPr>
              <p:txBody>
                <a:bodyPr/>
                <a:lstStyle/>
                <a:p>
                  <a:r>
                    <a:rPr lang="zh-CN" altLang="en-US">
                      <a:noFill/>
                    </a:rPr>
                    <a:t> </a:t>
                  </a:r>
                </a:p>
              </p:txBody>
            </p:sp>
          </mc:Fallback>
        </mc:AlternateContent>
        <p:sp>
          <p:nvSpPr>
            <p:cNvPr id="500" name="peak"/>
            <p:cNvSpPr/>
            <p:nvPr/>
          </p:nvSpPr>
          <p:spPr>
            <a:xfrm>
              <a:off x="3195360" y="4393440"/>
              <a:ext cx="1485360" cy="396720"/>
            </a:xfrm>
            <a:prstGeom prst="roundRect">
              <a:avLst>
                <a:gd name="adj" fmla="val 15000"/>
              </a:avLst>
            </a:prstGeom>
            <a:solidFill>
              <a:schemeClr val="tx2">
                <a:lumMod val="10000"/>
                <a:lumOff val="90000"/>
              </a:schemeClr>
            </a:solidFill>
            <a:ln w="6480">
              <a:solidFill>
                <a:srgbClr val="607F9A"/>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01" name="peak_title"/>
            <p:cNvSpPr/>
            <p:nvPr/>
          </p:nvSpPr>
          <p:spPr>
            <a:xfrm>
              <a:off x="3124800" y="4428720"/>
              <a:ext cx="15948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Peakiness penalty</a:t>
              </a:r>
              <a:endParaRPr lang="en-US" sz="9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02" name="peak_formula"/>
                <p:cNvSpPr/>
                <p:nvPr/>
              </p:nvSpPr>
              <p:spPr>
                <a:xfrm>
                  <a:off x="3124800" y="4605120"/>
                  <a:ext cx="15948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l-GR" sz="900" b="0" i="1" u="none" strike="noStrike" dirty="0">
                      <a:effectLst/>
                      <a:uFillTx/>
                      <a:latin typeface="Times New Roman" panose="02020603050405020304" pitchFamily="18" charset="0"/>
                      <a:cs typeface="Times New Roman" panose="02020603050405020304" pitchFamily="18" charset="0"/>
                    </a:rPr>
                    <a:t>1 − Σ</a:t>
                  </a:r>
                  <a:r>
                    <a:rPr lang="en-US" sz="850" b="0" i="1" u="none" strike="noStrike" baseline="-25000" dirty="0">
                      <a:effectLst/>
                      <a:uFillTx/>
                      <a:latin typeface="Times New Roman" panose="02020603050405020304" pitchFamily="18" charset="0"/>
                      <a:cs typeface="Times New Roman" panose="02020603050405020304" pitchFamily="18" charset="0"/>
                    </a:rPr>
                    <a:t>n </a:t>
                  </a:r>
                  <a:r>
                    <a:rPr lang="en-US" sz="900" dirty="0">
                      <a:latin typeface="Times New Roman" panose="02020603050405020304" pitchFamily="18" charset="0"/>
                      <a:cs typeface="Times New Roman" panose="02020603050405020304" pitchFamily="18" charset="0"/>
                    </a:rPr>
                    <a:t>(</a:t>
                  </a:r>
                  <a14:m>
                    <m:oMath xmlns:m="http://schemas.openxmlformats.org/officeDocument/2006/math">
                      <m:sSubSup>
                        <m:sSubSupPr>
                          <m:ctrlPr>
                            <a:rPr lang="en-US" altLang="zh-CN" sz="900" b="0" i="1" u="none" strike="noStrike" smtClean="0">
                              <a:effectLst/>
                              <a:uFillTx/>
                              <a:latin typeface="Cambria Math" panose="02040503050406030204" pitchFamily="18" charset="0"/>
                              <a:cs typeface="Times New Roman" panose="02020603050405020304" pitchFamily="18" charset="0"/>
                            </a:rPr>
                          </m:ctrlPr>
                        </m:sSubSupPr>
                        <m:e>
                          <m:r>
                            <a:rPr lang="en-US" altLang="zh-CN" sz="900" b="0" i="1" u="none" strike="noStrike" smtClean="0">
                              <a:effectLst/>
                              <a:uFillTx/>
                              <a:latin typeface="Cambria Math" panose="02040503050406030204" pitchFamily="18" charset="0"/>
                              <a:cs typeface="Times New Roman" panose="02020603050405020304" pitchFamily="18" charset="0"/>
                            </a:rPr>
                            <m:t> </m:t>
                          </m:r>
                          <m:r>
                            <a:rPr lang="en-US" altLang="zh-CN" sz="900" b="0" i="1" u="none" strike="noStrike" smtClean="0">
                              <a:effectLst/>
                              <a:uFillTx/>
                              <a:latin typeface="Cambria Math" panose="02040503050406030204" pitchFamily="18" charset="0"/>
                              <a:cs typeface="Times New Roman" panose="02020603050405020304" pitchFamily="18" charset="0"/>
                            </a:rPr>
                            <m:t>𝑝</m:t>
                          </m:r>
                        </m:e>
                        <m:sub>
                          <m:r>
                            <a:rPr lang="en-US" altLang="zh-CN" sz="900" b="0" i="1" u="none" strike="noStrike" smtClean="0">
                              <a:effectLst/>
                              <a:uFillTx/>
                              <a:latin typeface="Cambria Math" panose="02040503050406030204" pitchFamily="18" charset="0"/>
                              <a:cs typeface="Times New Roman" panose="02020603050405020304" pitchFamily="18" charset="0"/>
                            </a:rPr>
                            <m:t>6,</m:t>
                          </m:r>
                          <m:r>
                            <a:rPr lang="en-US" altLang="zh-CN" sz="900" b="0" i="1" u="none" strike="noStrike" smtClean="0">
                              <a:effectLst/>
                              <a:uFillTx/>
                              <a:latin typeface="Cambria Math" panose="02040503050406030204" pitchFamily="18" charset="0"/>
                              <a:cs typeface="Times New Roman" panose="02020603050405020304" pitchFamily="18" charset="0"/>
                            </a:rPr>
                            <m:t>𝑛</m:t>
                          </m:r>
                        </m:sub>
                        <m:sup>
                          <m:r>
                            <a:rPr lang="en-US" altLang="zh-CN" sz="900" b="0" i="1" u="none" strike="noStrike" smtClean="0">
                              <a:effectLst/>
                              <a:uFillTx/>
                              <a:latin typeface="Cambria Math" panose="02040503050406030204" pitchFamily="18" charset="0"/>
                              <a:cs typeface="Times New Roman" panose="02020603050405020304" pitchFamily="18" charset="0"/>
                            </a:rPr>
                            <m:t>2</m:t>
                          </m:r>
                        </m:sup>
                      </m:sSubSup>
                    </m:oMath>
                  </a14:m>
                  <a:r>
                    <a:rPr lang="en-US" sz="850" b="0"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502" name="peak_formula"/>
                <p:cNvSpPr>
                  <a:spLocks noRot="1" noChangeAspect="1" noMove="1" noResize="1" noEditPoints="1" noAdjustHandles="1" noChangeArrowheads="1" noChangeShapeType="1" noTextEdit="1"/>
                </p:cNvSpPr>
                <p:nvPr/>
              </p:nvSpPr>
              <p:spPr>
                <a:xfrm>
                  <a:off x="3124800" y="4605120"/>
                  <a:ext cx="1594800" cy="158400"/>
                </a:xfrm>
                <a:prstGeom prst="rect">
                  <a:avLst/>
                </a:prstGeom>
                <a:blipFill>
                  <a:blip r:embed="rId11"/>
                  <a:stretch>
                    <a:fillRect t="-19231" b="-38462"/>
                  </a:stretch>
                </a:blipFill>
                <a:ln w="0">
                  <a:noFill/>
                </a:ln>
              </p:spPr>
              <p:txBody>
                <a:bodyPr/>
                <a:lstStyle/>
                <a:p>
                  <a:r>
                    <a:rPr lang="zh-CN" altLang="en-US">
                      <a:noFill/>
                    </a:rPr>
                    <a:t> </a:t>
                  </a:r>
                </a:p>
              </p:txBody>
            </p:sp>
          </mc:Fallback>
        </mc:AlternateContent>
        <p:sp>
          <p:nvSpPr>
            <p:cNvPr id="503" name="peak_out"/>
            <p:cNvSpPr/>
            <p:nvPr/>
          </p:nvSpPr>
          <p:spPr>
            <a:xfrm>
              <a:off x="5349960" y="4393440"/>
              <a:ext cx="1388520" cy="394920"/>
            </a:xfrm>
            <a:prstGeom prst="roundRect">
              <a:avLst>
                <a:gd name="adj" fmla="val 15000"/>
              </a:avLst>
            </a:prstGeom>
            <a:solidFill>
              <a:srgbClr val="FFFFFF"/>
            </a:solidFill>
            <a:ln w="6480">
              <a:solidFill>
                <a:srgbClr val="7098B7"/>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04" name="peak_out_label"/>
            <p:cNvSpPr/>
            <p:nvPr/>
          </p:nvSpPr>
          <p:spPr>
            <a:xfrm>
              <a:off x="5364000" y="4428720"/>
              <a:ext cx="132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a:effectLst/>
                  <a:uFillTx/>
                  <a:latin typeface="Times New Roman" panose="02020603050405020304" pitchFamily="18" charset="0"/>
                  <a:cs typeface="Times New Roman" panose="02020603050405020304" pitchFamily="18" charset="0"/>
                </a:rPr>
                <a:t>Weighted edge sum / N</a:t>
              </a:r>
              <a:endParaRPr lang="en-US" sz="900" b="0" u="none" strike="noStrike">
                <a:effectLst/>
                <a:uFillTx/>
                <a:latin typeface="Times New Roman" panose="02020603050405020304" pitchFamily="18" charset="0"/>
                <a:cs typeface="Times New Roman" panose="02020603050405020304" pitchFamily="18" charset="0"/>
              </a:endParaRPr>
            </a:p>
          </p:txBody>
        </p:sp>
        <p:sp>
          <p:nvSpPr>
            <p:cNvPr id="505" name="peak_out_loss"/>
            <p:cNvSpPr/>
            <p:nvPr/>
          </p:nvSpPr>
          <p:spPr>
            <a:xfrm>
              <a:off x="5364000" y="4605120"/>
              <a:ext cx="1328400"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0.05 </a:t>
              </a:r>
              <a:r>
                <a:rPr lang="en-US" sz="900" b="0" i="1" u="none" strike="noStrike" dirty="0" err="1">
                  <a:effectLst/>
                  <a:uFillTx/>
                  <a:latin typeface="Times New Roman" panose="02020603050405020304" pitchFamily="18" charset="0"/>
                  <a:cs typeface="Times New Roman" panose="02020603050405020304" pitchFamily="18" charset="0"/>
                </a:rPr>
                <a:t>L</a:t>
              </a:r>
              <a:r>
                <a:rPr lang="en-US" sz="850" b="0" i="1" u="none" strike="noStrike" baseline="-25000" dirty="0" err="1">
                  <a:effectLst/>
                  <a:uFillTx/>
                  <a:latin typeface="Times New Roman" panose="02020603050405020304" pitchFamily="18" charset="0"/>
                  <a:cs typeface="Times New Roman" panose="02020603050405020304" pitchFamily="18" charset="0"/>
                </a:rPr>
                <a:t>peak</a:t>
              </a:r>
              <a:endParaRPr lang="en-US" sz="850" b="0" i="1" u="none" strike="noStrike" dirty="0">
                <a:effectLst/>
                <a:uFillTx/>
                <a:latin typeface="Times New Roman" panose="02020603050405020304" pitchFamily="18" charset="0"/>
                <a:cs typeface="Times New Roman" panose="02020603050405020304" pitchFamily="18" charset="0"/>
              </a:endParaRPr>
            </a:p>
          </p:txBody>
        </p:sp>
        <p:sp>
          <p:nvSpPr>
            <p:cNvPr id="506" name="peak_weight_label"/>
            <p:cNvSpPr/>
            <p:nvPr/>
          </p:nvSpPr>
          <p:spPr>
            <a:xfrm>
              <a:off x="5724000" y="4093408"/>
              <a:ext cx="60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err="1">
                  <a:effectLst/>
                  <a:uFillTx/>
                  <a:latin typeface="Times New Roman" panose="02020603050405020304" pitchFamily="18" charset="0"/>
                  <a:cs typeface="Times New Roman" panose="02020603050405020304" pitchFamily="18" charset="0"/>
                </a:rPr>
                <a:t>a</a:t>
              </a:r>
              <a:r>
                <a:rPr lang="en-US" sz="850" b="0" i="1" u="none" strike="noStrike" baseline="-25000" dirty="0" err="1">
                  <a:effectLst/>
                  <a:uFillTx/>
                  <a:latin typeface="Times New Roman" panose="02020603050405020304" pitchFamily="18" charset="0"/>
                  <a:cs typeface="Times New Roman" panose="02020603050405020304" pitchFamily="18" charset="0"/>
                </a:rPr>
                <a:t>q</a:t>
              </a:r>
              <a:endParaRPr lang="en-US" sz="850" b="0" u="none" strike="noStrike" dirty="0">
                <a:effectLst/>
                <a:uFillTx/>
                <a:latin typeface="Times New Roman" panose="02020603050405020304" pitchFamily="18" charset="0"/>
                <a:cs typeface="Times New Roman" panose="02020603050405020304" pitchFamily="18" charset="0"/>
              </a:endParaRPr>
            </a:p>
          </p:txBody>
        </p:sp>
        <p:sp>
          <p:nvSpPr>
            <p:cNvPr id="507" name="ordinary_probability"/>
            <p:cNvSpPr/>
            <p:nvPr/>
          </p:nvSpPr>
          <p:spPr>
            <a:xfrm>
              <a:off x="1674000" y="2703600"/>
              <a:ext cx="1004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i="1" u="none" strike="noStrike" dirty="0">
                  <a:effectLst/>
                  <a:uFillTx/>
                  <a:latin typeface="Times New Roman" panose="02020603050405020304" pitchFamily="18" charset="0"/>
                  <a:cs typeface="Times New Roman" panose="02020603050405020304" pitchFamily="18" charset="0"/>
                </a:rPr>
                <a:t>p</a:t>
              </a:r>
              <a:r>
                <a:rPr lang="en-US" sz="850" b="0" i="1" u="none" strike="noStrike" baseline="-25000" dirty="0">
                  <a:effectLst/>
                  <a:uFillTx/>
                  <a:latin typeface="Times New Roman" panose="02020603050405020304" pitchFamily="18" charset="0"/>
                  <a:cs typeface="Times New Roman" panose="02020603050405020304" pitchFamily="18" charset="0"/>
                </a:rPr>
                <a:t>i</a:t>
              </a:r>
              <a:r>
                <a:rPr lang="en-US" sz="900" b="0" i="1" u="none" strike="noStrike" dirty="0">
                  <a:effectLst/>
                  <a:uFillTx/>
                  <a:latin typeface="Times New Roman" panose="02020603050405020304" pitchFamily="18" charset="0"/>
                  <a:cs typeface="Times New Roman" panose="02020603050405020304" pitchFamily="18" charset="0"/>
                </a:rPr>
                <a:t> </a:t>
              </a:r>
              <a:r>
                <a:rPr lang="en-US" sz="900" b="0" u="none" strike="noStrike" dirty="0">
                  <a:effectLst/>
                  <a:uFillTx/>
                  <a:latin typeface="Times New Roman" panose="02020603050405020304" pitchFamily="18" charset="0"/>
                  <a:cs typeface="Times New Roman" panose="02020603050405020304" pitchFamily="18" charset="0"/>
                </a:rPr>
                <a:t>= </a:t>
              </a:r>
              <a:r>
                <a:rPr lang="en-US" sz="900" b="0" u="none" strike="noStrike" dirty="0" err="1">
                  <a:effectLst/>
                  <a:uFillTx/>
                  <a:latin typeface="Times New Roman" panose="02020603050405020304" pitchFamily="18" charset="0"/>
                  <a:cs typeface="Times New Roman" panose="02020603050405020304" pitchFamily="18" charset="0"/>
                </a:rPr>
                <a:t>softmax</a:t>
              </a:r>
              <a:r>
                <a:rPr lang="en-US" sz="900" b="0" u="none" strike="noStrike" dirty="0">
                  <a:effectLst/>
                  <a:uFillTx/>
                  <a:latin typeface="Times New Roman" panose="02020603050405020304" pitchFamily="18" charset="0"/>
                  <a:cs typeface="Times New Roman" panose="02020603050405020304" pitchFamily="18" charset="0"/>
                </a:rPr>
                <a:t>(z</a:t>
              </a:r>
              <a:r>
                <a:rPr lang="en-US" sz="850" b="0" i="1" u="none" strike="noStrike" baseline="-25000" dirty="0">
                  <a:effectLst/>
                  <a:uFillTx/>
                  <a:latin typeface="Times New Roman" panose="02020603050405020304" pitchFamily="18" charset="0"/>
                  <a:cs typeface="Times New Roman" panose="02020603050405020304" pitchFamily="18" charset="0"/>
                </a:rPr>
                <a:t>i</a:t>
              </a:r>
              <a:r>
                <a:rPr lang="en-US" sz="900" b="0" u="none" strike="noStrike" dirty="0">
                  <a:effectLst/>
                  <a:uFillTx/>
                  <a:latin typeface="Times New Roman" panose="02020603050405020304" pitchFamily="18" charset="0"/>
                  <a:cs typeface="Times New Roman" panose="02020603050405020304" pitchFamily="18" charset="0"/>
                </a:rPr>
                <a:t>)</a:t>
              </a:r>
            </a:p>
          </p:txBody>
        </p:sp>
        <p:cxnSp>
          <p:nvCxnSpPr>
            <p:cNvPr id="508" name="gt_weight__0"/>
            <p:cNvCxnSpPr>
              <a:cxnSpLocks/>
            </p:cNvCxnSpPr>
            <p:nvPr/>
          </p:nvCxnSpPr>
          <p:spPr>
            <a:xfrm>
              <a:off x="1423080" y="1748880"/>
              <a:ext cx="426960" cy="0"/>
            </a:xfrm>
            <a:prstGeom prst="straightConnector1">
              <a:avLst/>
            </a:prstGeom>
            <a:ln w="7200">
              <a:solidFill>
                <a:srgbClr val="7098B7"/>
              </a:solidFill>
              <a:round/>
              <a:tailEnd type="triangle" w="sm" len="sm"/>
            </a:ln>
          </p:spPr>
        </p:cxnSp>
        <p:cxnSp>
          <p:nvCxnSpPr>
            <p:cNvPr id="509" name="shallow_to_softmax__0"/>
            <p:cNvCxnSpPr>
              <a:cxnSpLocks/>
            </p:cNvCxnSpPr>
            <p:nvPr/>
          </p:nvCxnSpPr>
          <p:spPr>
            <a:xfrm>
              <a:off x="1454760" y="2657880"/>
              <a:ext cx="163080" cy="0"/>
            </a:xfrm>
            <a:prstGeom prst="straightConnector1">
              <a:avLst/>
            </a:prstGeom>
            <a:ln w="12700">
              <a:solidFill>
                <a:srgbClr val="7098B7"/>
              </a:solidFill>
              <a:round/>
              <a:tailEnd type="triangle" w="sm" len="sm"/>
            </a:ln>
          </p:spPr>
        </p:cxnSp>
        <p:cxnSp>
          <p:nvCxnSpPr>
            <p:cNvPr id="510" name="deep_to_softmax__0"/>
            <p:cNvCxnSpPr>
              <a:cxnSpLocks/>
            </p:cNvCxnSpPr>
            <p:nvPr/>
          </p:nvCxnSpPr>
          <p:spPr>
            <a:xfrm>
              <a:off x="1391400" y="3557880"/>
              <a:ext cx="226440" cy="0"/>
            </a:xfrm>
            <a:prstGeom prst="straightConnector1">
              <a:avLst/>
            </a:prstGeom>
            <a:ln w="12700">
              <a:solidFill>
                <a:srgbClr val="7098B7"/>
              </a:solidFill>
              <a:round/>
              <a:tailEnd type="triangle" w="sm" len="sm"/>
            </a:ln>
          </p:spPr>
        </p:cxnSp>
        <p:cxnSp>
          <p:nvCxnSpPr>
            <p:cNvPr id="511" name="pair_kl__0"/>
            <p:cNvCxnSpPr>
              <a:cxnSpLocks/>
            </p:cNvCxnSpPr>
            <p:nvPr/>
          </p:nvCxnSpPr>
          <p:spPr>
            <a:xfrm>
              <a:off x="2766240" y="2657880"/>
              <a:ext cx="429120" cy="0"/>
            </a:xfrm>
            <a:prstGeom prst="straightConnector1">
              <a:avLst/>
            </a:prstGeom>
            <a:ln w="12700">
              <a:solidFill>
                <a:srgbClr val="7098B7"/>
              </a:solidFill>
              <a:round/>
              <a:tailEnd type="triangle" w="sm" len="sm"/>
            </a:ln>
          </p:spPr>
        </p:cxnSp>
        <p:cxnSp>
          <p:nvCxnSpPr>
            <p:cNvPr id="512" name="pair_hellinger__0"/>
            <p:cNvCxnSpPr>
              <a:cxnSpLocks/>
            </p:cNvCxnSpPr>
            <p:nvPr/>
          </p:nvCxnSpPr>
          <p:spPr>
            <a:xfrm>
              <a:off x="2766240" y="3557880"/>
              <a:ext cx="429120" cy="0"/>
            </a:xfrm>
            <a:prstGeom prst="straightConnector1">
              <a:avLst/>
            </a:prstGeom>
            <a:ln w="12700">
              <a:solidFill>
                <a:srgbClr val="7098B7"/>
              </a:solidFill>
              <a:round/>
              <a:tailEnd type="triangle" w="sm" len="sm"/>
            </a:ln>
          </p:spPr>
        </p:cxnSp>
        <p:cxnSp>
          <p:nvCxnSpPr>
            <p:cNvPr id="513" name="kl_out_weight_flow__0"/>
            <p:cNvCxnSpPr>
              <a:cxnSpLocks/>
            </p:cNvCxnSpPr>
            <p:nvPr/>
          </p:nvCxnSpPr>
          <p:spPr>
            <a:xfrm>
              <a:off x="6028200" y="2313720"/>
              <a:ext cx="2160" cy="132120"/>
            </a:xfrm>
            <a:prstGeom prst="straightConnector1">
              <a:avLst/>
            </a:prstGeom>
            <a:ln w="7200">
              <a:solidFill>
                <a:srgbClr val="7098B7"/>
              </a:solidFill>
              <a:round/>
              <a:tailEnd type="triangle" w="sm" len="sm"/>
            </a:ln>
          </p:spPr>
        </p:cxnSp>
        <p:cxnSp>
          <p:nvCxnSpPr>
            <p:cNvPr id="514" name="hellinger_out_weight_flow__0"/>
            <p:cNvCxnSpPr>
              <a:cxnSpLocks/>
            </p:cNvCxnSpPr>
            <p:nvPr/>
          </p:nvCxnSpPr>
          <p:spPr>
            <a:xfrm>
              <a:off x="6030360" y="3157150"/>
              <a:ext cx="0" cy="188690"/>
            </a:xfrm>
            <a:prstGeom prst="straightConnector1">
              <a:avLst/>
            </a:prstGeom>
            <a:ln w="7200">
              <a:solidFill>
                <a:srgbClr val="7098B7"/>
              </a:solidFill>
              <a:round/>
              <a:tailEnd type="triangle" w="sm" len="sm"/>
            </a:ln>
          </p:spPr>
        </p:cxnSp>
        <p:cxnSp>
          <p:nvCxnSpPr>
            <p:cNvPr id="515" name="kl_reduction__0"/>
            <p:cNvCxnSpPr>
              <a:cxnSpLocks/>
            </p:cNvCxnSpPr>
            <p:nvPr/>
          </p:nvCxnSpPr>
          <p:spPr>
            <a:xfrm>
              <a:off x="4680720" y="2657880"/>
              <a:ext cx="731520" cy="0"/>
            </a:xfrm>
            <a:prstGeom prst="straightConnector1">
              <a:avLst/>
            </a:prstGeom>
            <a:ln w="7200">
              <a:solidFill>
                <a:srgbClr val="7098B7"/>
              </a:solidFill>
              <a:round/>
              <a:tailEnd type="triangle" w="sm" len="sm"/>
            </a:ln>
          </p:spPr>
        </p:cxnSp>
        <p:cxnSp>
          <p:nvCxnSpPr>
            <p:cNvPr id="516" name="hellinger_reduction__0"/>
            <p:cNvCxnSpPr>
              <a:cxnSpLocks/>
            </p:cNvCxnSpPr>
            <p:nvPr/>
          </p:nvCxnSpPr>
          <p:spPr>
            <a:xfrm>
              <a:off x="4680720" y="3557880"/>
              <a:ext cx="731520" cy="0"/>
            </a:xfrm>
            <a:prstGeom prst="straightConnector1">
              <a:avLst/>
            </a:prstGeom>
            <a:ln w="7200">
              <a:solidFill>
                <a:srgbClr val="7098B7"/>
              </a:solidFill>
              <a:round/>
              <a:tailEnd type="triangle" w="sm" len="sm"/>
            </a:ln>
          </p:spPr>
        </p:cxnSp>
        <p:cxnSp>
          <p:nvCxnSpPr>
            <p:cNvPr id="517" name="peak_weight_flow__0"/>
            <p:cNvCxnSpPr>
              <a:cxnSpLocks/>
            </p:cNvCxnSpPr>
            <p:nvPr/>
          </p:nvCxnSpPr>
          <p:spPr>
            <a:xfrm>
              <a:off x="6030360" y="4233808"/>
              <a:ext cx="0" cy="159632"/>
            </a:xfrm>
            <a:prstGeom prst="straightConnector1">
              <a:avLst/>
            </a:prstGeom>
            <a:ln w="7200">
              <a:solidFill>
                <a:srgbClr val="7098B7"/>
              </a:solidFill>
              <a:round/>
              <a:tailEnd type="triangle" w="sm" len="sm"/>
            </a:ln>
          </p:spPr>
        </p:cxnSp>
        <p:cxnSp>
          <p:nvCxnSpPr>
            <p:cNvPr id="518" name="final_softmax_flow__0"/>
            <p:cNvCxnSpPr>
              <a:cxnSpLocks/>
            </p:cNvCxnSpPr>
            <p:nvPr/>
          </p:nvCxnSpPr>
          <p:spPr>
            <a:xfrm>
              <a:off x="1445400" y="4601880"/>
              <a:ext cx="273240" cy="0"/>
            </a:xfrm>
            <a:prstGeom prst="straightConnector1">
              <a:avLst/>
            </a:prstGeom>
            <a:ln w="7200">
              <a:solidFill>
                <a:srgbClr val="7098B7"/>
              </a:solidFill>
              <a:round/>
              <a:tailEnd type="triangle" w="sm" len="sm"/>
            </a:ln>
          </p:spPr>
        </p:cxnSp>
        <p:cxnSp>
          <p:nvCxnSpPr>
            <p:cNvPr id="519" name="final_peak_flow__0"/>
            <p:cNvCxnSpPr>
              <a:cxnSpLocks/>
            </p:cNvCxnSpPr>
            <p:nvPr/>
          </p:nvCxnSpPr>
          <p:spPr>
            <a:xfrm>
              <a:off x="2665440" y="4601880"/>
              <a:ext cx="529920" cy="0"/>
            </a:xfrm>
            <a:prstGeom prst="straightConnector1">
              <a:avLst/>
            </a:prstGeom>
            <a:ln w="7200">
              <a:solidFill>
                <a:srgbClr val="7098B7"/>
              </a:solidFill>
              <a:round/>
              <a:tailEnd type="triangle" w="sm" len="sm"/>
            </a:ln>
          </p:spPr>
        </p:cxnSp>
        <p:cxnSp>
          <p:nvCxnSpPr>
            <p:cNvPr id="520" name="peak_output__0"/>
            <p:cNvCxnSpPr>
              <a:cxnSpLocks/>
            </p:cNvCxnSpPr>
            <p:nvPr/>
          </p:nvCxnSpPr>
          <p:spPr>
            <a:xfrm>
              <a:off x="4680720" y="4601880"/>
              <a:ext cx="669240" cy="0"/>
            </a:xfrm>
            <a:prstGeom prst="straightConnector1">
              <a:avLst/>
            </a:prstGeom>
            <a:ln w="7200">
              <a:solidFill>
                <a:srgbClr val="7098B7"/>
              </a:solidFill>
              <a:round/>
              <a:tailEnd type="triangle" w="sm" len="sm"/>
            </a:ln>
          </p:spPr>
        </p:cxnSp>
        <p:cxnSp>
          <p:nvCxnSpPr>
            <p:cNvPr id="5" name="gt_weight__0">
              <a:extLst>
                <a:ext uri="{FF2B5EF4-FFF2-40B4-BE49-F238E27FC236}">
                  <a16:creationId xmlns:a16="http://schemas.microsoft.com/office/drawing/2014/main" id="{703B8924-B40A-EF45-59D8-EE7D0FE1D361}"/>
                </a:ext>
              </a:extLst>
            </p:cNvPr>
            <p:cNvCxnSpPr>
              <a:cxnSpLocks/>
            </p:cNvCxnSpPr>
            <p:nvPr/>
          </p:nvCxnSpPr>
          <p:spPr>
            <a:xfrm>
              <a:off x="1423080" y="1752214"/>
              <a:ext cx="426960" cy="0"/>
            </a:xfrm>
            <a:prstGeom prst="straightConnector1">
              <a:avLst/>
            </a:prstGeom>
            <a:ln w="7200">
              <a:solidFill>
                <a:srgbClr val="7098B7"/>
              </a:solidFill>
              <a:round/>
              <a:tailEnd type="triangle" w="sm" len="sm"/>
            </a:ln>
          </p:spPr>
        </p:cxnSp>
        <p:cxnSp>
          <p:nvCxnSpPr>
            <p:cNvPr id="6" name="kl_reduction__0">
              <a:extLst>
                <a:ext uri="{FF2B5EF4-FFF2-40B4-BE49-F238E27FC236}">
                  <a16:creationId xmlns:a16="http://schemas.microsoft.com/office/drawing/2014/main" id="{5F7D0961-1355-C104-7052-6242CF82072D}"/>
                </a:ext>
              </a:extLst>
            </p:cNvPr>
            <p:cNvCxnSpPr>
              <a:cxnSpLocks/>
            </p:cNvCxnSpPr>
            <p:nvPr/>
          </p:nvCxnSpPr>
          <p:spPr>
            <a:xfrm>
              <a:off x="4680720" y="2661214"/>
              <a:ext cx="731520" cy="0"/>
            </a:xfrm>
            <a:prstGeom prst="straightConnector1">
              <a:avLst/>
            </a:prstGeom>
            <a:ln w="7200">
              <a:solidFill>
                <a:srgbClr val="7098B7"/>
              </a:solidFill>
              <a:round/>
              <a:tailEnd type="triangle" w="sm" len="sm"/>
            </a:ln>
          </p:spPr>
        </p:cxnSp>
        <p:cxnSp>
          <p:nvCxnSpPr>
            <p:cNvPr id="7" name="hellinger_reduction__0">
              <a:extLst>
                <a:ext uri="{FF2B5EF4-FFF2-40B4-BE49-F238E27FC236}">
                  <a16:creationId xmlns:a16="http://schemas.microsoft.com/office/drawing/2014/main" id="{FCA0F32C-1FB3-3EB6-03AF-929DB538CDE8}"/>
                </a:ext>
              </a:extLst>
            </p:cNvPr>
            <p:cNvCxnSpPr>
              <a:cxnSpLocks/>
            </p:cNvCxnSpPr>
            <p:nvPr/>
          </p:nvCxnSpPr>
          <p:spPr>
            <a:xfrm>
              <a:off x="4680720" y="3561214"/>
              <a:ext cx="731520" cy="0"/>
            </a:xfrm>
            <a:prstGeom prst="straightConnector1">
              <a:avLst/>
            </a:prstGeom>
            <a:ln w="7200">
              <a:solidFill>
                <a:srgbClr val="7098B7"/>
              </a:solidFill>
              <a:round/>
              <a:tailEnd type="triangle" w="sm" len="sm"/>
            </a:ln>
          </p:spPr>
        </p:cxnSp>
        <p:cxnSp>
          <p:nvCxnSpPr>
            <p:cNvPr id="8" name="kl_out_weight_flow__0">
              <a:extLst>
                <a:ext uri="{FF2B5EF4-FFF2-40B4-BE49-F238E27FC236}">
                  <a16:creationId xmlns:a16="http://schemas.microsoft.com/office/drawing/2014/main" id="{F1B1B2B3-1F09-C34E-FB57-B4061E0A0F67}"/>
                </a:ext>
              </a:extLst>
            </p:cNvPr>
            <p:cNvCxnSpPr>
              <a:cxnSpLocks/>
            </p:cNvCxnSpPr>
            <p:nvPr/>
          </p:nvCxnSpPr>
          <p:spPr>
            <a:xfrm>
              <a:off x="6028200" y="2319107"/>
              <a:ext cx="2160" cy="132120"/>
            </a:xfrm>
            <a:prstGeom prst="straightConnector1">
              <a:avLst/>
            </a:prstGeom>
            <a:ln w="12700">
              <a:solidFill>
                <a:srgbClr val="7098B7"/>
              </a:solidFill>
              <a:round/>
              <a:tailEnd type="triangle" w="sm" len="sm"/>
            </a:ln>
          </p:spPr>
        </p:cxnSp>
        <p:cxnSp>
          <p:nvCxnSpPr>
            <p:cNvPr id="9" name="hellinger_out_weight_flow__0">
              <a:extLst>
                <a:ext uri="{FF2B5EF4-FFF2-40B4-BE49-F238E27FC236}">
                  <a16:creationId xmlns:a16="http://schemas.microsoft.com/office/drawing/2014/main" id="{BAF7A78D-871E-BC15-D3BE-2CA768C18873}"/>
                </a:ext>
              </a:extLst>
            </p:cNvPr>
            <p:cNvCxnSpPr>
              <a:cxnSpLocks/>
            </p:cNvCxnSpPr>
            <p:nvPr/>
          </p:nvCxnSpPr>
          <p:spPr>
            <a:xfrm>
              <a:off x="6030360" y="3162537"/>
              <a:ext cx="0" cy="188690"/>
            </a:xfrm>
            <a:prstGeom prst="straightConnector1">
              <a:avLst/>
            </a:prstGeom>
            <a:ln w="12700">
              <a:solidFill>
                <a:srgbClr val="7098B7"/>
              </a:solidFill>
              <a:round/>
              <a:tailEnd type="triangle" w="sm" len="sm"/>
            </a:ln>
          </p:spPr>
        </p:cxnSp>
        <p:cxnSp>
          <p:nvCxnSpPr>
            <p:cNvPr id="10" name="peak_weight_flow__0">
              <a:extLst>
                <a:ext uri="{FF2B5EF4-FFF2-40B4-BE49-F238E27FC236}">
                  <a16:creationId xmlns:a16="http://schemas.microsoft.com/office/drawing/2014/main" id="{C71FDDE7-D1D8-77FD-D760-F850E4E1F46D}"/>
                </a:ext>
              </a:extLst>
            </p:cNvPr>
            <p:cNvCxnSpPr>
              <a:cxnSpLocks/>
            </p:cNvCxnSpPr>
            <p:nvPr/>
          </p:nvCxnSpPr>
          <p:spPr>
            <a:xfrm>
              <a:off x="6030360" y="4239195"/>
              <a:ext cx="0" cy="159632"/>
            </a:xfrm>
            <a:prstGeom prst="straightConnector1">
              <a:avLst/>
            </a:prstGeom>
            <a:ln w="12700">
              <a:solidFill>
                <a:srgbClr val="7098B7"/>
              </a:solidFill>
              <a:round/>
              <a:tailEnd type="triangle" w="sm" len="sm"/>
            </a:ln>
          </p:spPr>
        </p:cxnSp>
        <p:cxnSp>
          <p:nvCxnSpPr>
            <p:cNvPr id="11" name="final_softmax_flow__0">
              <a:extLst>
                <a:ext uri="{FF2B5EF4-FFF2-40B4-BE49-F238E27FC236}">
                  <a16:creationId xmlns:a16="http://schemas.microsoft.com/office/drawing/2014/main" id="{58E4BAE5-17D0-8EF7-8411-48582416403F}"/>
                </a:ext>
              </a:extLst>
            </p:cNvPr>
            <p:cNvCxnSpPr>
              <a:cxnSpLocks/>
            </p:cNvCxnSpPr>
            <p:nvPr/>
          </p:nvCxnSpPr>
          <p:spPr>
            <a:xfrm>
              <a:off x="1445400" y="4607267"/>
              <a:ext cx="273240" cy="0"/>
            </a:xfrm>
            <a:prstGeom prst="straightConnector1">
              <a:avLst/>
            </a:prstGeom>
            <a:ln w="12700">
              <a:solidFill>
                <a:srgbClr val="7098B7"/>
              </a:solidFill>
              <a:round/>
              <a:tailEnd type="triangle" w="sm" len="sm"/>
            </a:ln>
          </p:spPr>
        </p:cxnSp>
        <p:cxnSp>
          <p:nvCxnSpPr>
            <p:cNvPr id="12" name="final_peak_flow__0">
              <a:extLst>
                <a:ext uri="{FF2B5EF4-FFF2-40B4-BE49-F238E27FC236}">
                  <a16:creationId xmlns:a16="http://schemas.microsoft.com/office/drawing/2014/main" id="{86E413BF-175F-9E1C-F40F-C1CCB96A9C32}"/>
                </a:ext>
              </a:extLst>
            </p:cNvPr>
            <p:cNvCxnSpPr>
              <a:cxnSpLocks/>
            </p:cNvCxnSpPr>
            <p:nvPr/>
          </p:nvCxnSpPr>
          <p:spPr>
            <a:xfrm>
              <a:off x="2665440" y="4607267"/>
              <a:ext cx="529920" cy="0"/>
            </a:xfrm>
            <a:prstGeom prst="straightConnector1">
              <a:avLst/>
            </a:prstGeom>
            <a:ln w="12700">
              <a:solidFill>
                <a:srgbClr val="7098B7"/>
              </a:solidFill>
              <a:round/>
              <a:tailEnd type="triangle" w="sm" len="sm"/>
            </a:ln>
          </p:spPr>
        </p:cxnSp>
        <p:cxnSp>
          <p:nvCxnSpPr>
            <p:cNvPr id="13" name="peak_output__0">
              <a:extLst>
                <a:ext uri="{FF2B5EF4-FFF2-40B4-BE49-F238E27FC236}">
                  <a16:creationId xmlns:a16="http://schemas.microsoft.com/office/drawing/2014/main" id="{B900745C-45B0-7574-2A82-5D861070F86A}"/>
                </a:ext>
              </a:extLst>
            </p:cNvPr>
            <p:cNvCxnSpPr>
              <a:cxnSpLocks/>
            </p:cNvCxnSpPr>
            <p:nvPr/>
          </p:nvCxnSpPr>
          <p:spPr>
            <a:xfrm>
              <a:off x="4680720" y="4607267"/>
              <a:ext cx="669240" cy="0"/>
            </a:xfrm>
            <a:prstGeom prst="straightConnector1">
              <a:avLst/>
            </a:prstGeom>
            <a:ln w="9525">
              <a:solidFill>
                <a:srgbClr val="7098B7"/>
              </a:solidFill>
              <a:round/>
              <a:tailEnd type="triangle" w="sm" len="sm"/>
            </a:ln>
          </p:spPr>
        </p:cxnSp>
        <p:cxnSp>
          <p:nvCxnSpPr>
            <p:cNvPr id="14" name="gt_weight__0">
              <a:extLst>
                <a:ext uri="{FF2B5EF4-FFF2-40B4-BE49-F238E27FC236}">
                  <a16:creationId xmlns:a16="http://schemas.microsoft.com/office/drawing/2014/main" id="{018DF5CE-F787-F419-F0A7-57018730AF11}"/>
                </a:ext>
              </a:extLst>
            </p:cNvPr>
            <p:cNvCxnSpPr>
              <a:cxnSpLocks/>
            </p:cNvCxnSpPr>
            <p:nvPr/>
          </p:nvCxnSpPr>
          <p:spPr>
            <a:xfrm>
              <a:off x="1423080" y="1757601"/>
              <a:ext cx="426960" cy="0"/>
            </a:xfrm>
            <a:prstGeom prst="straightConnector1">
              <a:avLst/>
            </a:prstGeom>
            <a:ln w="12700">
              <a:solidFill>
                <a:srgbClr val="7098B7"/>
              </a:solidFill>
              <a:round/>
              <a:tailEnd type="triangle" w="sm" len="sm"/>
            </a:ln>
          </p:spPr>
        </p:cxnSp>
        <p:cxnSp>
          <p:nvCxnSpPr>
            <p:cNvPr id="15" name="kl_reduction__0">
              <a:extLst>
                <a:ext uri="{FF2B5EF4-FFF2-40B4-BE49-F238E27FC236}">
                  <a16:creationId xmlns:a16="http://schemas.microsoft.com/office/drawing/2014/main" id="{0A477B42-3BCA-24CB-73CA-D1D12580BC88}"/>
                </a:ext>
              </a:extLst>
            </p:cNvPr>
            <p:cNvCxnSpPr>
              <a:cxnSpLocks/>
            </p:cNvCxnSpPr>
            <p:nvPr/>
          </p:nvCxnSpPr>
          <p:spPr>
            <a:xfrm>
              <a:off x="4680720" y="2666601"/>
              <a:ext cx="731520" cy="0"/>
            </a:xfrm>
            <a:prstGeom prst="straightConnector1">
              <a:avLst/>
            </a:prstGeom>
            <a:ln w="9525">
              <a:solidFill>
                <a:srgbClr val="7098B7"/>
              </a:solidFill>
              <a:round/>
              <a:tailEnd type="triangle" w="sm" len="sm"/>
            </a:ln>
          </p:spPr>
        </p:cxnSp>
        <p:cxnSp>
          <p:nvCxnSpPr>
            <p:cNvPr id="16" name="hellinger_reduction__0">
              <a:extLst>
                <a:ext uri="{FF2B5EF4-FFF2-40B4-BE49-F238E27FC236}">
                  <a16:creationId xmlns:a16="http://schemas.microsoft.com/office/drawing/2014/main" id="{A2896D1E-5FD6-AE63-D05C-5E5A9081FD32}"/>
                </a:ext>
              </a:extLst>
            </p:cNvPr>
            <p:cNvCxnSpPr>
              <a:cxnSpLocks/>
            </p:cNvCxnSpPr>
            <p:nvPr/>
          </p:nvCxnSpPr>
          <p:spPr>
            <a:xfrm>
              <a:off x="4680720" y="3566601"/>
              <a:ext cx="731520" cy="0"/>
            </a:xfrm>
            <a:prstGeom prst="straightConnector1">
              <a:avLst/>
            </a:prstGeom>
            <a:ln w="9525">
              <a:solidFill>
                <a:srgbClr val="7098B7"/>
              </a:solidFill>
              <a:round/>
              <a:tailEnd type="triangle" w="sm" len="sm"/>
            </a:ln>
          </p:spPr>
        </p:cxn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B0969004-6345-A3E7-2A51-8657CFD231E1}"/>
              </a:ext>
            </a:extLst>
          </p:cNvPr>
          <p:cNvGrpSpPr/>
          <p:nvPr/>
        </p:nvGrpSpPr>
        <p:grpSpPr>
          <a:xfrm>
            <a:off x="486000" y="1445146"/>
            <a:ext cx="6563880" cy="2226061"/>
            <a:chOff x="486000" y="1445146"/>
            <a:chExt cx="6563880" cy="2226061"/>
          </a:xfrm>
        </p:grpSpPr>
        <p:sp>
          <p:nvSpPr>
            <p:cNvPr id="576" name="title"/>
            <p:cNvSpPr/>
            <p:nvPr/>
          </p:nvSpPr>
          <p:spPr>
            <a:xfrm>
              <a:off x="525600" y="1445146"/>
              <a:ext cx="4928400" cy="23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Localization Quality Estimator (LQE)</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77" name="lqe_panel"/>
            <p:cNvSpPr/>
            <p:nvPr/>
          </p:nvSpPr>
          <p:spPr>
            <a:xfrm>
              <a:off x="486000" y="1728106"/>
              <a:ext cx="6563880" cy="1943101"/>
            </a:xfrm>
            <a:prstGeom prst="roundRect">
              <a:avLst>
                <a:gd name="adj" fmla="val 4500"/>
              </a:avLst>
            </a:prstGeom>
            <a:solidFill>
              <a:srgbClr val="F0F5E7"/>
            </a:solidFill>
            <a:ln w="6480">
              <a:noFill/>
              <a:prstDash val="dash"/>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78" name="lqe_panel_title"/>
            <p:cNvSpPr/>
            <p:nvPr/>
          </p:nvSpPr>
          <p:spPr>
            <a:xfrm>
              <a:off x="577406" y="1756440"/>
              <a:ext cx="2171193" cy="1548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Distribution-based quality correction</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79" name="lqe_logits"/>
            <p:cNvSpPr/>
            <p:nvPr/>
          </p:nvSpPr>
          <p:spPr>
            <a:xfrm>
              <a:off x="655920" y="2491920"/>
              <a:ext cx="696240" cy="363960"/>
            </a:xfrm>
            <a:prstGeom prst="roundRect">
              <a:avLst>
                <a:gd name="adj" fmla="val 15000"/>
              </a:avLst>
            </a:prstGeom>
            <a:solidFill>
              <a:srgbClr val="FFFFFF"/>
            </a:solidFill>
            <a:ln w="6480">
              <a:solidFill>
                <a:schemeClr val="tx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80" name="lqe_logits_text"/>
                <p:cNvSpPr/>
                <p:nvPr/>
              </p:nvSpPr>
              <p:spPr>
                <a:xfrm>
                  <a:off x="673200" y="2491920"/>
                  <a:ext cx="630000" cy="3636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Edge logits</a:t>
                  </a:r>
                </a:p>
                <a:p>
                  <a:pPr algn="ctr" defTabSz="1018080">
                    <a:lnSpc>
                      <a:spcPct val="100000"/>
                    </a:lnSpc>
                  </a:pPr>
                  <a14:m>
                    <m:oMathPara xmlns:m="http://schemas.openxmlformats.org/officeDocument/2006/math">
                      <m:oMath>
                        <m:sSub>
                          <m:sSubPr>
                            <m:ctrlPr>
                              <a:rPr lang="en-US" altLang="zh-CN" sz="900" i="1" dirty="0">
                                <a:latin typeface="Times New Roman" panose="02020603050405020304" pitchFamily="18" charset="0"/>
                                <a:cs typeface="Times New Roman" panose="02020603050405020304" pitchFamily="18" charset="0"/>
                              </a:rPr>
                            </m:ctrlPr>
                          </m:sSubPr>
                          <m:e>
                            <m:r>
                              <m:rPr>
                                <m:nor/>
                              </m:rPr>
                              <a:rPr lang="en-US" altLang="zh-CN" sz="900" i="1" dirty="0">
                                <a:latin typeface="Times New Roman" panose="02020603050405020304" pitchFamily="18" charset="0"/>
                                <a:cs typeface="Times New Roman" panose="02020603050405020304" pitchFamily="18" charset="0"/>
                              </a:rPr>
                              <m:t>z</m:t>
                            </m:r>
                          </m:e>
                          <m:sub>
                            <m:r>
                              <m:rPr>
                                <m:nor/>
                              </m:rPr>
                              <a:rPr lang="en-US" altLang="zh-CN" sz="900" i="1" baseline="-25000" dirty="0">
                                <a:latin typeface="Times New Roman" panose="02020603050405020304" pitchFamily="18" charset="0"/>
                                <a:cs typeface="Times New Roman" panose="02020603050405020304" pitchFamily="18" charset="0"/>
                              </a:rPr>
                              <m:t>i</m:t>
                            </m:r>
                          </m:sub>
                        </m:sSub>
                      </m:oMath>
                    </m:oMathPara>
                  </a14:m>
                  <a:endParaRPr lang="en-US" sz="85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80" name="lqe_logits_text"/>
                <p:cNvSpPr>
                  <a:spLocks noRot="1" noChangeAspect="1" noMove="1" noResize="1" noEditPoints="1" noAdjustHandles="1" noChangeArrowheads="1" noChangeShapeType="1" noTextEdit="1"/>
                </p:cNvSpPr>
                <p:nvPr/>
              </p:nvSpPr>
              <p:spPr>
                <a:xfrm>
                  <a:off x="673200" y="2491920"/>
                  <a:ext cx="630000" cy="363600"/>
                </a:xfrm>
                <a:prstGeom prst="rect">
                  <a:avLst/>
                </a:prstGeom>
                <a:blipFill>
                  <a:blip r:embed="rId3"/>
                  <a:stretch>
                    <a:fillRect l="-962" r="-1923" b="-3390"/>
                  </a:stretch>
                </a:blipFill>
                <a:ln w="0">
                  <a:noFill/>
                </a:ln>
              </p:spPr>
              <p:txBody>
                <a:bodyPr/>
                <a:lstStyle/>
                <a:p>
                  <a:r>
                    <a:rPr lang="zh-CN" altLang="en-US">
                      <a:noFill/>
                    </a:rPr>
                    <a:t> </a:t>
                  </a:r>
                </a:p>
              </p:txBody>
            </p:sp>
          </mc:Fallback>
        </mc:AlternateContent>
        <p:sp>
          <p:nvSpPr>
            <p:cNvPr id="581" name="lqe_softmax"/>
            <p:cNvSpPr/>
            <p:nvPr/>
          </p:nvSpPr>
          <p:spPr>
            <a:xfrm>
              <a:off x="1557360" y="2491920"/>
              <a:ext cx="874080" cy="363960"/>
            </a:xfrm>
            <a:prstGeom prst="roundRect">
              <a:avLst>
                <a:gd name="adj" fmla="val 15000"/>
              </a:avLst>
            </a:prstGeom>
            <a:solidFill>
              <a:srgbClr val="FFFFFF"/>
            </a:solidFill>
            <a:ln w="6480">
              <a:solidFill>
                <a:schemeClr val="tx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82" name="lqe_softmax_formula"/>
                <p:cNvSpPr/>
                <p:nvPr/>
              </p:nvSpPr>
              <p:spPr>
                <a:xfrm>
                  <a:off x="1590480" y="2520720"/>
                  <a:ext cx="775800" cy="306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b="0" i="1" dirty="0" smtClean="0">
                              <a:latin typeface="Cambria Math" panose="02040503050406030204" pitchFamily="18" charset="0"/>
                              <a:cs typeface="Times New Roman" panose="02020603050405020304" pitchFamily="18" charset="0"/>
                            </a:rPr>
                          </m:ctrlPr>
                        </m:sSubPr>
                        <m:e>
                          <m:r>
                            <m:rPr>
                              <m:nor/>
                            </m:rPr>
                            <a:rPr lang="en-US" altLang="zh-CN" sz="900" b="0" i="1" dirty="0" smtClean="0">
                              <a:latin typeface="Cambria Math" panose="02040503050406030204" pitchFamily="18" charset="0"/>
                              <a:cs typeface="Times New Roman" panose="02020603050405020304" pitchFamily="18" charset="0"/>
                            </a:rPr>
                            <m:t>p</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sz="900" b="0" u="none" strike="noStrike" dirty="0">
                      <a:effectLst/>
                      <a:uFillTx/>
                      <a:latin typeface="Times New Roman" panose="02020603050405020304" pitchFamily="18" charset="0"/>
                      <a:cs typeface="Times New Roman" panose="02020603050405020304" pitchFamily="18" charset="0"/>
                    </a:rPr>
                    <a:t> = </a:t>
                  </a:r>
                  <a:r>
                    <a:rPr lang="en-US" sz="900" b="0" u="none" strike="noStrike" dirty="0" err="1">
                      <a:effectLst/>
                      <a:uFillTx/>
                      <a:latin typeface="Times New Roman" panose="02020603050405020304" pitchFamily="18" charset="0"/>
                      <a:cs typeface="Times New Roman" panose="02020603050405020304" pitchFamily="18" charset="0"/>
                    </a:rPr>
                    <a:t>softmax</a:t>
                  </a:r>
                  <a:r>
                    <a:rPr lang="en-US" sz="900" b="0"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900" i="1" dirty="0">
                              <a:latin typeface="Times New Roman" panose="02020603050405020304" pitchFamily="18" charset="0"/>
                              <a:cs typeface="Times New Roman" panose="02020603050405020304" pitchFamily="18" charset="0"/>
                            </a:rPr>
                          </m:ctrlPr>
                        </m:sSubPr>
                        <m:e>
                          <m:r>
                            <m:rPr>
                              <m:nor/>
                            </m:rPr>
                            <a:rPr lang="en-US" altLang="zh-CN" sz="900" i="1" dirty="0">
                              <a:latin typeface="Times New Roman" panose="02020603050405020304" pitchFamily="18" charset="0"/>
                              <a:cs typeface="Times New Roman" panose="02020603050405020304" pitchFamily="18" charset="0"/>
                            </a:rPr>
                            <m:t>z</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sz="900" b="0"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582" name="lqe_softmax_formula"/>
                <p:cNvSpPr>
                  <a:spLocks noRot="1" noChangeAspect="1" noMove="1" noResize="1" noEditPoints="1" noAdjustHandles="1" noChangeArrowheads="1" noChangeShapeType="1" noTextEdit="1"/>
                </p:cNvSpPr>
                <p:nvPr/>
              </p:nvSpPr>
              <p:spPr>
                <a:xfrm>
                  <a:off x="1590480" y="2520720"/>
                  <a:ext cx="775800" cy="306000"/>
                </a:xfrm>
                <a:prstGeom prst="rect">
                  <a:avLst/>
                </a:prstGeom>
                <a:blipFill>
                  <a:blip r:embed="rId4"/>
                  <a:stretch>
                    <a:fillRect l="-2362" r="-5512"/>
                  </a:stretch>
                </a:blipFill>
                <a:ln w="0">
                  <a:noFill/>
                </a:ln>
              </p:spPr>
              <p:txBody>
                <a:bodyPr/>
                <a:lstStyle/>
                <a:p>
                  <a:r>
                    <a:rPr lang="zh-CN" altLang="en-US">
                      <a:noFill/>
                    </a:rPr>
                    <a:t> </a:t>
                  </a:r>
                </a:p>
              </p:txBody>
            </p:sp>
          </mc:Fallback>
        </mc:AlternateContent>
        <p:sp>
          <p:nvSpPr>
            <p:cNvPr id="583" name="topk"/>
            <p:cNvSpPr/>
            <p:nvPr/>
          </p:nvSpPr>
          <p:spPr>
            <a:xfrm>
              <a:off x="2748600" y="1800000"/>
              <a:ext cx="1407240" cy="593280"/>
            </a:xfrm>
            <a:prstGeom prst="roundRect">
              <a:avLst>
                <a:gd name="adj" fmla="val 15000"/>
              </a:avLst>
            </a:prstGeom>
            <a:solidFill>
              <a:schemeClr val="bg1"/>
            </a:solidFill>
            <a:ln w="6480">
              <a:solidFill>
                <a:schemeClr val="tx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84" name="topk_title"/>
            <p:cNvSpPr/>
            <p:nvPr/>
          </p:nvSpPr>
          <p:spPr>
            <a:xfrm>
              <a:off x="2772000" y="1833120"/>
              <a:ext cx="1328400" cy="1450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Top-k statistics</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85" name="topk_stats"/>
            <p:cNvSpPr/>
            <p:nvPr/>
          </p:nvSpPr>
          <p:spPr>
            <a:xfrm>
              <a:off x="2772000" y="2023920"/>
              <a:ext cx="1328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spc="-51" dirty="0">
                  <a:effectLst/>
                  <a:uFillTx/>
                  <a:latin typeface="Times New Roman" panose="02020603050405020304" pitchFamily="18" charset="0"/>
                  <a:cs typeface="Times New Roman" panose="02020603050405020304" pitchFamily="18" charset="0"/>
                </a:rPr>
                <a:t>Top-4 per edge + their mean</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86" name="topk_dim"/>
            <p:cNvSpPr/>
            <p:nvPr/>
          </p:nvSpPr>
          <p:spPr>
            <a:xfrm>
              <a:off x="2772000" y="2218680"/>
              <a:ext cx="1328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4 × 5 = 20 features</a:t>
              </a:r>
            </a:p>
          </p:txBody>
        </p:sp>
        <p:sp>
          <p:nvSpPr>
            <p:cNvPr id="587" name="topk_mlp"/>
            <p:cNvSpPr/>
            <p:nvPr/>
          </p:nvSpPr>
          <p:spPr>
            <a:xfrm>
              <a:off x="4471920" y="1895760"/>
              <a:ext cx="804240" cy="384840"/>
            </a:xfrm>
            <a:prstGeom prst="roundRect">
              <a:avLst>
                <a:gd name="adj" fmla="val 15000"/>
              </a:avLst>
            </a:prstGeom>
            <a:solidFill>
              <a:schemeClr val="bg1"/>
            </a:solidFill>
            <a:ln w="6480">
              <a:solidFill>
                <a:schemeClr val="tx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88" name="topk_mlp_title"/>
            <p:cNvSpPr/>
            <p:nvPr/>
          </p:nvSpPr>
          <p:spPr>
            <a:xfrm>
              <a:off x="4453200" y="1932120"/>
              <a:ext cx="810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Quality MLP</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89" name="topk_mlp_dim"/>
            <p:cNvSpPr/>
            <p:nvPr/>
          </p:nvSpPr>
          <p:spPr>
            <a:xfrm>
              <a:off x="4453200" y="2105640"/>
              <a:ext cx="810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20 → 64 → 1</a:t>
              </a:r>
            </a:p>
          </p:txBody>
        </p:sp>
        <p:sp>
          <p:nvSpPr>
            <p:cNvPr id="590" name="entropy"/>
            <p:cNvSpPr/>
            <p:nvPr/>
          </p:nvSpPr>
          <p:spPr>
            <a:xfrm>
              <a:off x="2819519" y="2918273"/>
              <a:ext cx="1349709" cy="654840"/>
            </a:xfrm>
            <a:prstGeom prst="roundRect">
              <a:avLst>
                <a:gd name="adj" fmla="val 15000"/>
              </a:avLst>
            </a:prstGeom>
            <a:solidFill>
              <a:schemeClr val="bg1"/>
            </a:solidFill>
            <a:ln w="6480">
              <a:solidFill>
                <a:schemeClr val="tx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91" name="entropy_title"/>
            <p:cNvSpPr/>
            <p:nvPr/>
          </p:nvSpPr>
          <p:spPr>
            <a:xfrm>
              <a:off x="2772000" y="2934720"/>
              <a:ext cx="1328400" cy="149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Edge entropy</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92" name="entropy_formula"/>
                <p:cNvSpPr/>
                <p:nvPr/>
              </p:nvSpPr>
              <p:spPr>
                <a:xfrm>
                  <a:off x="2822265" y="3130559"/>
                  <a:ext cx="1328400" cy="158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14:m>
                    <m:oMath xmlns:m="http://schemas.openxmlformats.org/officeDocument/2006/math">
                      <m:sSub>
                        <m:sSubPr>
                          <m:ctrlPr>
                            <a:rPr lang="en-US" altLang="zh-CN" sz="900" i="1">
                              <a:latin typeface="Cambria Math" panose="02040503050406030204" pitchFamily="18" charset="0"/>
                            </a:rPr>
                          </m:ctrlPr>
                        </m:sSubPr>
                        <m:e>
                          <m:r>
                            <a:rPr lang="en-US" altLang="zh-CN" sz="900" i="1">
                              <a:latin typeface="Cambria Math" panose="02040503050406030204" pitchFamily="18" charset="0"/>
                            </a:rPr>
                            <m:t>𝐻</m:t>
                          </m:r>
                        </m:e>
                        <m:sub>
                          <m:r>
                            <a:rPr lang="en-US" altLang="zh-CN" sz="900" i="1">
                              <a:latin typeface="Cambria Math" panose="02040503050406030204" pitchFamily="18" charset="0"/>
                            </a:rPr>
                            <m:t>𝑖</m:t>
                          </m:r>
                          <m:r>
                            <a:rPr lang="en-US" altLang="zh-CN" sz="900" i="1">
                              <a:latin typeface="Cambria Math" panose="02040503050406030204" pitchFamily="18" charset="0"/>
                            </a:rPr>
                            <m:t>,</m:t>
                          </m:r>
                          <m:r>
                            <a:rPr lang="en-US" altLang="zh-CN" sz="900" b="0" i="1" smtClean="0">
                              <a:latin typeface="Cambria Math" panose="02040503050406030204" pitchFamily="18" charset="0"/>
                            </a:rPr>
                            <m:t>𝑒</m:t>
                          </m:r>
                        </m:sub>
                      </m:sSub>
                    </m:oMath>
                  </a14:m>
                  <a:r>
                    <a:rPr lang="pt-BR"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nary>
                        <m:naryPr>
                          <m:chr m:val="∑"/>
                          <m:ctrlPr>
                            <a:rPr lang="en-US" altLang="zh-CN" sz="900" i="1">
                              <a:latin typeface="Cambria Math" panose="02040503050406030204" pitchFamily="18" charset="0"/>
                              <a:cs typeface="Times New Roman" panose="02020603050405020304" pitchFamily="18" charset="0"/>
                            </a:rPr>
                          </m:ctrlPr>
                        </m:naryPr>
                        <m:sub>
                          <m:r>
                            <m:rPr>
                              <m:brk m:alnAt="23"/>
                            </m:rPr>
                            <a:rPr lang="en-US" altLang="zh-CN" sz="900" i="1">
                              <a:latin typeface="Cambria Math" panose="02040503050406030204" pitchFamily="18" charset="0"/>
                              <a:cs typeface="Times New Roman" panose="02020603050405020304" pitchFamily="18" charset="0"/>
                            </a:rPr>
                            <m:t>𝑛</m:t>
                          </m:r>
                          <m:r>
                            <m:rPr>
                              <m:brk m:alnAt="23"/>
                            </m:rPr>
                            <a:rPr lang="en-US" altLang="zh-CN" sz="900" i="1">
                              <a:latin typeface="Cambria Math" panose="02040503050406030204" pitchFamily="18" charset="0"/>
                              <a:cs typeface="Times New Roman" panose="02020603050405020304" pitchFamily="18" charset="0"/>
                            </a:rPr>
                            <m:t>=</m:t>
                          </m:r>
                          <m:r>
                            <m:rPr>
                              <m:brk m:alnAt="23"/>
                            </m:rPr>
                            <a:rPr lang="en-US" altLang="zh-CN" sz="900" i="1">
                              <a:latin typeface="Cambria Math" panose="02040503050406030204" pitchFamily="18" charset="0"/>
                              <a:cs typeface="Times New Roman" panose="02020603050405020304" pitchFamily="18" charset="0"/>
                            </a:rPr>
                            <m:t>0</m:t>
                          </m:r>
                        </m:sub>
                        <m:sup>
                          <m:r>
                            <a:rPr lang="en-US" altLang="zh-CN" sz="900" i="1">
                              <a:latin typeface="Cambria Math" panose="02040503050406030204" pitchFamily="18" charset="0"/>
                              <a:cs typeface="Times New Roman" panose="02020603050405020304" pitchFamily="18" charset="0"/>
                            </a:rPr>
                            <m:t>32</m:t>
                          </m:r>
                        </m:sup>
                        <m:e>
                          <m:sSub>
                            <m:sSubPr>
                              <m:ctrlPr>
                                <a:rPr lang="en-US" altLang="zh-CN" sz="900" i="1">
                                  <a:latin typeface="Cambria Math" panose="02040503050406030204" pitchFamily="18" charset="0"/>
                                </a:rPr>
                              </m:ctrlPr>
                            </m:sSubPr>
                            <m:e>
                              <m:r>
                                <a:rPr lang="en-US" altLang="zh-CN" sz="900" i="1">
                                  <a:latin typeface="Cambria Math" panose="02040503050406030204" pitchFamily="18" charset="0"/>
                                </a:rPr>
                                <m:t>𝑝</m:t>
                              </m:r>
                            </m:e>
                            <m:sub>
                              <m:r>
                                <a:rPr lang="en-US" altLang="zh-CN" sz="900" i="1">
                                  <a:latin typeface="Cambria Math" panose="02040503050406030204" pitchFamily="18" charset="0"/>
                                </a:rPr>
                                <m:t>𝑖</m:t>
                              </m:r>
                              <m:r>
                                <a:rPr lang="en-US" altLang="zh-CN" sz="900" i="1">
                                  <a:latin typeface="Cambria Math" panose="02040503050406030204" pitchFamily="18" charset="0"/>
                                </a:rPr>
                                <m:t>,</m:t>
                              </m:r>
                              <m:r>
                                <a:rPr lang="en-US" altLang="zh-CN" sz="900" i="1">
                                  <a:latin typeface="Cambria Math" panose="02040503050406030204" pitchFamily="18" charset="0"/>
                                </a:rPr>
                                <m:t>𝑒</m:t>
                              </m:r>
                              <m:r>
                                <a:rPr lang="en-US" altLang="zh-CN" sz="900" i="1">
                                  <a:latin typeface="Cambria Math" panose="02040503050406030204" pitchFamily="18" charset="0"/>
                                </a:rPr>
                                <m:t>,</m:t>
                              </m:r>
                              <m:r>
                                <a:rPr lang="en-US" altLang="zh-CN" sz="900" i="1">
                                  <a:latin typeface="Cambria Math" panose="02040503050406030204" pitchFamily="18" charset="0"/>
                                </a:rPr>
                                <m:t>𝑛</m:t>
                              </m:r>
                            </m:sub>
                          </m:sSub>
                          <m:r>
                            <m:rPr>
                              <m:nor/>
                            </m:rPr>
                            <a:rPr lang="pt-BR" altLang="zh-CN" sz="900" i="1" dirty="0">
                              <a:latin typeface="Times New Roman" panose="02020603050405020304" pitchFamily="18" charset="0"/>
                              <a:cs typeface="Times New Roman" panose="02020603050405020304" pitchFamily="18" charset="0"/>
                            </a:rPr>
                            <m:t> </m:t>
                          </m:r>
                          <m:r>
                            <m:rPr>
                              <m:nor/>
                            </m:rPr>
                            <a:rPr lang="pt-BR" altLang="zh-CN" sz="900" i="0" dirty="0">
                              <a:latin typeface="Times New Roman" panose="02020603050405020304" pitchFamily="18" charset="0"/>
                              <a:cs typeface="Times New Roman" panose="02020603050405020304" pitchFamily="18" charset="0"/>
                            </a:rPr>
                            <m:t>log</m:t>
                          </m:r>
                          <m:r>
                            <m:rPr>
                              <m:nor/>
                            </m:rPr>
                            <a:rPr lang="pt-BR" altLang="zh-CN" sz="900" i="1" dirty="0">
                              <a:latin typeface="Times New Roman" panose="02020603050405020304" pitchFamily="18" charset="0"/>
                              <a:cs typeface="Times New Roman" panose="02020603050405020304" pitchFamily="18" charset="0"/>
                            </a:rPr>
                            <m:t> </m:t>
                          </m:r>
                          <m:sSub>
                            <m:sSubPr>
                              <m:ctrlPr>
                                <a:rPr lang="en-US" altLang="zh-CN" sz="900" i="1">
                                  <a:latin typeface="Cambria Math" panose="02040503050406030204" pitchFamily="18" charset="0"/>
                                </a:rPr>
                              </m:ctrlPr>
                            </m:sSubPr>
                            <m:e>
                              <m:r>
                                <a:rPr lang="en-US" altLang="zh-CN" sz="900" i="1">
                                  <a:latin typeface="Cambria Math" panose="02040503050406030204" pitchFamily="18" charset="0"/>
                                </a:rPr>
                                <m:t>𝑝</m:t>
                              </m:r>
                            </m:e>
                            <m:sub>
                              <m:r>
                                <a:rPr lang="en-US" altLang="zh-CN" sz="900" i="1">
                                  <a:latin typeface="Cambria Math" panose="02040503050406030204" pitchFamily="18" charset="0"/>
                                </a:rPr>
                                <m:t>𝑖</m:t>
                              </m:r>
                              <m:r>
                                <a:rPr lang="en-US" altLang="zh-CN" sz="900" i="1">
                                  <a:latin typeface="Cambria Math" panose="02040503050406030204" pitchFamily="18" charset="0"/>
                                </a:rPr>
                                <m:t>,</m:t>
                              </m:r>
                              <m:r>
                                <a:rPr lang="en-US" altLang="zh-CN" sz="900" i="1">
                                  <a:latin typeface="Cambria Math" panose="02040503050406030204" pitchFamily="18" charset="0"/>
                                </a:rPr>
                                <m:t>𝑒</m:t>
                              </m:r>
                              <m:r>
                                <a:rPr lang="en-US" altLang="zh-CN" sz="900" i="1">
                                  <a:latin typeface="Cambria Math" panose="02040503050406030204" pitchFamily="18" charset="0"/>
                                </a:rPr>
                                <m:t>,</m:t>
                              </m:r>
                              <m:r>
                                <a:rPr lang="en-US" altLang="zh-CN" sz="900" i="1">
                                  <a:latin typeface="Cambria Math" panose="02040503050406030204" pitchFamily="18" charset="0"/>
                                </a:rPr>
                                <m:t>𝑛</m:t>
                              </m:r>
                            </m:sub>
                          </m:sSub>
                        </m:e>
                      </m:nary>
                    </m:oMath>
                  </a14:m>
                  <a:endParaRPr lang="zh-CN" altLang="en-US" sz="900" dirty="0">
                    <a:latin typeface="Times New Roman" panose="02020603050405020304" pitchFamily="18" charset="0"/>
                    <a:cs typeface="Times New Roman" panose="02020603050405020304" pitchFamily="18" charset="0"/>
                  </a:endParaRPr>
                </a:p>
              </p:txBody>
            </p:sp>
          </mc:Choice>
          <mc:Fallback xmlns="">
            <p:sp>
              <p:nvSpPr>
                <p:cNvPr id="592" name="entropy_formula"/>
                <p:cNvSpPr>
                  <a:spLocks noRot="1" noChangeAspect="1" noMove="1" noResize="1" noEditPoints="1" noAdjustHandles="1" noChangeArrowheads="1" noChangeShapeType="1" noTextEdit="1"/>
                </p:cNvSpPr>
                <p:nvPr/>
              </p:nvSpPr>
              <p:spPr>
                <a:xfrm>
                  <a:off x="2822265" y="3130559"/>
                  <a:ext cx="1328400" cy="158400"/>
                </a:xfrm>
                <a:prstGeom prst="rect">
                  <a:avLst/>
                </a:prstGeom>
                <a:blipFill>
                  <a:blip r:embed="rId5"/>
                  <a:stretch>
                    <a:fillRect l="-2294" t="-142308" r="-459" b="-219231"/>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3" name="entropy_features"/>
                <p:cNvSpPr/>
                <p:nvPr/>
              </p:nvSpPr>
              <p:spPr>
                <a:xfrm>
                  <a:off x="2840942" y="3379334"/>
                  <a:ext cx="1328400" cy="1512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it-IT" sz="900" b="0"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900" i="1">
                              <a:latin typeface="Cambria Math" panose="02040503050406030204" pitchFamily="18" charset="0"/>
                            </a:rPr>
                          </m:ctrlPr>
                        </m:sSubPr>
                        <m:e>
                          <m:r>
                            <a:rPr lang="en-US" altLang="zh-CN" sz="900" i="1">
                              <a:latin typeface="Cambria Math" panose="02040503050406030204" pitchFamily="18" charset="0"/>
                            </a:rPr>
                            <m:t>𝐻</m:t>
                          </m:r>
                        </m:e>
                        <m:sub>
                          <m:r>
                            <a:rPr lang="en-US" altLang="zh-CN" sz="900" i="1">
                              <a:latin typeface="Cambria Math" panose="02040503050406030204" pitchFamily="18" charset="0"/>
                            </a:rPr>
                            <m:t>𝑖</m:t>
                          </m:r>
                          <m:r>
                            <a:rPr lang="en-US" altLang="zh-CN" sz="900" b="0" i="1" smtClean="0">
                              <a:latin typeface="Cambria Math" panose="02040503050406030204" pitchFamily="18" charset="0"/>
                            </a:rPr>
                            <m:t>,1</m:t>
                          </m:r>
                        </m:sub>
                      </m:sSub>
                    </m:oMath>
                  </a14:m>
                  <a:r>
                    <a:rPr lang="it-IT" sz="900" b="0" i="1" u="none" strike="noStrike" dirty="0">
                      <a:effectLst/>
                      <a:uFillTx/>
                      <a:latin typeface="Times New Roman" panose="02020603050405020304" pitchFamily="18" charset="0"/>
                      <a:cs typeface="Times New Roman" panose="02020603050405020304" pitchFamily="18" charset="0"/>
                    </a:rPr>
                    <a:t>,</a:t>
                  </a:r>
                  <a:r>
                    <a:rPr lang="en-US" altLang="zh-CN" sz="900" i="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a:latin typeface="Cambria Math" panose="02040503050406030204" pitchFamily="18" charset="0"/>
                            </a:rPr>
                          </m:ctrlPr>
                        </m:sSubPr>
                        <m:e>
                          <m:r>
                            <a:rPr lang="en-US" altLang="zh-CN" sz="900" i="1">
                              <a:latin typeface="Cambria Math" panose="02040503050406030204" pitchFamily="18" charset="0"/>
                            </a:rPr>
                            <m:t>𝐻</m:t>
                          </m:r>
                        </m:e>
                        <m:sub>
                          <m:r>
                            <a:rPr lang="en-US" altLang="zh-CN" sz="900" i="1">
                              <a:latin typeface="Cambria Math" panose="02040503050406030204" pitchFamily="18" charset="0"/>
                            </a:rPr>
                            <m:t>𝑖</m:t>
                          </m:r>
                          <m:r>
                            <a:rPr lang="en-US" altLang="zh-CN" sz="900" i="1">
                              <a:latin typeface="Cambria Math" panose="02040503050406030204" pitchFamily="18" charset="0"/>
                            </a:rPr>
                            <m:t>,2</m:t>
                          </m:r>
                        </m:sub>
                      </m:sSub>
                    </m:oMath>
                  </a14:m>
                  <a:r>
                    <a:rPr lang="it-IT" sz="900" b="0" i="1" u="none" strike="noStrike" dirty="0">
                      <a:effectLst/>
                      <a:uFillTx/>
                      <a:latin typeface="Times New Roman" panose="02020603050405020304" pitchFamily="18" charset="0"/>
                      <a:cs typeface="Times New Roman" panose="02020603050405020304" pitchFamily="18" charset="0"/>
                    </a:rPr>
                    <a:t>,</a:t>
                  </a:r>
                  <a:r>
                    <a:rPr lang="en-US" altLang="zh-CN" sz="900" i="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a:latin typeface="Cambria Math" panose="02040503050406030204" pitchFamily="18" charset="0"/>
                            </a:rPr>
                          </m:ctrlPr>
                        </m:sSubPr>
                        <m:e>
                          <m:r>
                            <a:rPr lang="en-US" altLang="zh-CN" sz="900" i="1">
                              <a:latin typeface="Cambria Math" panose="02040503050406030204" pitchFamily="18" charset="0"/>
                            </a:rPr>
                            <m:t>𝐻</m:t>
                          </m:r>
                        </m:e>
                        <m:sub>
                          <m:r>
                            <a:rPr lang="en-US" altLang="zh-CN" sz="900" i="1">
                              <a:latin typeface="Cambria Math" panose="02040503050406030204" pitchFamily="18" charset="0"/>
                            </a:rPr>
                            <m:t>𝑖</m:t>
                          </m:r>
                          <m:r>
                            <a:rPr lang="en-US" altLang="zh-CN" sz="900" i="1">
                              <a:latin typeface="Cambria Math" panose="02040503050406030204" pitchFamily="18" charset="0"/>
                            </a:rPr>
                            <m:t>,3</m:t>
                          </m:r>
                        </m:sub>
                      </m:sSub>
                    </m:oMath>
                  </a14:m>
                  <a:r>
                    <a:rPr lang="it-IT" sz="900" b="0" i="1" u="none" strike="noStrike" dirty="0">
                      <a:effectLst/>
                      <a:uFillTx/>
                      <a:latin typeface="Times New Roman" panose="02020603050405020304" pitchFamily="18" charset="0"/>
                      <a:cs typeface="Times New Roman" panose="02020603050405020304" pitchFamily="18" charset="0"/>
                    </a:rPr>
                    <a:t>,</a:t>
                  </a:r>
                  <a:r>
                    <a:rPr lang="en-US" altLang="zh-CN" sz="900" i="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a:latin typeface="Cambria Math" panose="02040503050406030204" pitchFamily="18" charset="0"/>
                            </a:rPr>
                          </m:ctrlPr>
                        </m:sSubPr>
                        <m:e>
                          <m:r>
                            <a:rPr lang="en-US" altLang="zh-CN" sz="900" i="1">
                              <a:latin typeface="Cambria Math" panose="02040503050406030204" pitchFamily="18" charset="0"/>
                            </a:rPr>
                            <m:t>𝐻</m:t>
                          </m:r>
                        </m:e>
                        <m:sub>
                          <m:r>
                            <a:rPr lang="en-US" altLang="zh-CN" sz="900" i="1">
                              <a:latin typeface="Cambria Math" panose="02040503050406030204" pitchFamily="18" charset="0"/>
                            </a:rPr>
                            <m:t>𝑖</m:t>
                          </m:r>
                          <m:r>
                            <a:rPr lang="en-US" altLang="zh-CN" sz="900" i="1">
                              <a:latin typeface="Cambria Math" panose="02040503050406030204" pitchFamily="18" charset="0"/>
                            </a:rPr>
                            <m:t>,4</m:t>
                          </m:r>
                        </m:sub>
                      </m:sSub>
                    </m:oMath>
                  </a14:m>
                  <a:r>
                    <a:rPr lang="it-IT"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US" altLang="zh-CN" sz="900" b="0" i="1" u="none" strike="noStrike" smtClean="0">
                              <a:effectLst/>
                              <a:uFillTx/>
                              <a:latin typeface="Cambria Math" panose="02040503050406030204" pitchFamily="18" charset="0"/>
                            </a:rPr>
                          </m:ctrlPr>
                        </m:accPr>
                        <m:e>
                          <m:sSub>
                            <m:sSubPr>
                              <m:ctrlPr>
                                <a:rPr lang="en-US" altLang="zh-CN" sz="900" b="0" i="1" u="none" strike="noStrike" smtClean="0">
                                  <a:effectLst/>
                                  <a:uFillTx/>
                                  <a:latin typeface="Cambria Math" panose="02040503050406030204" pitchFamily="18" charset="0"/>
                                </a:rPr>
                              </m:ctrlPr>
                            </m:sSubPr>
                            <m:e>
                              <m:r>
                                <a:rPr lang="en-US" altLang="zh-CN" sz="900" b="0" i="1" u="none" strike="noStrike" smtClean="0">
                                  <a:effectLst/>
                                  <a:uFillTx/>
                                  <a:latin typeface="Cambria Math" panose="02040503050406030204" pitchFamily="18" charset="0"/>
                                </a:rPr>
                                <m:t>𝐻</m:t>
                              </m:r>
                            </m:e>
                            <m:sub>
                              <m:r>
                                <a:rPr lang="en-US" altLang="zh-CN" sz="900" b="0" i="1" u="none" strike="noStrike" smtClean="0">
                                  <a:effectLst/>
                                  <a:uFillTx/>
                                  <a:latin typeface="Cambria Math" panose="02040503050406030204" pitchFamily="18" charset="0"/>
                                </a:rPr>
                                <m:t>𝑖</m:t>
                              </m:r>
                            </m:sub>
                          </m:sSub>
                        </m:e>
                      </m:acc>
                    </m:oMath>
                  </a14:m>
                  <a:r>
                    <a:rPr lang="it-IT" sz="900" b="0" u="none" strike="noStrike" dirty="0">
                      <a:effectLst/>
                      <a:uFillTx/>
                      <a:latin typeface="Times New Roman" panose="02020603050405020304" pitchFamily="18" charset="0"/>
                      <a:cs typeface="Times New Roman" panose="02020603050405020304" pitchFamily="18" charset="0"/>
                    </a:rPr>
                    <a:t>]</a:t>
                  </a:r>
                  <a:endParaRPr lang="en-US" sz="90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593" name="entropy_features"/>
                <p:cNvSpPr>
                  <a:spLocks noRot="1" noChangeAspect="1" noMove="1" noResize="1" noEditPoints="1" noAdjustHandles="1" noChangeArrowheads="1" noChangeShapeType="1" noTextEdit="1"/>
                </p:cNvSpPr>
                <p:nvPr/>
              </p:nvSpPr>
              <p:spPr>
                <a:xfrm>
                  <a:off x="2840942" y="3379334"/>
                  <a:ext cx="1328400" cy="151200"/>
                </a:xfrm>
                <a:prstGeom prst="rect">
                  <a:avLst/>
                </a:prstGeom>
                <a:blipFill>
                  <a:blip r:embed="rId6"/>
                  <a:stretch>
                    <a:fillRect t="-24000" b="-40000"/>
                  </a:stretch>
                </a:blipFill>
                <a:ln w="0">
                  <a:noFill/>
                </a:ln>
              </p:spPr>
              <p:txBody>
                <a:bodyPr/>
                <a:lstStyle/>
                <a:p>
                  <a:r>
                    <a:rPr lang="zh-CN" altLang="en-US">
                      <a:noFill/>
                    </a:rPr>
                    <a:t> </a:t>
                  </a:r>
                </a:p>
              </p:txBody>
            </p:sp>
          </mc:Fallback>
        </mc:AlternateContent>
        <p:sp>
          <p:nvSpPr>
            <p:cNvPr id="594" name="entropy_mlp"/>
            <p:cNvSpPr/>
            <p:nvPr/>
          </p:nvSpPr>
          <p:spPr>
            <a:xfrm>
              <a:off x="4456080" y="3047760"/>
              <a:ext cx="835920" cy="384840"/>
            </a:xfrm>
            <a:prstGeom prst="roundRect">
              <a:avLst>
                <a:gd name="adj" fmla="val 15000"/>
              </a:avLst>
            </a:prstGeom>
            <a:solidFill>
              <a:schemeClr val="bg1"/>
            </a:solidFill>
            <a:ln w="6480">
              <a:solidFill>
                <a:schemeClr val="tx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95" name="entropy_mlp_title"/>
            <p:cNvSpPr/>
            <p:nvPr/>
          </p:nvSpPr>
          <p:spPr>
            <a:xfrm>
              <a:off x="4453200" y="3084120"/>
              <a:ext cx="810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Entropy MLP</a:t>
              </a:r>
              <a:endParaRPr lang="en-US" sz="900" b="0" u="none" strike="noStrike" dirty="0">
                <a:effectLst/>
                <a:uFillTx/>
                <a:latin typeface="Times New Roman" panose="02020603050405020304" pitchFamily="18" charset="0"/>
                <a:cs typeface="Times New Roman" panose="02020603050405020304" pitchFamily="18" charset="0"/>
              </a:endParaRPr>
            </a:p>
          </p:txBody>
        </p:sp>
        <p:sp>
          <p:nvSpPr>
            <p:cNvPr id="596" name="entropy_mlp_dim"/>
            <p:cNvSpPr/>
            <p:nvPr/>
          </p:nvSpPr>
          <p:spPr>
            <a:xfrm>
              <a:off x="4453200" y="3257640"/>
              <a:ext cx="810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5 → 64 → 1</a:t>
              </a:r>
            </a:p>
          </p:txBody>
        </p:sp>
        <p:sp>
          <p:nvSpPr>
            <p:cNvPr id="597" name="quality_sum"/>
            <p:cNvSpPr/>
            <p:nvPr/>
          </p:nvSpPr>
          <p:spPr>
            <a:xfrm>
              <a:off x="5416200" y="2563200"/>
              <a:ext cx="210240" cy="226440"/>
            </a:xfrm>
            <a:prstGeom prst="ellipse">
              <a:avLst/>
            </a:prstGeom>
            <a:solidFill>
              <a:srgbClr val="FFFFFF"/>
            </a:solidFill>
            <a:ln w="6480">
              <a:solidFill>
                <a:schemeClr val="tx1"/>
              </a:solidFill>
            </a:ln>
          </p:spPr>
          <p:style>
            <a:lnRef idx="2">
              <a:schemeClr val="accent1">
                <a:shade val="15000"/>
              </a:schemeClr>
            </a:lnRef>
            <a:fillRef idx="1">
              <a:schemeClr val="accent1"/>
            </a:fillRef>
            <a:effectRef idx="0">
              <a:schemeClr val="accent1"/>
            </a:effectRef>
            <a:fontRef idx="minor"/>
          </p:style>
          <p:txBody>
            <a:bodyPr lIns="89280" tIns="50040" rIns="892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598" name="quality_sum_text"/>
            <p:cNvSpPr/>
            <p:nvPr/>
          </p:nvSpPr>
          <p:spPr>
            <a:xfrm>
              <a:off x="5454000" y="2592720"/>
              <a:ext cx="14040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a:t>
              </a:r>
            </a:p>
          </p:txBody>
        </p:sp>
        <p:sp>
          <p:nvSpPr>
            <p:cNvPr id="599" name="score_sum"/>
            <p:cNvSpPr/>
            <p:nvPr/>
          </p:nvSpPr>
          <p:spPr>
            <a:xfrm>
              <a:off x="6280200" y="2563560"/>
              <a:ext cx="210240" cy="226440"/>
            </a:xfrm>
            <a:prstGeom prst="ellipse">
              <a:avLst/>
            </a:prstGeom>
            <a:solidFill>
              <a:srgbClr val="FFFFFF"/>
            </a:solidFill>
            <a:ln w="6480">
              <a:solidFill>
                <a:schemeClr val="tx1"/>
              </a:solidFill>
            </a:ln>
          </p:spPr>
          <p:style>
            <a:lnRef idx="2">
              <a:schemeClr val="accent1">
                <a:shade val="15000"/>
              </a:schemeClr>
            </a:lnRef>
            <a:fillRef idx="1">
              <a:schemeClr val="accent1"/>
            </a:fillRef>
            <a:effectRef idx="0">
              <a:schemeClr val="accent1"/>
            </a:effectRef>
            <a:fontRef idx="minor"/>
          </p:style>
          <p:txBody>
            <a:bodyPr lIns="89280" tIns="50040" rIns="892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600" name="score_sum_text"/>
            <p:cNvSpPr/>
            <p:nvPr/>
          </p:nvSpPr>
          <p:spPr>
            <a:xfrm>
              <a:off x="6318000" y="2592720"/>
              <a:ext cx="140400" cy="167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601" name="quality_residual"/>
                <p:cNvSpPr/>
                <p:nvPr/>
              </p:nvSpPr>
              <p:spPr>
                <a:xfrm>
                  <a:off x="5634000" y="2481120"/>
                  <a:ext cx="644400" cy="140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Scalar </a:t>
                  </a:r>
                  <a14:m>
                    <m:oMath xmlns:m="http://schemas.openxmlformats.org/officeDocument/2006/math">
                      <m:sSub>
                        <m:sSubPr>
                          <m:ctrlPr>
                            <a:rPr lang="en-US" altLang="zh-CN" sz="900" i="1" dirty="0">
                              <a:latin typeface="Cambria Math" panose="02040503050406030204" pitchFamily="18" charset="0"/>
                              <a:cs typeface="Times New Roman" panose="02020603050405020304" pitchFamily="18" charset="0"/>
                            </a:rPr>
                          </m:ctrlPr>
                        </m:sSubPr>
                        <m:e>
                          <m:r>
                            <m:rPr>
                              <m:nor/>
                            </m:rPr>
                            <a:rPr lang="en-US" altLang="zh-CN" sz="900" i="1" dirty="0">
                              <a:latin typeface="Cambria Math" panose="02040503050406030204" pitchFamily="18" charset="0"/>
                              <a:cs typeface="Times New Roman" panose="02020603050405020304" pitchFamily="18" charset="0"/>
                            </a:rPr>
                            <m:t>q</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altLang="zh-CN" sz="900" dirty="0">
                      <a:latin typeface="Times New Roman" panose="02020603050405020304" pitchFamily="18" charset="0"/>
                      <a:cs typeface="Times New Roman" panose="02020603050405020304" pitchFamily="18" charset="0"/>
                    </a:rPr>
                    <a:t> </a:t>
                  </a:r>
                  <a:endParaRPr lang="en-US" sz="850" b="0"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601" name="quality_residual"/>
                <p:cNvSpPr>
                  <a:spLocks noRot="1" noChangeAspect="1" noMove="1" noResize="1" noEditPoints="1" noAdjustHandles="1" noChangeArrowheads="1" noChangeShapeType="1" noTextEdit="1"/>
                </p:cNvSpPr>
                <p:nvPr/>
              </p:nvSpPr>
              <p:spPr>
                <a:xfrm>
                  <a:off x="5634000" y="2481120"/>
                  <a:ext cx="644400" cy="140400"/>
                </a:xfrm>
                <a:prstGeom prst="rect">
                  <a:avLst/>
                </a:prstGeom>
                <a:blipFill>
                  <a:blip r:embed="rId7"/>
                  <a:stretch>
                    <a:fillRect t="-30435" b="-47826"/>
                  </a:stretch>
                </a:blipFill>
                <a:ln w="0">
                  <a:noFill/>
                </a:ln>
              </p:spPr>
              <p:txBody>
                <a:bodyPr/>
                <a:lstStyle/>
                <a:p>
                  <a:r>
                    <a:rPr lang="zh-CN" altLang="en-US">
                      <a:noFill/>
                    </a:rPr>
                    <a:t> </a:t>
                  </a:r>
                </a:p>
              </p:txBody>
            </p:sp>
          </mc:Fallback>
        </mc:AlternateContent>
        <p:sp>
          <p:nvSpPr>
            <p:cNvPr id="602" name="quality_broadcast"/>
            <p:cNvSpPr/>
            <p:nvPr/>
          </p:nvSpPr>
          <p:spPr>
            <a:xfrm>
              <a:off x="5634000" y="2705940"/>
              <a:ext cx="673920" cy="2754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Broadcast to</a:t>
              </a:r>
            </a:p>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all classes</a:t>
              </a:r>
            </a:p>
          </p:txBody>
        </p:sp>
        <p:sp>
          <p:nvSpPr>
            <p:cNvPr id="603" name="class_logits"/>
            <p:cNvSpPr/>
            <p:nvPr/>
          </p:nvSpPr>
          <p:spPr>
            <a:xfrm>
              <a:off x="5901840" y="1968322"/>
              <a:ext cx="1004400" cy="364320"/>
            </a:xfrm>
            <a:prstGeom prst="roundRect">
              <a:avLst>
                <a:gd name="adj" fmla="val 15000"/>
              </a:avLst>
            </a:prstGeom>
            <a:solidFill>
              <a:srgbClr val="FFFFFF"/>
            </a:solidFill>
            <a:ln w="6480">
              <a:solidFill>
                <a:schemeClr val="tx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604" name="class_logits_text"/>
            <p:cNvSpPr/>
            <p:nvPr/>
          </p:nvSpPr>
          <p:spPr>
            <a:xfrm>
              <a:off x="5929200" y="1991068"/>
              <a:ext cx="9180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0" u="none" strike="noStrike" dirty="0">
                  <a:effectLst/>
                  <a:uFillTx/>
                  <a:latin typeface="Times New Roman" panose="02020603050405020304" pitchFamily="18" charset="0"/>
                  <a:cs typeface="Times New Roman" panose="02020603050405020304" pitchFamily="18" charset="0"/>
                </a:rPr>
                <a:t>Class logits</a:t>
              </a:r>
            </a:p>
          </p:txBody>
        </p:sp>
        <p:sp>
          <p:nvSpPr>
            <p:cNvPr id="605" name="corrected_scores"/>
            <p:cNvSpPr/>
            <p:nvPr/>
          </p:nvSpPr>
          <p:spPr>
            <a:xfrm>
              <a:off x="5882400" y="3115160"/>
              <a:ext cx="1007640" cy="456840"/>
            </a:xfrm>
            <a:prstGeom prst="roundRect">
              <a:avLst>
                <a:gd name="adj" fmla="val 15000"/>
              </a:avLst>
            </a:prstGeom>
            <a:solidFill>
              <a:schemeClr val="bg1"/>
            </a:solidFill>
            <a:ln w="6480">
              <a:solidFill>
                <a:schemeClr val="tx1"/>
              </a:solidFill>
            </a:ln>
          </p:spPr>
          <p:style>
            <a:lnRef idx="2">
              <a:schemeClr val="accent1">
                <a:shade val="15000"/>
              </a:schemeClr>
            </a:lnRef>
            <a:fillRef idx="1">
              <a:schemeClr val="accent1"/>
            </a:fillRef>
            <a:effectRef idx="0">
              <a:schemeClr val="accent1"/>
            </a:effectRef>
            <a:fontRef idx="minor"/>
          </p:style>
          <p:txBody>
            <a:bodyPr lIns="100080" tIns="50040" rIns="100080" bIns="50040" anchor="ctr">
              <a:noAutofit/>
            </a:bodyPr>
            <a:lstStyle/>
            <a:p>
              <a:endParaRPr lang="en-US" sz="2000" b="0" u="none" strike="noStrike">
                <a:effectLst/>
                <a:uFillTx/>
                <a:latin typeface="Times New Roman" panose="02020603050405020304" pitchFamily="18" charset="0"/>
                <a:cs typeface="Times New Roman" panose="02020603050405020304" pitchFamily="18" charset="0"/>
              </a:endParaRPr>
            </a:p>
          </p:txBody>
        </p:sp>
        <p:sp>
          <p:nvSpPr>
            <p:cNvPr id="606" name="corrected_title"/>
            <p:cNvSpPr/>
            <p:nvPr/>
          </p:nvSpPr>
          <p:spPr>
            <a:xfrm>
              <a:off x="5893200" y="3174529"/>
              <a:ext cx="954000" cy="144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r>
                <a:rPr lang="en-US" sz="900" b="1" u="none" strike="noStrike" dirty="0">
                  <a:effectLst/>
                  <a:uFillTx/>
                  <a:latin typeface="Times New Roman" panose="02020603050405020304" pitchFamily="18" charset="0"/>
                  <a:cs typeface="Times New Roman" panose="02020603050405020304" pitchFamily="18" charset="0"/>
                </a:rPr>
                <a:t>Corrected logits</a:t>
              </a:r>
              <a:endParaRPr lang="en-US" sz="900" b="0" u="none" strike="noStrike" dirty="0">
                <a:effectLst/>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07" name="corrected_formula"/>
                <p:cNvSpPr/>
                <p:nvPr/>
              </p:nvSpPr>
              <p:spPr>
                <a:xfrm>
                  <a:off x="5893200" y="3373236"/>
                  <a:ext cx="954000" cy="16200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Sup>
                        <m:sSubSupPr>
                          <m:ctrlPr>
                            <a:rPr lang="en-US" altLang="zh-CN" sz="900" b="0" i="1" u="none" strike="noStrike" smtClean="0">
                              <a:effectLst/>
                              <a:uFillTx/>
                              <a:latin typeface="Cambria Math" panose="02040503050406030204" pitchFamily="18" charset="0"/>
                              <a:cs typeface="Times New Roman" panose="02020603050405020304" pitchFamily="18" charset="0"/>
                            </a:rPr>
                          </m:ctrlPr>
                        </m:sSubSupPr>
                        <m:e>
                          <m:r>
                            <a:rPr lang="en-US" altLang="zh-CN" sz="900" b="0" i="1" u="none" strike="noStrike" smtClean="0">
                              <a:effectLst/>
                              <a:uFillTx/>
                              <a:latin typeface="Cambria Math" panose="02040503050406030204" pitchFamily="18" charset="0"/>
                              <a:cs typeface="Times New Roman" panose="02020603050405020304" pitchFamily="18" charset="0"/>
                            </a:rPr>
                            <m:t>𝑠</m:t>
                          </m:r>
                        </m:e>
                        <m:sub>
                          <m:r>
                            <a:rPr lang="en-US" altLang="zh-CN" sz="900" b="0" i="1" u="none" strike="noStrike" smtClean="0">
                              <a:effectLst/>
                              <a:uFillTx/>
                              <a:latin typeface="Cambria Math" panose="02040503050406030204" pitchFamily="18" charset="0"/>
                              <a:cs typeface="Times New Roman" panose="02020603050405020304" pitchFamily="18" charset="0"/>
                            </a:rPr>
                            <m:t>𝑖</m:t>
                          </m:r>
                        </m:sub>
                        <m:sup>
                          <m:r>
                            <a:rPr lang="en-US" altLang="zh-CN" sz="900" b="0" i="1" u="none" strike="noStrike" smtClean="0">
                              <a:effectLst/>
                              <a:uFillTx/>
                              <a:latin typeface="Cambria Math" panose="02040503050406030204" pitchFamily="18" charset="0"/>
                              <a:cs typeface="Times New Roman" panose="02020603050405020304" pitchFamily="18" charset="0"/>
                            </a:rPr>
                            <m:t>′</m:t>
                          </m:r>
                        </m:sup>
                      </m:sSubSup>
                    </m:oMath>
                  </a14:m>
                  <a:r>
                    <a:rPr lang="en-US" sz="900" b="0" i="1" u="none" strike="noStrike" dirty="0">
                      <a:effectLst/>
                      <a:uFillTx/>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900" i="1" dirty="0">
                              <a:latin typeface="Cambria Math" panose="02040503050406030204" pitchFamily="18" charset="0"/>
                              <a:cs typeface="Times New Roman" panose="02020603050405020304" pitchFamily="18" charset="0"/>
                            </a:rPr>
                          </m:ctrlPr>
                        </m:sSubPr>
                        <m:e>
                          <m:r>
                            <m:rPr>
                              <m:nor/>
                            </m:rPr>
                            <a:rPr lang="en-US" altLang="zh-CN" sz="900" i="1" dirty="0">
                              <a:latin typeface="Cambria Math" panose="02040503050406030204" pitchFamily="18" charset="0"/>
                              <a:cs typeface="Times New Roman" panose="02020603050405020304" pitchFamily="18" charset="0"/>
                            </a:rPr>
                            <m:t>s</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sz="900" b="0" i="1" u="none" strike="noStrike" dirty="0">
                      <a:effectLst/>
                      <a:uFillTx/>
                      <a:latin typeface="Times New Roman" panose="02020603050405020304" pitchFamily="18" charset="0"/>
                      <a:cs typeface="Times New Roman" panose="02020603050405020304" pitchFamily="18" charset="0"/>
                    </a:rPr>
                    <a:t> + </a:t>
                  </a:r>
                  <a14:m>
                    <m:oMath xmlns:m="http://schemas.openxmlformats.org/officeDocument/2006/math">
                      <m:sSub>
                        <m:sSubPr>
                          <m:ctrlPr>
                            <a:rPr lang="en-US" altLang="zh-CN" sz="900" b="0" i="1" dirty="0" smtClean="0">
                              <a:latin typeface="Cambria Math" panose="02040503050406030204" pitchFamily="18" charset="0"/>
                              <a:cs typeface="Times New Roman" panose="02020603050405020304" pitchFamily="18" charset="0"/>
                            </a:rPr>
                          </m:ctrlPr>
                        </m:sSubPr>
                        <m:e>
                          <m:r>
                            <m:rPr>
                              <m:nor/>
                            </m:rPr>
                            <a:rPr lang="en-US" altLang="zh-CN" sz="900" b="0" i="1" dirty="0" smtClean="0">
                              <a:latin typeface="Cambria Math" panose="02040503050406030204" pitchFamily="18" charset="0"/>
                              <a:cs typeface="Times New Roman" panose="02020603050405020304" pitchFamily="18" charset="0"/>
                            </a:rPr>
                            <m:t>q</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altLang="zh-CN" sz="900" dirty="0">
                      <a:latin typeface="Times New Roman" panose="02020603050405020304" pitchFamily="18" charset="0"/>
                      <a:cs typeface="Times New Roman" panose="02020603050405020304" pitchFamily="18" charset="0"/>
                    </a:rPr>
                    <a:t> </a:t>
                  </a:r>
                  <a:endParaRPr lang="en-US" sz="850" b="0" i="1" u="none" strike="noStrike" dirty="0">
                    <a:effectLst/>
                    <a:uFillTx/>
                    <a:latin typeface="Times New Roman" panose="02020603050405020304" pitchFamily="18" charset="0"/>
                    <a:cs typeface="Times New Roman" panose="02020603050405020304" pitchFamily="18" charset="0"/>
                  </a:endParaRPr>
                </a:p>
              </p:txBody>
            </p:sp>
          </mc:Choice>
          <mc:Fallback xmlns="">
            <p:sp>
              <p:nvSpPr>
                <p:cNvPr id="607" name="corrected_formula"/>
                <p:cNvSpPr>
                  <a:spLocks noRot="1" noChangeAspect="1" noMove="1" noResize="1" noEditPoints="1" noAdjustHandles="1" noChangeArrowheads="1" noChangeShapeType="1" noTextEdit="1"/>
                </p:cNvSpPr>
                <p:nvPr/>
              </p:nvSpPr>
              <p:spPr>
                <a:xfrm>
                  <a:off x="5893200" y="3373236"/>
                  <a:ext cx="954000" cy="162000"/>
                </a:xfrm>
                <a:prstGeom prst="rect">
                  <a:avLst/>
                </a:prstGeom>
                <a:blipFill>
                  <a:blip r:embed="rId8"/>
                  <a:stretch>
                    <a:fillRect t="-14815" b="-37037"/>
                  </a:stretch>
                </a:blipFill>
                <a:ln w="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8" name="class_source_formula"/>
                <p:cNvSpPr/>
                <p:nvPr/>
              </p:nvSpPr>
              <p:spPr>
                <a:xfrm>
                  <a:off x="5922000" y="2146794"/>
                  <a:ext cx="932400" cy="13824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ctr">
                  <a:noAutofit/>
                </a:bodyPr>
                <a:lstStyle/>
                <a:p>
                  <a:pPr algn="ctr" defTabSz="1018080">
                    <a:lnSpc>
                      <a:spcPct val="100000"/>
                    </a:lnSpc>
                  </a:pPr>
                  <a14:m>
                    <m:oMath xmlns:m="http://schemas.openxmlformats.org/officeDocument/2006/math">
                      <m:sSub>
                        <m:sSubPr>
                          <m:ctrlPr>
                            <a:rPr lang="en-US" altLang="zh-CN" sz="900" b="0" i="1" dirty="0" smtClean="0">
                              <a:latin typeface="Cambria Math" panose="02040503050406030204" pitchFamily="18" charset="0"/>
                              <a:cs typeface="Times New Roman" panose="02020603050405020304" pitchFamily="18" charset="0"/>
                            </a:rPr>
                          </m:ctrlPr>
                        </m:sSubPr>
                        <m:e>
                          <m:r>
                            <m:rPr>
                              <m:nor/>
                            </m:rPr>
                            <a:rPr lang="en-US" altLang="zh-CN" sz="900" b="0" i="1" dirty="0" smtClean="0">
                              <a:latin typeface="Cambria Math" panose="02040503050406030204" pitchFamily="18" charset="0"/>
                              <a:cs typeface="Times New Roman" panose="02020603050405020304" pitchFamily="18" charset="0"/>
                            </a:rPr>
                            <m:t>s</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sz="900" b="0" u="none" strike="noStrike" dirty="0">
                      <a:effectLst/>
                      <a:uFillTx/>
                      <a:latin typeface="Times New Roman" panose="02020603050405020304" pitchFamily="18" charset="0"/>
                      <a:cs typeface="Times New Roman" panose="02020603050405020304" pitchFamily="18" charset="0"/>
                    </a:rPr>
                    <a:t> = </a:t>
                  </a:r>
                  <a:r>
                    <a:rPr lang="en-US" sz="900" b="0" u="none" strike="noStrike" dirty="0" err="1">
                      <a:effectLst/>
                      <a:uFillTx/>
                      <a:latin typeface="Times New Roman" panose="02020603050405020304" pitchFamily="18" charset="0"/>
                      <a:cs typeface="Times New Roman" panose="02020603050405020304" pitchFamily="18" charset="0"/>
                    </a:rPr>
                    <a:t>ClassHead</a:t>
                  </a:r>
                  <a:r>
                    <a:rPr lang="en-US" sz="850" b="0" i="1" u="none" strike="noStrike" baseline="-25000" dirty="0" err="1">
                      <a:effectLst/>
                      <a:uFillTx/>
                      <a:latin typeface="Times New Roman" panose="02020603050405020304" pitchFamily="18" charset="0"/>
                      <a:cs typeface="Times New Roman" panose="02020603050405020304" pitchFamily="18" charset="0"/>
                    </a:rPr>
                    <a:t>i</a:t>
                  </a:r>
                  <a:r>
                    <a:rPr lang="en-US" sz="900" b="0" u="none" strike="noStrike" dirty="0">
                      <a:effectLst/>
                      <a:uFillTx/>
                      <a:latin typeface="Times New Roman" panose="02020603050405020304" pitchFamily="18" charset="0"/>
                      <a:cs typeface="Times New Roman" panose="02020603050405020304" pitchFamily="18" charset="0"/>
                    </a:rPr>
                    <a:t>(</a:t>
                  </a:r>
                  <a14:m>
                    <m:oMath xmlns:m="http://schemas.openxmlformats.org/officeDocument/2006/math">
                      <m:sSub>
                        <m:sSubPr>
                          <m:ctrlPr>
                            <a:rPr lang="en-US" altLang="zh-CN" sz="900" b="0" i="1" dirty="0" smtClean="0">
                              <a:latin typeface="Cambria Math" panose="02040503050406030204" pitchFamily="18" charset="0"/>
                              <a:cs typeface="Times New Roman" panose="02020603050405020304" pitchFamily="18" charset="0"/>
                            </a:rPr>
                          </m:ctrlPr>
                        </m:sSubPr>
                        <m:e>
                          <m:r>
                            <m:rPr>
                              <m:nor/>
                            </m:rPr>
                            <a:rPr lang="en-US" altLang="zh-CN" sz="900" b="0" i="1" dirty="0" smtClean="0">
                              <a:latin typeface="Cambria Math" panose="02040503050406030204" pitchFamily="18" charset="0"/>
                              <a:cs typeface="Times New Roman" panose="02020603050405020304" pitchFamily="18" charset="0"/>
                            </a:rPr>
                            <m:t>h</m:t>
                          </m:r>
                        </m:e>
                        <m:sub>
                          <m:r>
                            <m:rPr>
                              <m:nor/>
                            </m:rPr>
                            <a:rPr lang="en-US" altLang="zh-CN" sz="900" i="1" baseline="-25000" dirty="0">
                              <a:latin typeface="Times New Roman" panose="02020603050405020304" pitchFamily="18" charset="0"/>
                              <a:cs typeface="Times New Roman" panose="02020603050405020304" pitchFamily="18" charset="0"/>
                            </a:rPr>
                            <m:t>i</m:t>
                          </m:r>
                        </m:sub>
                      </m:sSub>
                    </m:oMath>
                  </a14:m>
                  <a:r>
                    <a:rPr lang="en-US" altLang="zh-CN" sz="900" dirty="0">
                      <a:latin typeface="Times New Roman" panose="02020603050405020304" pitchFamily="18" charset="0"/>
                      <a:cs typeface="Times New Roman" panose="02020603050405020304" pitchFamily="18" charset="0"/>
                    </a:rPr>
                    <a:t> </a:t>
                  </a:r>
                  <a:r>
                    <a:rPr lang="en-US" sz="900" b="0" u="none" strike="noStrike" dirty="0">
                      <a:effectLst/>
                      <a:uFillTx/>
                      <a:latin typeface="Times New Roman" panose="02020603050405020304" pitchFamily="18" charset="0"/>
                      <a:cs typeface="Times New Roman" panose="02020603050405020304" pitchFamily="18" charset="0"/>
                    </a:rPr>
                    <a:t>)</a:t>
                  </a:r>
                </a:p>
              </p:txBody>
            </p:sp>
          </mc:Choice>
          <mc:Fallback xmlns="">
            <p:sp>
              <p:nvSpPr>
                <p:cNvPr id="608" name="class_source_formula"/>
                <p:cNvSpPr>
                  <a:spLocks noRot="1" noChangeAspect="1" noMove="1" noResize="1" noEditPoints="1" noAdjustHandles="1" noChangeArrowheads="1" noChangeShapeType="1" noTextEdit="1"/>
                </p:cNvSpPr>
                <p:nvPr/>
              </p:nvSpPr>
              <p:spPr>
                <a:xfrm>
                  <a:off x="5922000" y="2146794"/>
                  <a:ext cx="932400" cy="138240"/>
                </a:xfrm>
                <a:prstGeom prst="rect">
                  <a:avLst/>
                </a:prstGeom>
                <a:blipFill>
                  <a:blip r:embed="rId9"/>
                  <a:stretch>
                    <a:fillRect l="-1307" t="-30435" r="-5882" b="-47826"/>
                  </a:stretch>
                </a:blipFill>
                <a:ln w="0">
                  <a:noFill/>
                </a:ln>
              </p:spPr>
              <p:txBody>
                <a:bodyPr/>
                <a:lstStyle/>
                <a:p>
                  <a:r>
                    <a:rPr lang="zh-CN" altLang="en-US">
                      <a:noFill/>
                    </a:rPr>
                    <a:t> </a:t>
                  </a:r>
                </a:p>
              </p:txBody>
            </p:sp>
          </mc:Fallback>
        </mc:AlternateContent>
        <p:cxnSp>
          <p:nvCxnSpPr>
            <p:cNvPr id="609" name="lqe_logits_flow__0"/>
            <p:cNvCxnSpPr>
              <a:cxnSpLocks/>
            </p:cNvCxnSpPr>
            <p:nvPr/>
          </p:nvCxnSpPr>
          <p:spPr>
            <a:xfrm>
              <a:off x="1352160" y="2675880"/>
              <a:ext cx="205200" cy="0"/>
            </a:xfrm>
            <a:prstGeom prst="straightConnector1">
              <a:avLst/>
            </a:prstGeom>
            <a:ln w="7200">
              <a:solidFill>
                <a:schemeClr val="tx1"/>
              </a:solidFill>
              <a:round/>
              <a:tailEnd type="triangle" w="sm" len="sm"/>
            </a:ln>
          </p:spPr>
        </p:cxnSp>
        <p:cxnSp>
          <p:nvCxnSpPr>
            <p:cNvPr id="610" name="lqe_prob_bus__0"/>
            <p:cNvCxnSpPr>
              <a:cxnSpLocks/>
            </p:cNvCxnSpPr>
            <p:nvPr/>
          </p:nvCxnSpPr>
          <p:spPr>
            <a:xfrm>
              <a:off x="2431440" y="2675880"/>
              <a:ext cx="106920" cy="0"/>
            </a:xfrm>
            <a:prstGeom prst="straightConnector1">
              <a:avLst/>
            </a:prstGeom>
            <a:ln w="7200">
              <a:solidFill>
                <a:schemeClr val="tx1"/>
              </a:solidFill>
              <a:round/>
            </a:ln>
          </p:spPr>
        </p:cxnSp>
        <p:cxnSp>
          <p:nvCxnSpPr>
            <p:cNvPr id="611" name="prob_to_topk__0"/>
            <p:cNvCxnSpPr>
              <a:cxnSpLocks/>
            </p:cNvCxnSpPr>
            <p:nvPr/>
          </p:nvCxnSpPr>
          <p:spPr>
            <a:xfrm flipV="1">
              <a:off x="2538360" y="2099880"/>
              <a:ext cx="0" cy="576000"/>
            </a:xfrm>
            <a:prstGeom prst="straightConnector1">
              <a:avLst/>
            </a:prstGeom>
            <a:ln w="7200">
              <a:solidFill>
                <a:schemeClr val="tx1"/>
              </a:solidFill>
              <a:round/>
            </a:ln>
          </p:spPr>
        </p:cxnSp>
        <p:cxnSp>
          <p:nvCxnSpPr>
            <p:cNvPr id="612" name="prob_to_topk__1"/>
            <p:cNvCxnSpPr>
              <a:cxnSpLocks/>
            </p:cNvCxnSpPr>
            <p:nvPr/>
          </p:nvCxnSpPr>
          <p:spPr>
            <a:xfrm>
              <a:off x="2538360" y="2099880"/>
              <a:ext cx="210240" cy="0"/>
            </a:xfrm>
            <a:prstGeom prst="straightConnector1">
              <a:avLst/>
            </a:prstGeom>
            <a:ln w="7200">
              <a:solidFill>
                <a:schemeClr val="tx1"/>
              </a:solidFill>
              <a:round/>
              <a:tailEnd type="triangle" w="sm" len="sm"/>
            </a:ln>
          </p:spPr>
        </p:cxnSp>
        <p:cxnSp>
          <p:nvCxnSpPr>
            <p:cNvPr id="613" name="prob_to_entropy__0"/>
            <p:cNvCxnSpPr>
              <a:cxnSpLocks/>
            </p:cNvCxnSpPr>
            <p:nvPr/>
          </p:nvCxnSpPr>
          <p:spPr>
            <a:xfrm>
              <a:off x="2538360" y="2675880"/>
              <a:ext cx="0" cy="576000"/>
            </a:xfrm>
            <a:prstGeom prst="straightConnector1">
              <a:avLst/>
            </a:prstGeom>
            <a:ln w="7200">
              <a:solidFill>
                <a:schemeClr val="tx1"/>
              </a:solidFill>
              <a:round/>
            </a:ln>
          </p:spPr>
        </p:cxnSp>
        <p:cxnSp>
          <p:nvCxnSpPr>
            <p:cNvPr id="614" name="prob_to_entropy__1"/>
            <p:cNvCxnSpPr>
              <a:cxnSpLocks/>
            </p:cNvCxnSpPr>
            <p:nvPr/>
          </p:nvCxnSpPr>
          <p:spPr>
            <a:xfrm>
              <a:off x="2538360" y="3251880"/>
              <a:ext cx="281160" cy="0"/>
            </a:xfrm>
            <a:prstGeom prst="straightConnector1">
              <a:avLst/>
            </a:prstGeom>
            <a:ln w="7200">
              <a:solidFill>
                <a:schemeClr val="tx1"/>
              </a:solidFill>
              <a:round/>
              <a:tailEnd type="triangle" w="sm" len="sm"/>
            </a:ln>
          </p:spPr>
        </p:cxnSp>
        <p:cxnSp>
          <p:nvCxnSpPr>
            <p:cNvPr id="615" name="topk_mlp_flow__0"/>
            <p:cNvCxnSpPr>
              <a:cxnSpLocks/>
            </p:cNvCxnSpPr>
            <p:nvPr/>
          </p:nvCxnSpPr>
          <p:spPr>
            <a:xfrm>
              <a:off x="4155840" y="2099880"/>
              <a:ext cx="316080" cy="0"/>
            </a:xfrm>
            <a:prstGeom prst="straightConnector1">
              <a:avLst/>
            </a:prstGeom>
            <a:ln w="7200">
              <a:solidFill>
                <a:schemeClr val="tx1"/>
              </a:solidFill>
              <a:round/>
              <a:tailEnd type="triangle" w="sm" len="sm"/>
            </a:ln>
          </p:spPr>
        </p:cxnSp>
        <p:cxnSp>
          <p:nvCxnSpPr>
            <p:cNvPr id="616" name="entropy_mlp_flow__0"/>
            <p:cNvCxnSpPr>
              <a:cxnSpLocks/>
              <a:stCxn id="590" idx="3"/>
              <a:endCxn id="594" idx="1"/>
            </p:cNvCxnSpPr>
            <p:nvPr/>
          </p:nvCxnSpPr>
          <p:spPr>
            <a:xfrm flipV="1">
              <a:off x="4169228" y="3240180"/>
              <a:ext cx="286852" cy="5513"/>
            </a:xfrm>
            <a:prstGeom prst="straightConnector1">
              <a:avLst/>
            </a:prstGeom>
            <a:ln w="7200">
              <a:solidFill>
                <a:schemeClr val="tx1"/>
              </a:solidFill>
              <a:round/>
              <a:tailEnd type="triangle" w="sm" len="sm"/>
            </a:ln>
          </p:spPr>
        </p:cxnSp>
        <p:cxnSp>
          <p:nvCxnSpPr>
            <p:cNvPr id="617" name="topk_to_quality__0"/>
            <p:cNvCxnSpPr>
              <a:cxnSpLocks/>
            </p:cNvCxnSpPr>
            <p:nvPr/>
          </p:nvCxnSpPr>
          <p:spPr>
            <a:xfrm>
              <a:off x="5276160" y="2099880"/>
              <a:ext cx="250200" cy="0"/>
            </a:xfrm>
            <a:prstGeom prst="straightConnector1">
              <a:avLst/>
            </a:prstGeom>
            <a:ln w="7200">
              <a:solidFill>
                <a:schemeClr val="tx1"/>
              </a:solidFill>
              <a:round/>
            </a:ln>
          </p:spPr>
        </p:cxnSp>
        <p:cxnSp>
          <p:nvCxnSpPr>
            <p:cNvPr id="618" name="topk_to_quality__1"/>
            <p:cNvCxnSpPr>
              <a:cxnSpLocks/>
            </p:cNvCxnSpPr>
            <p:nvPr/>
          </p:nvCxnSpPr>
          <p:spPr>
            <a:xfrm>
              <a:off x="5526360" y="2099880"/>
              <a:ext cx="0" cy="463320"/>
            </a:xfrm>
            <a:prstGeom prst="straightConnector1">
              <a:avLst/>
            </a:prstGeom>
            <a:ln w="7200">
              <a:solidFill>
                <a:schemeClr val="tx1"/>
              </a:solidFill>
              <a:round/>
              <a:tailEnd type="triangle" w="sm" len="sm"/>
            </a:ln>
          </p:spPr>
        </p:cxnSp>
        <p:cxnSp>
          <p:nvCxnSpPr>
            <p:cNvPr id="619" name="entropy_to_quality__0"/>
            <p:cNvCxnSpPr>
              <a:cxnSpLocks/>
            </p:cNvCxnSpPr>
            <p:nvPr/>
          </p:nvCxnSpPr>
          <p:spPr>
            <a:xfrm>
              <a:off x="5292000" y="3251880"/>
              <a:ext cx="234360" cy="0"/>
            </a:xfrm>
            <a:prstGeom prst="straightConnector1">
              <a:avLst/>
            </a:prstGeom>
            <a:ln w="7200">
              <a:solidFill>
                <a:schemeClr val="tx1"/>
              </a:solidFill>
              <a:round/>
            </a:ln>
          </p:spPr>
        </p:cxnSp>
        <p:cxnSp>
          <p:nvCxnSpPr>
            <p:cNvPr id="620" name="entropy_to_quality__1"/>
            <p:cNvCxnSpPr>
              <a:cxnSpLocks/>
            </p:cNvCxnSpPr>
            <p:nvPr/>
          </p:nvCxnSpPr>
          <p:spPr>
            <a:xfrm flipV="1">
              <a:off x="5526360" y="2789640"/>
              <a:ext cx="0" cy="462240"/>
            </a:xfrm>
            <a:prstGeom prst="straightConnector1">
              <a:avLst/>
            </a:prstGeom>
            <a:ln w="7200">
              <a:solidFill>
                <a:schemeClr val="tx1"/>
              </a:solidFill>
              <a:round/>
              <a:tailEnd type="triangle" w="sm" len="sm"/>
            </a:ln>
          </p:spPr>
        </p:cxnSp>
        <p:cxnSp>
          <p:nvCxnSpPr>
            <p:cNvPr id="621" name="quality_to_score__0"/>
            <p:cNvCxnSpPr>
              <a:cxnSpLocks/>
            </p:cNvCxnSpPr>
            <p:nvPr/>
          </p:nvCxnSpPr>
          <p:spPr>
            <a:xfrm>
              <a:off x="5626440" y="2675880"/>
              <a:ext cx="653760" cy="0"/>
            </a:xfrm>
            <a:prstGeom prst="straightConnector1">
              <a:avLst/>
            </a:prstGeom>
            <a:ln w="7200">
              <a:solidFill>
                <a:schemeClr val="tx1"/>
              </a:solidFill>
              <a:round/>
              <a:tailEnd type="triangle" w="sm" len="sm"/>
            </a:ln>
          </p:spPr>
        </p:cxnSp>
        <p:cxnSp>
          <p:nvCxnSpPr>
            <p:cNvPr id="622" name="class_to_score__0"/>
            <p:cNvCxnSpPr>
              <a:cxnSpLocks/>
            </p:cNvCxnSpPr>
            <p:nvPr/>
          </p:nvCxnSpPr>
          <p:spPr>
            <a:xfrm>
              <a:off x="6390360" y="2332642"/>
              <a:ext cx="0" cy="230918"/>
            </a:xfrm>
            <a:prstGeom prst="straightConnector1">
              <a:avLst/>
            </a:prstGeom>
            <a:ln w="7200">
              <a:solidFill>
                <a:schemeClr val="tx1"/>
              </a:solidFill>
              <a:round/>
              <a:tailEnd type="triangle" w="sm" len="sm"/>
            </a:ln>
          </p:spPr>
        </p:cxnSp>
        <p:cxnSp>
          <p:nvCxnSpPr>
            <p:cNvPr id="623" name="corrected_flow__0"/>
            <p:cNvCxnSpPr>
              <a:cxnSpLocks/>
              <a:endCxn id="605" idx="0"/>
            </p:cNvCxnSpPr>
            <p:nvPr/>
          </p:nvCxnSpPr>
          <p:spPr>
            <a:xfrm flipH="1">
              <a:off x="6386220" y="2790000"/>
              <a:ext cx="4140" cy="325160"/>
            </a:xfrm>
            <a:prstGeom prst="straightConnector1">
              <a:avLst/>
            </a:prstGeom>
            <a:ln w="7200">
              <a:solidFill>
                <a:schemeClr val="tx1"/>
              </a:solidFill>
              <a:round/>
              <a:tailEnd type="triangle" w="sm" len="sm"/>
            </a:ln>
          </p:spPr>
        </p:cxn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262</TotalTime>
  <Words>4042</Words>
  <Application>Microsoft Office PowerPoint</Application>
  <PresentationFormat>自定义</PresentationFormat>
  <Paragraphs>267</Paragraphs>
  <Slides>5</Slides>
  <Notes>5</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vt:i4>
      </vt:variant>
    </vt:vector>
  </HeadingPairs>
  <TitlesOfParts>
    <vt:vector size="13" baseType="lpstr">
      <vt:lpstr>等线</vt:lpstr>
      <vt:lpstr>等线 Light</vt:lpstr>
      <vt:lpstr>Arial</vt:lpstr>
      <vt:lpstr>Cambria Math</vt:lpstr>
      <vt:lpstr>Symbol</vt:lpstr>
      <vt:lpstr>Times New Roman</vt:lpstr>
      <vt:lpstr>Wingdings</vt:lpstr>
      <vt:lpstr>Office Theme</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admin</dc:creator>
  <dc:description/>
  <cp:lastModifiedBy>bidong chen</cp:lastModifiedBy>
  <cp:revision>113</cp:revision>
  <dcterms:created xsi:type="dcterms:W3CDTF">2026-09-20T01:48:32Z</dcterms:created>
  <dcterms:modified xsi:type="dcterms:W3CDTF">2026-10-02T13:04:47Z</dcterms:modified>
  <dc:language>zh-CN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5</vt:i4>
  </property>
  <property fmtid="{D5CDD505-2E9C-101B-9397-08002B2CF9AE}" pid="3" name="PresentationFormat">
    <vt:lpwstr>Custom</vt:lpwstr>
  </property>
  <property fmtid="{D5CDD505-2E9C-101B-9397-08002B2CF9AE}" pid="4" name="Slides">
    <vt:i4>5</vt:i4>
  </property>
</Properties>
</file>